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57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etha N" userId="S::geetha_cse@atria.edu.in::0d481024-f144-4bf5-b783-830cfe5f0755" providerId="AD" clId="Web-{5E19C03F-19BC-AAD5-4CB1-DE802EFB35A9}"/>
    <pc:docChg chg="modSld">
      <pc:chgData name="Geetha N" userId="S::geetha_cse@atria.edu.in::0d481024-f144-4bf5-b783-830cfe5f0755" providerId="AD" clId="Web-{5E19C03F-19BC-AAD5-4CB1-DE802EFB35A9}" dt="2026-08-25T05:21:47.296" v="1"/>
      <pc:docMkLst>
        <pc:docMk/>
      </pc:docMkLst>
      <pc:sldChg chg="delSp">
        <pc:chgData name="Geetha N" userId="S::geetha_cse@atria.edu.in::0d481024-f144-4bf5-b783-830cfe5f0755" providerId="AD" clId="Web-{5E19C03F-19BC-AAD5-4CB1-DE802EFB35A9}" dt="2026-08-25T05:21:40.733" v="0"/>
        <pc:sldMkLst>
          <pc:docMk/>
          <pc:sldMk cId="0" sldId="264"/>
        </pc:sldMkLst>
      </pc:sldChg>
      <pc:sldChg chg="delSp">
        <pc:chgData name="Geetha N" userId="S::geetha_cse@atria.edu.in::0d481024-f144-4bf5-b783-830cfe5f0755" providerId="AD" clId="Web-{5E19C03F-19BC-AAD5-4CB1-DE802EFB35A9}" dt="2026-08-25T05:21:47.296" v="1"/>
        <pc:sldMkLst>
          <pc:docMk/>
          <pc:sldMk cId="0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1C0F9-BC16-908C-6076-C83314BD9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4F598D-C19E-EB81-FFEE-AC5660C7AA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9CFF4-E00E-6EEC-4110-A646E6FCB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DD8F-1D69-4D28-A204-9C89E3B0953E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31E53-7547-48DB-6E77-CEB4BF292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C5929-F840-2B0C-3B95-B83202DC3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BA5-C4A3-4D35-A9CD-E5D2F1393B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909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CC11B-41C2-DF2A-94EA-DFB0C3744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779CE-8E4F-00EB-94E2-5B6ACB324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14E0E-3754-BD86-A216-7A49D17FC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DD8F-1D69-4D28-A204-9C89E3B0953E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71C12-2547-1142-FC18-B0C5046A4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8A4EE-7604-DF2B-D120-2235038AB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BA5-C4A3-4D35-A9CD-E5D2F1393B62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B7CF7F-6FBD-9C37-944C-D57CAED904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366871"/>
            <a:ext cx="2647950" cy="661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13D7B5-2AAB-9A18-C304-99AAA4A2FF7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000" y="411956"/>
            <a:ext cx="736600" cy="615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66773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9FD33-DDAD-B9EF-A4D5-569CED44C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B5F9D-027A-1A9F-6109-006E41601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F2C47-5934-5569-DD0F-AD1B981E1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DD8F-1D69-4D28-A204-9C89E3B0953E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9FF81-679A-0A5F-7999-8D3E1E658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29DB8-5619-D678-8AEC-D16838C4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BA5-C4A3-4D35-A9CD-E5D2F1393B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277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31596-D097-8782-C492-C0CD29107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17C78-E8F6-3ACE-B7E1-5BAD7EB249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6AA333-5E76-6A1F-5D71-80E7AA2FF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B7A020-EBC8-8FA2-E57B-42C7BAF6E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DD8F-1D69-4D28-A204-9C89E3B0953E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54F2E-7661-C6AD-F82A-6C4D5331D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1F95B9-ECE7-8B03-1883-0B946D409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BA5-C4A3-4D35-A9CD-E5D2F1393B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271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A1941-FC71-D02A-2AF5-38B54FF16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76613-F28E-47E7-850E-A3D74471C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277ED-BC2F-2084-BEBE-388747CA4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B176E-8ADB-8FAA-BF75-C675FF367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7A5A50-A0B0-46F2-F852-AFAABF186D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1230A9-47B7-4C0E-355D-3C8551AF7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DD8F-1D69-4D28-A204-9C89E3B0953E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0BF0C-EAF4-F631-ED20-1C6084E7B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9A552D-2084-E710-009E-76E08C817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BA5-C4A3-4D35-A9CD-E5D2F1393B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73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1E7FE-0AF7-8F97-269B-4F7C9123E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0127CE-7933-4E81-76A9-AA2A0B6FF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DD8F-1D69-4D28-A204-9C89E3B0953E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DE5A05-4C2D-5A75-3C0B-777B83A20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79EEC3-842A-BE57-D4AF-272868F57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BA5-C4A3-4D35-A9CD-E5D2F1393B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851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72B7EB-8E22-F6F7-9096-1550E5A0D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DD8F-1D69-4D28-A204-9C89E3B0953E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27B5EC-97F6-B9D8-B507-BF696446D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E4D6E-5EDC-E76B-616A-E1E3F4CCB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BA5-C4A3-4D35-A9CD-E5D2F1393B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060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0B3-0069-0420-8FB3-E9C438502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AC095-B9B1-BA34-4F5D-B72E61197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ED98E9-21DE-92DC-A300-4D8673052D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3A2F2-2E19-8566-0397-500684EE2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DD8F-1D69-4D28-A204-9C89E3B0953E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3B570-1504-E5B6-F483-F7E92FBA4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F944A1-5CF5-8D9C-7B64-09ED28DD3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BA5-C4A3-4D35-A9CD-E5D2F1393B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671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32C28-2938-B580-986F-32BF9A007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DB4681-4111-C53A-8890-D58DB61C54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7CF40-051F-1918-8829-E3E455D9D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4BFE4C-B801-DF23-E2A5-9652C238F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DD8F-1D69-4D28-A204-9C89E3B0953E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931C4-BAF7-894E-B106-F40567245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09A904-AE1D-6255-01C5-A2C358341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BA5-C4A3-4D35-A9CD-E5D2F1393B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882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71DBE-20BC-61AB-23BA-5689D146A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6389E9-CD14-2287-3953-E3D18616F0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32B11-B1C4-28E0-A5AB-2DCE9ECB9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DD8F-1D69-4D28-A204-9C89E3B0953E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49FA6-C214-CC43-65AF-962BC3F07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812C3-24D9-D31C-3186-2B88282F6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BA5-C4A3-4D35-A9CD-E5D2F1393B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99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353ED9-D04E-F791-DF7D-5720218831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BDA02C-16A2-5AD1-C835-8709509848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90C7F-DB25-6A34-492C-6B66FF338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DD8F-1D69-4D28-A204-9C89E3B0953E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BA41E-FF5C-F623-D3B6-B05194C75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47CFA-D48F-FFA9-99C6-167CA7BD7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BA5-C4A3-4D35-A9CD-E5D2F1393B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1480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58849" y="2481452"/>
            <a:ext cx="927481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775060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3AF298-C195-DB6F-A0B3-2492E888D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771EC-7009-6E10-B722-DCB3297C2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51BEE-7904-AACF-A3D4-65804841E7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30DD8F-1D69-4D28-A204-9C89E3B0953E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7A53A-6B18-6DA4-6A93-07903C8A3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73DEF-0129-FF98-04AC-C1C18B260F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211BA5-C4A3-4D35-A9CD-E5D2F1393B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31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1458849" y="2481452"/>
            <a:ext cx="92748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Calibri"/>
                <a:cs typeface="Calibri"/>
              </a:rPr>
              <a:t>Informed</a:t>
            </a:r>
            <a:r>
              <a:rPr sz="4400" spc="-7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search</a:t>
            </a:r>
            <a:r>
              <a:rPr sz="4400" spc="-100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strategies</a:t>
            </a:r>
            <a:endParaRPr sz="4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38100">
                <a:lnSpc>
                  <a:spcPts val="1240"/>
                </a:lnSpc>
              </a:pPr>
              <a:t>2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71972" y="683261"/>
            <a:ext cx="8281827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Informed</a:t>
            </a:r>
            <a:r>
              <a:rPr spc="-70" dirty="0"/>
              <a:t> </a:t>
            </a:r>
            <a:r>
              <a:rPr dirty="0"/>
              <a:t>search</a:t>
            </a:r>
            <a:r>
              <a:rPr spc="-110" dirty="0"/>
              <a:t> </a:t>
            </a:r>
            <a:r>
              <a:rPr dirty="0"/>
              <a:t>-</a:t>
            </a:r>
            <a:r>
              <a:rPr spc="-90" dirty="0"/>
              <a:t> </a:t>
            </a: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56761" y="1690688"/>
            <a:ext cx="8065134" cy="47999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marR="231140" indent="-342900">
              <a:lnSpc>
                <a:spcPct val="8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b="1" dirty="0">
                <a:latin typeface="Calibri"/>
                <a:cs typeface="Calibri"/>
              </a:rPr>
              <a:t>Informed</a:t>
            </a:r>
            <a:r>
              <a:rPr sz="1800" b="1" spc="-8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search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strategy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problem-</a:t>
            </a:r>
            <a:r>
              <a:rPr sz="1800" dirty="0">
                <a:latin typeface="Calibri"/>
                <a:cs typeface="Calibri"/>
              </a:rPr>
              <a:t>specific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knowledge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solutions </a:t>
            </a:r>
            <a:r>
              <a:rPr sz="1800" dirty="0">
                <a:latin typeface="Calibri"/>
                <a:cs typeface="Calibri"/>
              </a:rPr>
              <a:t>more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efficiently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uninformed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strategy</a:t>
            </a:r>
            <a:endParaRPr sz="1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general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approach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called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best-</a:t>
            </a:r>
            <a:r>
              <a:rPr sz="1800" b="1" dirty="0">
                <a:latin typeface="Calibri"/>
                <a:cs typeface="Calibri"/>
              </a:rPr>
              <a:t>first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search</a:t>
            </a:r>
            <a:endParaRPr sz="1800" dirty="0">
              <a:latin typeface="Calibri"/>
              <a:cs typeface="Calibri"/>
            </a:endParaRPr>
          </a:p>
          <a:p>
            <a:pPr marL="355600" marR="402590" indent="-342900">
              <a:lnSpc>
                <a:spcPct val="80000"/>
              </a:lnSpc>
              <a:spcBef>
                <a:spcPts val="434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b="1" spc="-10" dirty="0">
                <a:latin typeface="Calibri"/>
                <a:cs typeface="Calibri"/>
              </a:rPr>
              <a:t>Best-</a:t>
            </a:r>
            <a:r>
              <a:rPr sz="1800" b="1" dirty="0">
                <a:latin typeface="Calibri"/>
                <a:cs typeface="Calibri"/>
              </a:rPr>
              <a:t>first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search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instance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3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general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TREE-</a:t>
            </a:r>
            <a:r>
              <a:rPr sz="1800" dirty="0">
                <a:latin typeface="Calibri"/>
                <a:cs typeface="Calibri"/>
              </a:rPr>
              <a:t>SEARCH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GRAPH-SEARCH </a:t>
            </a:r>
            <a:r>
              <a:rPr sz="1800" dirty="0">
                <a:latin typeface="Calibri"/>
                <a:cs typeface="Calibri"/>
              </a:rPr>
              <a:t>algorithm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selected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expansion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based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 </a:t>
            </a:r>
            <a:r>
              <a:rPr sz="1800" b="1" spc="-10" dirty="0">
                <a:latin typeface="Calibri"/>
                <a:cs typeface="Calibri"/>
              </a:rPr>
              <a:t>evaluation </a:t>
            </a:r>
            <a:r>
              <a:rPr sz="1800" b="1" dirty="0">
                <a:latin typeface="Calibri"/>
                <a:cs typeface="Calibri"/>
              </a:rPr>
              <a:t>function, </a:t>
            </a:r>
            <a:r>
              <a:rPr sz="1800" i="1" spc="-20" dirty="0">
                <a:latin typeface="Calibri"/>
                <a:cs typeface="Calibri"/>
              </a:rPr>
              <a:t>f(n)</a:t>
            </a:r>
            <a:endParaRPr sz="1800" dirty="0">
              <a:latin typeface="Calibri"/>
              <a:cs typeface="Calibri"/>
            </a:endParaRPr>
          </a:p>
          <a:p>
            <a:pPr marL="355600" marR="577850" indent="-342900">
              <a:lnSpc>
                <a:spcPct val="80000"/>
              </a:lnSpc>
              <a:spcBef>
                <a:spcPts val="430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evaluation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function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construed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cost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estimate,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i="1" dirty="0">
                <a:latin typeface="Calibri"/>
                <a:cs typeface="Calibri"/>
              </a:rPr>
              <a:t>lowest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evaluation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expanded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first</a:t>
            </a:r>
            <a:endParaRPr sz="1800" dirty="0">
              <a:latin typeface="Calibri"/>
              <a:cs typeface="Calibri"/>
            </a:endParaRPr>
          </a:p>
          <a:p>
            <a:pPr marL="354965" indent="-342265">
              <a:lnSpc>
                <a:spcPts val="1945"/>
              </a:lnSpc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implementation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best-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graph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search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identical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UCS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except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for</a:t>
            </a:r>
            <a:endParaRPr sz="1800" dirty="0">
              <a:latin typeface="Calibri"/>
              <a:cs typeface="Calibri"/>
            </a:endParaRPr>
          </a:p>
          <a:p>
            <a:pPr marL="355600">
              <a:lnSpc>
                <a:spcPts val="1945"/>
              </a:lnSpc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f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instead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g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order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priority</a:t>
            </a:r>
            <a:r>
              <a:rPr sz="1800" spc="-10" dirty="0">
                <a:latin typeface="Calibri"/>
                <a:cs typeface="Calibri"/>
              </a:rPr>
              <a:t> queue</a:t>
            </a:r>
            <a:endParaRPr sz="1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choice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f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determines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search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strategy</a:t>
            </a:r>
            <a:endParaRPr sz="1800" dirty="0">
              <a:latin typeface="Calibri"/>
              <a:cs typeface="Calibri"/>
            </a:endParaRPr>
          </a:p>
          <a:p>
            <a:pPr marL="355600" marR="735330" indent="-342900">
              <a:lnSpc>
                <a:spcPts val="1730"/>
              </a:lnSpc>
              <a:spcBef>
                <a:spcPts val="420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Most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best-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algorithms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include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component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f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heuristic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function, </a:t>
            </a:r>
            <a:r>
              <a:rPr sz="1800" dirty="0">
                <a:latin typeface="Calibri"/>
                <a:cs typeface="Calibri"/>
              </a:rPr>
              <a:t>denoted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h(n)</a:t>
            </a:r>
            <a:r>
              <a:rPr sz="1800" i="1" spc="-50" dirty="0">
                <a:latin typeface="Calibri"/>
                <a:cs typeface="Calibri"/>
              </a:rPr>
              <a:t> :</a:t>
            </a:r>
            <a:endParaRPr sz="1800" dirty="0">
              <a:latin typeface="Calibri"/>
              <a:cs typeface="Calibri"/>
            </a:endParaRPr>
          </a:p>
          <a:p>
            <a:pPr marL="536575">
              <a:lnSpc>
                <a:spcPct val="100000"/>
              </a:lnSpc>
              <a:spcBef>
                <a:spcPts val="10"/>
              </a:spcBef>
            </a:pPr>
            <a:r>
              <a:rPr sz="1800" i="1" spc="-10" dirty="0">
                <a:latin typeface="Calibri"/>
                <a:cs typeface="Calibri"/>
              </a:rPr>
              <a:t>h(n)</a:t>
            </a:r>
            <a:r>
              <a:rPr sz="1800" spc="-10" dirty="0">
                <a:latin typeface="Calibri"/>
                <a:cs typeface="Calibri"/>
              </a:rPr>
              <a:t>=estimated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cheapest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path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node</a:t>
            </a:r>
            <a:endParaRPr sz="1800" dirty="0">
              <a:latin typeface="Calibri"/>
              <a:cs typeface="Calibri"/>
            </a:endParaRPr>
          </a:p>
          <a:p>
            <a:pPr marL="1059180">
              <a:lnSpc>
                <a:spcPct val="100000"/>
              </a:lnSpc>
            </a:pPr>
            <a:r>
              <a:rPr sz="1800" i="1" dirty="0">
                <a:latin typeface="Calibri"/>
                <a:cs typeface="Calibri"/>
              </a:rPr>
              <a:t>n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goal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state</a:t>
            </a:r>
            <a:endParaRPr sz="1800" dirty="0">
              <a:latin typeface="Calibri"/>
              <a:cs typeface="Calibri"/>
            </a:endParaRPr>
          </a:p>
          <a:p>
            <a:pPr marL="355600" marR="296545" indent="-342900">
              <a:lnSpc>
                <a:spcPct val="80000"/>
              </a:lnSpc>
              <a:spcBef>
                <a:spcPts val="434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E.g.,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Romania,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might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estimate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cheapest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path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Arad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spc="-10" dirty="0">
                <a:latin typeface="Calibri"/>
                <a:cs typeface="Calibri"/>
              </a:rPr>
              <a:t>Bucharest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straight-</a:t>
            </a:r>
            <a:r>
              <a:rPr sz="1800" dirty="0">
                <a:latin typeface="Calibri"/>
                <a:cs typeface="Calibri"/>
              </a:rPr>
              <a:t>line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distance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Arad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Bucharest</a:t>
            </a:r>
            <a:endParaRPr sz="1800" dirty="0">
              <a:latin typeface="Calibri"/>
              <a:cs typeface="Calibri"/>
            </a:endParaRPr>
          </a:p>
          <a:p>
            <a:pPr marL="355600" marR="213360" indent="-342900">
              <a:lnSpc>
                <a:spcPct val="80000"/>
              </a:lnSpc>
              <a:spcBef>
                <a:spcPts val="430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Heuristics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arbitrary,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nonnegative,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problem-</a:t>
            </a:r>
            <a:r>
              <a:rPr sz="1800" dirty="0">
                <a:latin typeface="Calibri"/>
                <a:cs typeface="Calibri"/>
              </a:rPr>
              <a:t>specific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functions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n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goal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h(n)</a:t>
            </a:r>
            <a:r>
              <a:rPr sz="1800" spc="-10" dirty="0">
                <a:latin typeface="Calibri"/>
                <a:cs typeface="Calibri"/>
              </a:rPr>
              <a:t>=0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4957" y="150729"/>
            <a:ext cx="7038508" cy="512383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854454" y="5328284"/>
            <a:ext cx="6872605" cy="868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846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Figure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simplified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roadmap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Romania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Figure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Russel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Norvig,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Artificial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Intelligence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Modern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Approach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38100">
                <a:lnSpc>
                  <a:spcPts val="1240"/>
                </a:lnSpc>
              </a:pPr>
              <a:t>3</a:t>
            </a:fld>
            <a:endParaRPr spc="-25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6A53B1-C7EF-95B9-DF61-5C25EE3CA9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43" y="150729"/>
            <a:ext cx="2647950" cy="661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02102" y="683261"/>
            <a:ext cx="8651697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18820">
              <a:lnSpc>
                <a:spcPct val="100000"/>
              </a:lnSpc>
              <a:spcBef>
                <a:spcPts val="95"/>
              </a:spcBef>
            </a:pPr>
            <a:r>
              <a:rPr dirty="0"/>
              <a:t>Greedy</a:t>
            </a:r>
            <a:r>
              <a:rPr spc="-155" dirty="0"/>
              <a:t> </a:t>
            </a:r>
            <a:r>
              <a:rPr spc="-20" dirty="0"/>
              <a:t>best-</a:t>
            </a:r>
            <a:r>
              <a:rPr dirty="0"/>
              <a:t>first</a:t>
            </a:r>
            <a:r>
              <a:rPr spc="-145" dirty="0"/>
              <a:t> </a:t>
            </a:r>
            <a:r>
              <a:rPr spc="-10" dirty="0"/>
              <a:t>search</a:t>
            </a:r>
          </a:p>
        </p:txBody>
      </p:sp>
      <p:sp>
        <p:nvSpPr>
          <p:cNvPr id="3" name="object 3"/>
          <p:cNvSpPr/>
          <p:nvPr/>
        </p:nvSpPr>
        <p:spPr>
          <a:xfrm>
            <a:off x="3355340" y="3753484"/>
            <a:ext cx="1220470" cy="307975"/>
          </a:xfrm>
          <a:custGeom>
            <a:avLst/>
            <a:gdLst/>
            <a:ahLst/>
            <a:cxnLst/>
            <a:rect l="l" t="t" r="r" b="b"/>
            <a:pathLst>
              <a:path w="1220470" h="307975">
                <a:moveTo>
                  <a:pt x="83947" y="10287"/>
                </a:moveTo>
                <a:lnTo>
                  <a:pt x="80772" y="0"/>
                </a:lnTo>
                <a:lnTo>
                  <a:pt x="62522" y="7175"/>
                </a:lnTo>
                <a:lnTo>
                  <a:pt x="46482" y="18376"/>
                </a:lnTo>
                <a:lnTo>
                  <a:pt x="20955" y="52832"/>
                </a:lnTo>
                <a:lnTo>
                  <a:pt x="5232" y="99415"/>
                </a:lnTo>
                <a:lnTo>
                  <a:pt x="0" y="153924"/>
                </a:lnTo>
                <a:lnTo>
                  <a:pt x="1257" y="180886"/>
                </a:lnTo>
                <a:lnTo>
                  <a:pt x="11785" y="232397"/>
                </a:lnTo>
                <a:lnTo>
                  <a:pt x="32613" y="273951"/>
                </a:lnTo>
                <a:lnTo>
                  <a:pt x="62522" y="300380"/>
                </a:lnTo>
                <a:lnTo>
                  <a:pt x="80772" y="307467"/>
                </a:lnTo>
                <a:lnTo>
                  <a:pt x="83947" y="297307"/>
                </a:lnTo>
                <a:lnTo>
                  <a:pt x="69799" y="290004"/>
                </a:lnTo>
                <a:lnTo>
                  <a:pt x="57480" y="279336"/>
                </a:lnTo>
                <a:lnTo>
                  <a:pt x="31584" y="227939"/>
                </a:lnTo>
                <a:lnTo>
                  <a:pt x="23825" y="180886"/>
                </a:lnTo>
                <a:lnTo>
                  <a:pt x="22860" y="153924"/>
                </a:lnTo>
                <a:lnTo>
                  <a:pt x="23825" y="126898"/>
                </a:lnTo>
                <a:lnTo>
                  <a:pt x="31584" y="79743"/>
                </a:lnTo>
                <a:lnTo>
                  <a:pt x="46990" y="42265"/>
                </a:lnTo>
                <a:lnTo>
                  <a:pt x="69799" y="17602"/>
                </a:lnTo>
                <a:lnTo>
                  <a:pt x="83947" y="10287"/>
                </a:lnTo>
                <a:close/>
              </a:path>
              <a:path w="1220470" h="307975">
                <a:moveTo>
                  <a:pt x="439801" y="45847"/>
                </a:moveTo>
                <a:lnTo>
                  <a:pt x="436372" y="36195"/>
                </a:lnTo>
                <a:lnTo>
                  <a:pt x="419290" y="42418"/>
                </a:lnTo>
                <a:lnTo>
                  <a:pt x="404304" y="51371"/>
                </a:lnTo>
                <a:lnTo>
                  <a:pt x="372110" y="94246"/>
                </a:lnTo>
                <a:lnTo>
                  <a:pt x="362394" y="132537"/>
                </a:lnTo>
                <a:lnTo>
                  <a:pt x="361188" y="154178"/>
                </a:lnTo>
                <a:lnTo>
                  <a:pt x="362280" y="173697"/>
                </a:lnTo>
                <a:lnTo>
                  <a:pt x="362394" y="175831"/>
                </a:lnTo>
                <a:lnTo>
                  <a:pt x="372110" y="214122"/>
                </a:lnTo>
                <a:lnTo>
                  <a:pt x="404253" y="256882"/>
                </a:lnTo>
                <a:lnTo>
                  <a:pt x="436372" y="272034"/>
                </a:lnTo>
                <a:lnTo>
                  <a:pt x="439420" y="262382"/>
                </a:lnTo>
                <a:lnTo>
                  <a:pt x="425958" y="256463"/>
                </a:lnTo>
                <a:lnTo>
                  <a:pt x="414350" y="248196"/>
                </a:lnTo>
                <a:lnTo>
                  <a:pt x="390525" y="209600"/>
                </a:lnTo>
                <a:lnTo>
                  <a:pt x="382701" y="154178"/>
                </a:lnTo>
                <a:lnTo>
                  <a:pt x="382651" y="152908"/>
                </a:lnTo>
                <a:lnTo>
                  <a:pt x="383527" y="132842"/>
                </a:lnTo>
                <a:lnTo>
                  <a:pt x="396621" y="83185"/>
                </a:lnTo>
                <a:lnTo>
                  <a:pt x="426173" y="51752"/>
                </a:lnTo>
                <a:lnTo>
                  <a:pt x="439801" y="45847"/>
                </a:lnTo>
                <a:close/>
              </a:path>
              <a:path w="1220470" h="307975">
                <a:moveTo>
                  <a:pt x="1106424" y="154178"/>
                </a:moveTo>
                <a:lnTo>
                  <a:pt x="1105217" y="132842"/>
                </a:lnTo>
                <a:lnTo>
                  <a:pt x="1105204" y="132537"/>
                </a:lnTo>
                <a:lnTo>
                  <a:pt x="1101547" y="112560"/>
                </a:lnTo>
                <a:lnTo>
                  <a:pt x="1076096" y="63093"/>
                </a:lnTo>
                <a:lnTo>
                  <a:pt x="1031240" y="36195"/>
                </a:lnTo>
                <a:lnTo>
                  <a:pt x="1027811" y="45847"/>
                </a:lnTo>
                <a:lnTo>
                  <a:pt x="1041450" y="51752"/>
                </a:lnTo>
                <a:lnTo>
                  <a:pt x="1053211" y="59944"/>
                </a:lnTo>
                <a:lnTo>
                  <a:pt x="1077061" y="97980"/>
                </a:lnTo>
                <a:lnTo>
                  <a:pt x="1083919" y="132537"/>
                </a:lnTo>
                <a:lnTo>
                  <a:pt x="1083970" y="132842"/>
                </a:lnTo>
                <a:lnTo>
                  <a:pt x="1084834" y="152908"/>
                </a:lnTo>
                <a:lnTo>
                  <a:pt x="1083970" y="173697"/>
                </a:lnTo>
                <a:lnTo>
                  <a:pt x="1081366" y="192595"/>
                </a:lnTo>
                <a:lnTo>
                  <a:pt x="1062977" y="237604"/>
                </a:lnTo>
                <a:lnTo>
                  <a:pt x="1028192" y="262382"/>
                </a:lnTo>
                <a:lnTo>
                  <a:pt x="1031240" y="272034"/>
                </a:lnTo>
                <a:lnTo>
                  <a:pt x="1076223" y="245198"/>
                </a:lnTo>
                <a:lnTo>
                  <a:pt x="1101559" y="195808"/>
                </a:lnTo>
                <a:lnTo>
                  <a:pt x="1105204" y="175831"/>
                </a:lnTo>
                <a:lnTo>
                  <a:pt x="1106424" y="154178"/>
                </a:lnTo>
                <a:close/>
              </a:path>
              <a:path w="1220470" h="307975">
                <a:moveTo>
                  <a:pt x="1220203" y="153924"/>
                </a:moveTo>
                <a:lnTo>
                  <a:pt x="1214970" y="99415"/>
                </a:lnTo>
                <a:lnTo>
                  <a:pt x="1199261" y="52832"/>
                </a:lnTo>
                <a:lnTo>
                  <a:pt x="1173772" y="18376"/>
                </a:lnTo>
                <a:lnTo>
                  <a:pt x="1139444" y="0"/>
                </a:lnTo>
                <a:lnTo>
                  <a:pt x="1136396" y="10287"/>
                </a:lnTo>
                <a:lnTo>
                  <a:pt x="1150454" y="17602"/>
                </a:lnTo>
                <a:lnTo>
                  <a:pt x="1162748" y="28257"/>
                </a:lnTo>
                <a:lnTo>
                  <a:pt x="1188618" y="79743"/>
                </a:lnTo>
                <a:lnTo>
                  <a:pt x="1196378" y="126898"/>
                </a:lnTo>
                <a:lnTo>
                  <a:pt x="1197356" y="153924"/>
                </a:lnTo>
                <a:lnTo>
                  <a:pt x="1196378" y="180886"/>
                </a:lnTo>
                <a:lnTo>
                  <a:pt x="1188618" y="227939"/>
                </a:lnTo>
                <a:lnTo>
                  <a:pt x="1173213" y="265341"/>
                </a:lnTo>
                <a:lnTo>
                  <a:pt x="1136396" y="297307"/>
                </a:lnTo>
                <a:lnTo>
                  <a:pt x="1139444" y="307467"/>
                </a:lnTo>
                <a:lnTo>
                  <a:pt x="1173772" y="289204"/>
                </a:lnTo>
                <a:lnTo>
                  <a:pt x="1199261" y="254635"/>
                </a:lnTo>
                <a:lnTo>
                  <a:pt x="1214970" y="208178"/>
                </a:lnTo>
                <a:lnTo>
                  <a:pt x="1218895" y="181965"/>
                </a:lnTo>
                <a:lnTo>
                  <a:pt x="1220203" y="153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93381" y="1569464"/>
            <a:ext cx="8038465" cy="5073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67665" algn="l"/>
              </a:tabLst>
            </a:pPr>
            <a:r>
              <a:rPr sz="2000" b="1" dirty="0">
                <a:latin typeface="Calibri"/>
                <a:cs typeface="Calibri"/>
              </a:rPr>
              <a:t>Greedy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best-</a:t>
            </a:r>
            <a:r>
              <a:rPr sz="2000" b="1" dirty="0">
                <a:latin typeface="Calibri"/>
                <a:cs typeface="Calibri"/>
              </a:rPr>
              <a:t>first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search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tries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closest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</a:t>
            </a:r>
            <a:endParaRPr sz="2000" dirty="0">
              <a:latin typeface="Calibri"/>
              <a:cs typeface="Calibri"/>
            </a:endParaRPr>
          </a:p>
          <a:p>
            <a:pPr marL="3683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alibri"/>
                <a:cs typeface="Calibri"/>
              </a:rPr>
              <a:t>goal,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grounds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likely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3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solution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quickly</a:t>
            </a:r>
            <a:endParaRPr sz="2000" dirty="0">
              <a:latin typeface="Calibri"/>
              <a:cs typeface="Calibri"/>
            </a:endParaRPr>
          </a:p>
          <a:p>
            <a:pPr marL="3676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67665" algn="l"/>
              </a:tabLst>
            </a:pPr>
            <a:r>
              <a:rPr sz="2000" dirty="0">
                <a:latin typeface="Calibri"/>
                <a:cs typeface="Calibri"/>
              </a:rPr>
              <a:t>Thus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evaluates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just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heuristic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function;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is,</a:t>
            </a:r>
            <a:endParaRPr sz="2000" dirty="0">
              <a:latin typeface="Calibri"/>
              <a:cs typeface="Calibri"/>
            </a:endParaRPr>
          </a:p>
          <a:p>
            <a:pPr marL="368300">
              <a:lnSpc>
                <a:spcPct val="100000"/>
              </a:lnSpc>
            </a:pPr>
            <a:r>
              <a:rPr sz="2000" i="1" spc="-10" dirty="0">
                <a:latin typeface="Calibri"/>
                <a:cs typeface="Calibri"/>
              </a:rPr>
              <a:t>f(n)=h(n)</a:t>
            </a:r>
            <a:endParaRPr sz="2000" dirty="0">
              <a:latin typeface="Calibri"/>
              <a:cs typeface="Calibri"/>
            </a:endParaRPr>
          </a:p>
          <a:p>
            <a:pPr marL="3676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67665" algn="l"/>
              </a:tabLst>
            </a:pPr>
            <a:r>
              <a:rPr sz="2000" dirty="0">
                <a:latin typeface="Calibri"/>
                <a:cs typeface="Calibri"/>
              </a:rPr>
              <a:t>For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route-</a:t>
            </a:r>
            <a:r>
              <a:rPr sz="2000" dirty="0">
                <a:latin typeface="Calibri"/>
                <a:cs typeface="Calibri"/>
              </a:rPr>
              <a:t>finding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problem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Romania,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straight-line</a:t>
            </a:r>
            <a:endParaRPr sz="2000" dirty="0">
              <a:latin typeface="Calibri"/>
              <a:cs typeface="Calibri"/>
            </a:endParaRPr>
          </a:p>
          <a:p>
            <a:pPr marL="368300">
              <a:lnSpc>
                <a:spcPct val="100000"/>
              </a:lnSpc>
              <a:spcBef>
                <a:spcPts val="10"/>
              </a:spcBef>
            </a:pPr>
            <a:r>
              <a:rPr sz="2000" b="1" dirty="0">
                <a:latin typeface="Calibri"/>
                <a:cs typeface="Calibri"/>
              </a:rPr>
              <a:t>distance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heuristic,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mbria Math"/>
                <a:cs typeface="Cambria Math"/>
              </a:rPr>
              <a:t>ℎ</a:t>
            </a:r>
            <a:r>
              <a:rPr sz="2175" spc="-30" baseline="-15325" dirty="0">
                <a:latin typeface="Cambria Math"/>
                <a:cs typeface="Cambria Math"/>
              </a:rPr>
              <a:t>𝑆𝐿𝐷</a:t>
            </a:r>
            <a:endParaRPr sz="2175" baseline="-15325" dirty="0">
              <a:latin typeface="Cambria Math"/>
              <a:cs typeface="Cambria Math"/>
            </a:endParaRPr>
          </a:p>
          <a:p>
            <a:pPr marL="368300" marR="435609" indent="-342900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368300" algn="l"/>
              </a:tabLst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goal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Bucharest,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know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straight-</a:t>
            </a:r>
            <a:r>
              <a:rPr sz="2000" dirty="0">
                <a:latin typeface="Calibri"/>
                <a:cs typeface="Calibri"/>
              </a:rPr>
              <a:t>line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distances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Bucharest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(Fig.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2)</a:t>
            </a:r>
            <a:endParaRPr sz="2000" dirty="0">
              <a:latin typeface="Calibri"/>
              <a:cs typeface="Calibri"/>
            </a:endParaRPr>
          </a:p>
          <a:p>
            <a:pPr marL="367665" indent="-342265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367665" algn="l"/>
                <a:tab pos="1399540" algn="l"/>
                <a:tab pos="2620645" algn="l"/>
              </a:tabLst>
            </a:pPr>
            <a:r>
              <a:rPr sz="2000" dirty="0">
                <a:latin typeface="Calibri"/>
                <a:cs typeface="Calibri"/>
              </a:rPr>
              <a:t>E.g.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mbria Math"/>
                <a:cs typeface="Cambria Math"/>
              </a:rPr>
              <a:t>ℎ</a:t>
            </a:r>
            <a:r>
              <a:rPr sz="2175" spc="-30" baseline="-15325" dirty="0">
                <a:latin typeface="Cambria Math"/>
                <a:cs typeface="Cambria Math"/>
              </a:rPr>
              <a:t>𝑆𝐿𝐷</a:t>
            </a:r>
            <a:r>
              <a:rPr sz="2175" baseline="-15325" dirty="0">
                <a:latin typeface="Cambria Math"/>
                <a:cs typeface="Cambria Math"/>
              </a:rPr>
              <a:t>	</a:t>
            </a:r>
            <a:r>
              <a:rPr sz="2000" dirty="0">
                <a:latin typeface="Cambria Math"/>
                <a:cs typeface="Cambria Math"/>
              </a:rPr>
              <a:t>𝐼𝑛</a:t>
            </a:r>
            <a:r>
              <a:rPr sz="2000" spc="395" dirty="0">
                <a:latin typeface="Cambria Math"/>
                <a:cs typeface="Cambria Math"/>
              </a:rPr>
              <a:t> </a:t>
            </a:r>
            <a:r>
              <a:rPr sz="2000" spc="-20" dirty="0">
                <a:latin typeface="Cambria Math"/>
                <a:cs typeface="Cambria Math"/>
              </a:rPr>
              <a:t>𝐴𝑟𝑎𝑑</a:t>
            </a:r>
            <a:r>
              <a:rPr sz="2000" dirty="0">
                <a:latin typeface="Cambria Math"/>
                <a:cs typeface="Cambria Math"/>
              </a:rPr>
              <a:t>	=</a:t>
            </a:r>
            <a:r>
              <a:rPr sz="2000" spc="85" dirty="0">
                <a:latin typeface="Cambria Math"/>
                <a:cs typeface="Cambria Math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366</a:t>
            </a:r>
            <a:endParaRPr sz="2000" dirty="0">
              <a:latin typeface="Cambria Math"/>
              <a:cs typeface="Cambria Math"/>
            </a:endParaRPr>
          </a:p>
          <a:p>
            <a:pPr marL="367665" indent="-342265">
              <a:lnSpc>
                <a:spcPct val="100000"/>
              </a:lnSpc>
              <a:spcBef>
                <a:spcPts val="585"/>
              </a:spcBef>
              <a:buFont typeface="Arial MT"/>
              <a:buChar char="•"/>
              <a:tabLst>
                <a:tab pos="367665" algn="l"/>
              </a:tabLst>
            </a:pPr>
            <a:r>
              <a:rPr sz="2000" dirty="0">
                <a:latin typeface="Calibri"/>
                <a:cs typeface="Calibri"/>
              </a:rPr>
              <a:t>Notice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mbria Math"/>
                <a:cs typeface="Cambria Math"/>
              </a:rPr>
              <a:t>ℎ</a:t>
            </a:r>
            <a:r>
              <a:rPr sz="2175" baseline="-15325" dirty="0">
                <a:latin typeface="Cambria Math"/>
                <a:cs typeface="Cambria Math"/>
              </a:rPr>
              <a:t>𝑆𝐿𝐷</a:t>
            </a:r>
            <a:r>
              <a:rPr sz="2175" spc="367" baseline="-153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cannot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computed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problem</a:t>
            </a:r>
            <a:endParaRPr sz="2000" dirty="0">
              <a:latin typeface="Calibri"/>
              <a:cs typeface="Calibri"/>
            </a:endParaRPr>
          </a:p>
          <a:p>
            <a:pPr marL="3683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Calibri"/>
                <a:cs typeface="Calibri"/>
              </a:rPr>
              <a:t>description itself</a:t>
            </a:r>
            <a:endParaRPr sz="2000" dirty="0">
              <a:latin typeface="Calibri"/>
              <a:cs typeface="Calibri"/>
            </a:endParaRPr>
          </a:p>
          <a:p>
            <a:pPr marL="368300" marR="214629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68300" algn="l"/>
              </a:tabLst>
            </a:pPr>
            <a:r>
              <a:rPr sz="2000" spc="-25" dirty="0">
                <a:latin typeface="Calibri"/>
                <a:cs typeface="Calibri"/>
              </a:rPr>
              <a:t>Moreover,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takes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certain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amount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experience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know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mbria Math"/>
                <a:cs typeface="Cambria Math"/>
              </a:rPr>
              <a:t>ℎ</a:t>
            </a:r>
            <a:r>
              <a:rPr sz="2175" baseline="-15325" dirty="0">
                <a:latin typeface="Cambria Math"/>
                <a:cs typeface="Cambria Math"/>
              </a:rPr>
              <a:t>𝑆𝐿𝐷</a:t>
            </a:r>
            <a:r>
              <a:rPr sz="2175" spc="315" baseline="-15325" dirty="0">
                <a:latin typeface="Cambria Math"/>
                <a:cs typeface="Cambria Math"/>
              </a:rPr>
              <a:t> </a:t>
            </a:r>
            <a:r>
              <a:rPr sz="2000" spc="-25" dirty="0">
                <a:latin typeface="Calibri"/>
                <a:cs typeface="Calibri"/>
              </a:rPr>
              <a:t>is </a:t>
            </a:r>
            <a:r>
              <a:rPr sz="2000" spc="-10" dirty="0">
                <a:latin typeface="Calibri"/>
                <a:cs typeface="Calibri"/>
              </a:rPr>
              <a:t>correlated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actual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road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distances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therefore,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useful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heuristic</a:t>
            </a:r>
            <a:endParaRPr sz="2000" dirty="0">
              <a:latin typeface="Calibri"/>
              <a:cs typeface="Calibri"/>
            </a:endParaRPr>
          </a:p>
          <a:p>
            <a:pPr marL="368300" marR="8509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68300" algn="l"/>
              </a:tabLst>
            </a:pPr>
            <a:r>
              <a:rPr sz="2000" dirty="0">
                <a:latin typeface="Calibri"/>
                <a:cs typeface="Calibri"/>
              </a:rPr>
              <a:t>Fig.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shows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progress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greedy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best-</a:t>
            </a:r>
            <a:r>
              <a:rPr sz="2000" dirty="0">
                <a:latin typeface="Calibri"/>
                <a:cs typeface="Calibri"/>
              </a:rPr>
              <a:t>first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mbria Math"/>
                <a:cs typeface="Cambria Math"/>
              </a:rPr>
              <a:t>ℎ</a:t>
            </a:r>
            <a:r>
              <a:rPr sz="2175" baseline="-15325" dirty="0">
                <a:latin typeface="Cambria Math"/>
                <a:cs typeface="Cambria Math"/>
              </a:rPr>
              <a:t>𝑆𝐿𝐷</a:t>
            </a:r>
            <a:r>
              <a:rPr sz="2175" spc="359" baseline="-153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dirty="0">
                <a:latin typeface="Calibri"/>
                <a:cs typeface="Calibri"/>
              </a:rPr>
              <a:t>path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Arad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Bucharest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38100">
                <a:lnSpc>
                  <a:spcPts val="1240"/>
                </a:lnSpc>
              </a:pPr>
              <a:t>4</a:t>
            </a:fld>
            <a:endParaRPr spc="-25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0977FE-A6CC-6B1D-79AB-25C51AA91A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081" y="126543"/>
            <a:ext cx="2647950" cy="661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6692" y="1132809"/>
            <a:ext cx="6510381" cy="318023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341496" y="4241419"/>
            <a:ext cx="5678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Figure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2:</a:t>
            </a:r>
            <a:r>
              <a:rPr sz="1800" spc="-20" dirty="0">
                <a:latin typeface="Calibri"/>
                <a:cs typeface="Calibri"/>
              </a:rPr>
              <a:t> Values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ℎ</a:t>
            </a:r>
            <a:r>
              <a:rPr sz="1950" baseline="-14957" dirty="0">
                <a:latin typeface="Cambria Math"/>
                <a:cs typeface="Cambria Math"/>
              </a:rPr>
              <a:t>𝑆𝐿𝐷</a:t>
            </a:r>
            <a:r>
              <a:rPr sz="1950" spc="27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straight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line</a:t>
            </a:r>
            <a:r>
              <a:rPr sz="1800" spc="-10" dirty="0">
                <a:latin typeface="Calibri"/>
                <a:cs typeface="Calibri"/>
              </a:rPr>
              <a:t> distances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Bucharest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38100">
                <a:lnSpc>
                  <a:spcPts val="1240"/>
                </a:lnSpc>
              </a:pPr>
              <a:t>5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2934716" y="5248147"/>
            <a:ext cx="6871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Figure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Russel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Norvig,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Artificial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Intelligence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Modern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Approach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402D59-CA4B-9D67-D7D8-0D6D68A1C9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8710" y="516859"/>
            <a:ext cx="736600" cy="6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D03523-CC72-3757-B330-BC3B33E77D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690" y="516859"/>
            <a:ext cx="2647950" cy="661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8025" y="806427"/>
            <a:ext cx="6843752" cy="435078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81836" y="5187441"/>
            <a:ext cx="8267065" cy="11531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824230" marR="43180">
              <a:lnSpc>
                <a:spcPct val="100600"/>
              </a:lnSpc>
              <a:spcBef>
                <a:spcPts val="85"/>
              </a:spcBef>
            </a:pPr>
            <a:r>
              <a:rPr sz="1800" dirty="0">
                <a:latin typeface="Calibri"/>
                <a:cs typeface="Calibri"/>
              </a:rPr>
              <a:t>Figure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Stages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greedy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best-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search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Bucharest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straight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line </a:t>
            </a:r>
            <a:r>
              <a:rPr sz="1800" dirty="0">
                <a:latin typeface="Calibri"/>
                <a:cs typeface="Calibri"/>
              </a:rPr>
              <a:t>distance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heuristic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ℎ</a:t>
            </a:r>
            <a:r>
              <a:rPr sz="1950" baseline="-14957" dirty="0">
                <a:latin typeface="Cambria Math"/>
                <a:cs typeface="Cambria Math"/>
              </a:rPr>
              <a:t>𝑆𝐿𝐷</a:t>
            </a:r>
            <a:r>
              <a:rPr sz="1800" dirty="0">
                <a:latin typeface="Calibri"/>
                <a:cs typeface="Calibri"/>
              </a:rPr>
              <a:t>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Nodes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labeled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their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-values.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8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Figure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Russel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Norvig,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Artificial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Intelligence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Modern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Approach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38100">
                <a:lnSpc>
                  <a:spcPts val="1240"/>
                </a:lnSpc>
              </a:pPr>
              <a:t>6</a:t>
            </a:fld>
            <a:endParaRPr spc="-25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F04983-97B9-AB65-5C65-416CDB454B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4800"/>
            <a:ext cx="2647950" cy="661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38100">
                <a:lnSpc>
                  <a:spcPts val="1240"/>
                </a:lnSpc>
              </a:pPr>
              <a:t>7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01454" y="493162"/>
            <a:ext cx="66548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Greedy</a:t>
            </a:r>
            <a:r>
              <a:rPr spc="-95" dirty="0"/>
              <a:t> </a:t>
            </a:r>
            <a:r>
              <a:rPr spc="-25" dirty="0"/>
              <a:t>best-</a:t>
            </a:r>
            <a:r>
              <a:rPr dirty="0"/>
              <a:t>first</a:t>
            </a:r>
            <a:r>
              <a:rPr spc="-90" dirty="0"/>
              <a:t> </a:t>
            </a:r>
            <a:r>
              <a:rPr dirty="0"/>
              <a:t>search</a:t>
            </a:r>
            <a:r>
              <a:rPr spc="-114" dirty="0"/>
              <a:t> </a:t>
            </a:r>
            <a:r>
              <a:rPr spc="-10" dirty="0"/>
              <a:t>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2254" y="1494247"/>
            <a:ext cx="7874000" cy="4660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0" marR="17780" indent="-34353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683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first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expanded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Arad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Sibiu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because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closer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Bucharest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either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Zerind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Timisoara</a:t>
            </a:r>
            <a:endParaRPr sz="2000" dirty="0">
              <a:latin typeface="Calibri"/>
              <a:cs typeface="Calibri"/>
            </a:endParaRPr>
          </a:p>
          <a:p>
            <a:pPr marL="368300" indent="-342900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3683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next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expanded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Fagaras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because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closest</a:t>
            </a:r>
            <a:r>
              <a:rPr sz="2000" spc="-25" dirty="0">
                <a:latin typeface="Calibri"/>
                <a:cs typeface="Calibri"/>
              </a:rPr>
              <a:t> to</a:t>
            </a:r>
            <a:endParaRPr sz="2000" dirty="0">
              <a:latin typeface="Calibri"/>
              <a:cs typeface="Calibri"/>
            </a:endParaRPr>
          </a:p>
          <a:p>
            <a:pPr marL="3683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Calibri"/>
                <a:cs typeface="Calibri"/>
              </a:rPr>
              <a:t>Bucharest</a:t>
            </a:r>
            <a:endParaRPr sz="2000" dirty="0">
              <a:latin typeface="Calibri"/>
              <a:cs typeface="Calibri"/>
            </a:endParaRPr>
          </a:p>
          <a:p>
            <a:pPr marL="36830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68300" algn="l"/>
              </a:tabLst>
            </a:pPr>
            <a:r>
              <a:rPr sz="2000" spc="-20" dirty="0">
                <a:latin typeface="Calibri"/>
                <a:cs typeface="Calibri"/>
              </a:rPr>
              <a:t>Fagaras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turn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generates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Bucharest,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goal</a:t>
            </a:r>
            <a:endParaRPr sz="2000" dirty="0">
              <a:latin typeface="Calibri"/>
              <a:cs typeface="Calibri"/>
            </a:endParaRPr>
          </a:p>
          <a:p>
            <a:pPr marL="368300" marR="69215" indent="-343535">
              <a:lnSpc>
                <a:spcPct val="99800"/>
              </a:lnSpc>
              <a:spcBef>
                <a:spcPts val="495"/>
              </a:spcBef>
              <a:buFont typeface="Arial MT"/>
              <a:buChar char="•"/>
              <a:tabLst>
                <a:tab pos="368300" algn="l"/>
              </a:tabLst>
            </a:pPr>
            <a:r>
              <a:rPr sz="2000" dirty="0">
                <a:latin typeface="Calibri"/>
                <a:cs typeface="Calibri"/>
              </a:rPr>
              <a:t>For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particular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problem,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greedy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best-</a:t>
            </a:r>
            <a:r>
              <a:rPr sz="2000" dirty="0">
                <a:latin typeface="Calibri"/>
                <a:cs typeface="Calibri"/>
              </a:rPr>
              <a:t>first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mbria Math"/>
                <a:cs typeface="Cambria Math"/>
              </a:rPr>
              <a:t>ℎ</a:t>
            </a:r>
            <a:r>
              <a:rPr sz="2175" baseline="-15325" dirty="0">
                <a:latin typeface="Cambria Math"/>
                <a:cs typeface="Cambria Math"/>
              </a:rPr>
              <a:t>𝑆𝐿𝐷</a:t>
            </a:r>
            <a:r>
              <a:rPr sz="2175" spc="322" baseline="-153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finds</a:t>
            </a:r>
            <a:r>
              <a:rPr sz="2000" spc="-50" dirty="0">
                <a:latin typeface="Calibri"/>
                <a:cs typeface="Calibri"/>
              </a:rPr>
              <a:t> a </a:t>
            </a:r>
            <a:r>
              <a:rPr sz="2000" dirty="0">
                <a:latin typeface="Calibri"/>
                <a:cs typeface="Calibri"/>
              </a:rPr>
              <a:t>solution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without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expanding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solution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path; </a:t>
            </a:r>
            <a:r>
              <a:rPr sz="2000" dirty="0">
                <a:latin typeface="Calibri"/>
                <a:cs typeface="Calibri"/>
              </a:rPr>
              <a:t>hence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minimal</a:t>
            </a:r>
            <a:endParaRPr sz="2000" dirty="0">
              <a:latin typeface="Calibri"/>
              <a:cs typeface="Calibri"/>
            </a:endParaRPr>
          </a:p>
          <a:p>
            <a:pPr marL="368300" marR="85090" indent="-34353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368300" algn="l"/>
              </a:tabLst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optimal,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however;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Sibiu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Fagaras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Bucharest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is </a:t>
            </a:r>
            <a:r>
              <a:rPr sz="2000" dirty="0">
                <a:latin typeface="Calibri"/>
                <a:cs typeface="Calibri"/>
              </a:rPr>
              <a:t>32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kms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longer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3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through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Rimnicu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Vilcea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Pitesti.</a:t>
            </a:r>
            <a:endParaRPr sz="2000" dirty="0">
              <a:latin typeface="Calibri"/>
              <a:cs typeface="Calibri"/>
            </a:endParaRPr>
          </a:p>
          <a:p>
            <a:pPr marL="36830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68300" algn="l"/>
              </a:tabLst>
            </a:pPr>
            <a:r>
              <a:rPr sz="2000" dirty="0">
                <a:latin typeface="Calibri"/>
                <a:cs typeface="Calibri"/>
              </a:rPr>
              <a:t>This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shows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why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algorithm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“greedy”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step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tries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</a:t>
            </a:r>
            <a:endParaRPr sz="2000" dirty="0">
              <a:latin typeface="Calibri"/>
              <a:cs typeface="Calibri"/>
            </a:endParaRPr>
          </a:p>
          <a:p>
            <a:pPr marL="3683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get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close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goal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25" dirty="0">
                <a:latin typeface="Calibri"/>
                <a:cs typeface="Calibri"/>
              </a:rPr>
              <a:t> can</a:t>
            </a:r>
            <a:endParaRPr sz="2000" dirty="0">
              <a:latin typeface="Calibri"/>
              <a:cs typeface="Calibri"/>
            </a:endParaRPr>
          </a:p>
          <a:p>
            <a:pPr marL="368300" marR="84455" indent="-34353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68300" algn="l"/>
              </a:tabLst>
            </a:pPr>
            <a:r>
              <a:rPr sz="2000" dirty="0">
                <a:latin typeface="Calibri"/>
                <a:cs typeface="Calibri"/>
              </a:rPr>
              <a:t>Greedy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best-</a:t>
            </a: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also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incomplete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finite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space, </a:t>
            </a:r>
            <a:r>
              <a:rPr sz="2000" dirty="0">
                <a:latin typeface="Calibri"/>
                <a:cs typeface="Calibri"/>
              </a:rPr>
              <a:t>much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like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DFS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38100">
                <a:lnSpc>
                  <a:spcPts val="1240"/>
                </a:lnSpc>
              </a:pPr>
              <a:t>8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46768" y="629404"/>
            <a:ext cx="66560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Greedy</a:t>
            </a:r>
            <a:r>
              <a:rPr spc="-145" dirty="0"/>
              <a:t> </a:t>
            </a:r>
            <a:r>
              <a:rPr spc="-20" dirty="0"/>
              <a:t>best-</a:t>
            </a:r>
            <a:r>
              <a:rPr dirty="0"/>
              <a:t>first</a:t>
            </a:r>
            <a:r>
              <a:rPr spc="-140" dirty="0"/>
              <a:t> </a:t>
            </a:r>
            <a:r>
              <a:rPr dirty="0"/>
              <a:t>search</a:t>
            </a:r>
            <a:r>
              <a:rPr spc="-145" dirty="0"/>
              <a:t> </a:t>
            </a:r>
            <a:r>
              <a:rPr spc="-10" dirty="0"/>
              <a:t>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96123" y="1677415"/>
            <a:ext cx="8006715" cy="4787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67665" algn="l"/>
              </a:tabLst>
            </a:pPr>
            <a:r>
              <a:rPr sz="2200" dirty="0">
                <a:latin typeface="Calibri"/>
                <a:cs typeface="Calibri"/>
              </a:rPr>
              <a:t>Consider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problem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getting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Iasi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Fagaras</a:t>
            </a:r>
            <a:endParaRPr sz="2200" dirty="0">
              <a:latin typeface="Calibri"/>
              <a:cs typeface="Calibri"/>
            </a:endParaRPr>
          </a:p>
          <a:p>
            <a:pPr marL="367665" indent="-342265">
              <a:lnSpc>
                <a:spcPts val="2375"/>
              </a:lnSpc>
              <a:buFont typeface="Arial MT"/>
              <a:buChar char="•"/>
              <a:tabLst>
                <a:tab pos="367665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heuristics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suggests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Neamt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expanded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first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because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is</a:t>
            </a:r>
            <a:endParaRPr sz="2200" dirty="0">
              <a:latin typeface="Calibri"/>
              <a:cs typeface="Calibri"/>
            </a:endParaRPr>
          </a:p>
          <a:p>
            <a:pPr marL="368300">
              <a:lnSpc>
                <a:spcPts val="2375"/>
              </a:lnSpc>
            </a:pPr>
            <a:r>
              <a:rPr sz="2200" dirty="0">
                <a:latin typeface="Calibri"/>
                <a:cs typeface="Calibri"/>
              </a:rPr>
              <a:t>closest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Fagaras,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but</a:t>
            </a:r>
            <a:r>
              <a:rPr sz="2200" spc="4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dead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end</a:t>
            </a:r>
            <a:endParaRPr sz="2200" dirty="0">
              <a:latin typeface="Calibri"/>
              <a:cs typeface="Calibri"/>
            </a:endParaRPr>
          </a:p>
          <a:p>
            <a:pPr marL="368300" marR="144780" indent="-342900">
              <a:lnSpc>
                <a:spcPct val="80000"/>
              </a:lnSpc>
              <a:spcBef>
                <a:spcPts val="530"/>
              </a:spcBef>
              <a:buFont typeface="Arial MT"/>
              <a:buChar char="•"/>
              <a:tabLst>
                <a:tab pos="368300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solution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Vaslui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–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step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4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actually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farther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from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goal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according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heuristic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–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continue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to </a:t>
            </a:r>
            <a:r>
              <a:rPr sz="2200" dirty="0">
                <a:latin typeface="Calibri"/>
                <a:cs typeface="Calibri"/>
              </a:rPr>
              <a:t>Urziceni,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Bucharest,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Fagaras</a:t>
            </a:r>
            <a:endParaRPr sz="2200" dirty="0">
              <a:latin typeface="Calibri"/>
              <a:cs typeface="Calibri"/>
            </a:endParaRPr>
          </a:p>
          <a:p>
            <a:pPr marL="368300" marR="17780" indent="-342900">
              <a:lnSpc>
                <a:spcPct val="80000"/>
              </a:lnSpc>
              <a:spcBef>
                <a:spcPts val="525"/>
              </a:spcBef>
              <a:buFont typeface="Arial MT"/>
              <a:buChar char="•"/>
              <a:tabLst>
                <a:tab pos="368300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algorithm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will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never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find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solution,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however,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because </a:t>
            </a:r>
            <a:r>
              <a:rPr sz="2200" dirty="0">
                <a:latin typeface="Calibri"/>
                <a:cs typeface="Calibri"/>
              </a:rPr>
              <a:t>expanding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Neamt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puts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Iasi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back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frontier,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Iasi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closer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to </a:t>
            </a:r>
            <a:r>
              <a:rPr sz="2200" spc="-20" dirty="0">
                <a:latin typeface="Calibri"/>
                <a:cs typeface="Calibri"/>
              </a:rPr>
              <a:t>Fagaras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Vaslui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Iasi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will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expanded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again,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leading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to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infinite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loop</a:t>
            </a:r>
            <a:endParaRPr sz="2200" dirty="0">
              <a:latin typeface="Calibri"/>
              <a:cs typeface="Calibri"/>
            </a:endParaRPr>
          </a:p>
          <a:p>
            <a:pPr marL="367665" indent="-342265">
              <a:lnSpc>
                <a:spcPts val="2375"/>
              </a:lnSpc>
              <a:buFont typeface="Arial MT"/>
              <a:buChar char="•"/>
              <a:tabLst>
                <a:tab pos="367665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worst-</a:t>
            </a:r>
            <a:r>
              <a:rPr sz="2200" dirty="0">
                <a:latin typeface="Calibri"/>
                <a:cs typeface="Calibri"/>
              </a:rPr>
              <a:t>case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space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complexity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tree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version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is</a:t>
            </a:r>
            <a:endParaRPr sz="2200" dirty="0">
              <a:latin typeface="Calibri"/>
              <a:cs typeface="Calibri"/>
            </a:endParaRPr>
          </a:p>
          <a:p>
            <a:pPr marR="473709" algn="ctr">
              <a:lnSpc>
                <a:spcPts val="2375"/>
              </a:lnSpc>
            </a:pPr>
            <a:r>
              <a:rPr sz="2200" spc="55" dirty="0">
                <a:latin typeface="Cambria Math"/>
                <a:cs typeface="Cambria Math"/>
              </a:rPr>
              <a:t>𝑂(𝑏</a:t>
            </a:r>
            <a:r>
              <a:rPr sz="2400" spc="82" baseline="27777" dirty="0">
                <a:latin typeface="Cambria Math"/>
                <a:cs typeface="Cambria Math"/>
              </a:rPr>
              <a:t>𝑚</a:t>
            </a:r>
            <a:r>
              <a:rPr sz="2200" spc="55" dirty="0">
                <a:latin typeface="Cambria Math"/>
                <a:cs typeface="Cambria Math"/>
              </a:rPr>
              <a:t>)</a:t>
            </a:r>
            <a:r>
              <a:rPr sz="2200" spc="55" dirty="0">
                <a:latin typeface="Calibri"/>
                <a:cs typeface="Calibri"/>
              </a:rPr>
              <a:t>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where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m</a:t>
            </a:r>
            <a:r>
              <a:rPr sz="2200" i="1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maximum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depth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search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space</a:t>
            </a:r>
            <a:endParaRPr sz="2200" dirty="0">
              <a:latin typeface="Calibri"/>
              <a:cs typeface="Calibri"/>
            </a:endParaRPr>
          </a:p>
          <a:p>
            <a:pPr marL="342265" marR="459105" indent="-342265" algn="ctr">
              <a:lnSpc>
                <a:spcPts val="2375"/>
              </a:lnSpc>
              <a:buFont typeface="Arial MT"/>
              <a:buChar char="•"/>
              <a:tabLst>
                <a:tab pos="342265" algn="l"/>
              </a:tabLst>
            </a:pPr>
            <a:r>
              <a:rPr sz="2200" dirty="0">
                <a:latin typeface="Calibri"/>
                <a:cs typeface="Calibri"/>
              </a:rPr>
              <a:t>With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good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heuristic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function,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however,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complexity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be</a:t>
            </a:r>
            <a:endParaRPr sz="2200" dirty="0">
              <a:latin typeface="Calibri"/>
              <a:cs typeface="Calibri"/>
            </a:endParaRPr>
          </a:p>
          <a:p>
            <a:pPr marR="4849495" algn="ctr">
              <a:lnSpc>
                <a:spcPts val="2375"/>
              </a:lnSpc>
            </a:pPr>
            <a:r>
              <a:rPr sz="2200" dirty="0">
                <a:latin typeface="Calibri"/>
                <a:cs typeface="Calibri"/>
              </a:rPr>
              <a:t>reduced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substantially</a:t>
            </a:r>
            <a:endParaRPr sz="2200" dirty="0">
              <a:latin typeface="Calibri"/>
              <a:cs typeface="Calibri"/>
            </a:endParaRPr>
          </a:p>
          <a:p>
            <a:pPr marL="368300" marR="347345" indent="-342900">
              <a:lnSpc>
                <a:spcPct val="80000"/>
              </a:lnSpc>
              <a:spcBef>
                <a:spcPts val="530"/>
              </a:spcBef>
              <a:buFont typeface="Arial MT"/>
              <a:buChar char="•"/>
              <a:tabLst>
                <a:tab pos="368300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amount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reduction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depends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particular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problem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quality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heuristic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38100">
                <a:lnSpc>
                  <a:spcPts val="1240"/>
                </a:lnSpc>
              </a:pPr>
              <a:t>9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56216" y="683261"/>
            <a:ext cx="8497584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3405">
              <a:lnSpc>
                <a:spcPct val="100000"/>
              </a:lnSpc>
              <a:spcBef>
                <a:spcPts val="95"/>
              </a:spcBef>
            </a:pPr>
            <a:r>
              <a:rPr dirty="0"/>
              <a:t>A*</a:t>
            </a:r>
            <a:r>
              <a:rPr spc="-10" dirty="0"/>
              <a:t> 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8275" y="1617059"/>
            <a:ext cx="8789316" cy="46826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most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widely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form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best-</a:t>
            </a:r>
            <a:r>
              <a:rPr sz="2200" dirty="0">
                <a:latin typeface="Calibri"/>
                <a:cs typeface="Calibri"/>
              </a:rPr>
              <a:t>first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search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called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A*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search</a:t>
            </a:r>
            <a:endParaRPr sz="2200" dirty="0">
              <a:latin typeface="Calibri"/>
              <a:cs typeface="Calibri"/>
            </a:endParaRPr>
          </a:p>
          <a:p>
            <a:pPr marL="355600" marR="335280" indent="-342900">
              <a:lnSpc>
                <a:spcPct val="80000"/>
              </a:lnSpc>
              <a:spcBef>
                <a:spcPts val="53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It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evaluates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nodes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combining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g(n),</a:t>
            </a:r>
            <a:r>
              <a:rPr sz="2200" i="1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cost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reach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node,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h(n),</a:t>
            </a:r>
            <a:r>
              <a:rPr sz="2200" i="1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cost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get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node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goal:</a:t>
            </a:r>
            <a:endParaRPr sz="2200" dirty="0">
              <a:latin typeface="Calibri"/>
              <a:cs typeface="Calibri"/>
            </a:endParaRPr>
          </a:p>
          <a:p>
            <a:pPr marL="647700">
              <a:lnSpc>
                <a:spcPct val="100000"/>
              </a:lnSpc>
            </a:pPr>
            <a:r>
              <a:rPr sz="2200" i="1" dirty="0">
                <a:latin typeface="Calibri"/>
                <a:cs typeface="Calibri"/>
              </a:rPr>
              <a:t>f(n)</a:t>
            </a:r>
            <a:r>
              <a:rPr sz="2200" i="1" spc="-2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=</a:t>
            </a:r>
            <a:r>
              <a:rPr sz="2200" i="1" spc="-2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g(n)</a:t>
            </a:r>
            <a:r>
              <a:rPr sz="2200" i="1" spc="-1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+</a:t>
            </a:r>
            <a:r>
              <a:rPr sz="2200" i="1" spc="-15" dirty="0">
                <a:latin typeface="Calibri"/>
                <a:cs typeface="Calibri"/>
              </a:rPr>
              <a:t> </a:t>
            </a:r>
            <a:r>
              <a:rPr sz="2200" i="1" spc="-20" dirty="0">
                <a:latin typeface="Calibri"/>
                <a:cs typeface="Calibri"/>
              </a:rPr>
              <a:t>h(n)</a:t>
            </a:r>
            <a:endParaRPr sz="2200" dirty="0">
              <a:latin typeface="Calibri"/>
              <a:cs typeface="Calibri"/>
            </a:endParaRPr>
          </a:p>
          <a:p>
            <a:pPr marL="355600" marR="389255" indent="-342900">
              <a:lnSpc>
                <a:spcPts val="2110"/>
              </a:lnSpc>
              <a:spcBef>
                <a:spcPts val="509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Since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g(n)</a:t>
            </a:r>
            <a:r>
              <a:rPr sz="2200" i="1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gives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path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cost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start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node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node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n,</a:t>
            </a:r>
            <a:r>
              <a:rPr sz="2200" i="1" spc="-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and </a:t>
            </a:r>
            <a:r>
              <a:rPr sz="2200" i="1" dirty="0">
                <a:latin typeface="Calibri"/>
                <a:cs typeface="Calibri"/>
              </a:rPr>
              <a:t>h(n)</a:t>
            </a:r>
            <a:r>
              <a:rPr sz="2200" i="1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estimated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cost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cheapest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path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n</a:t>
            </a:r>
            <a:r>
              <a:rPr sz="2200" i="1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the </a:t>
            </a:r>
            <a:r>
              <a:rPr sz="2200" dirty="0">
                <a:latin typeface="Calibri"/>
                <a:cs typeface="Calibri"/>
              </a:rPr>
              <a:t>goal,we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have</a:t>
            </a:r>
            <a:endParaRPr sz="2200" dirty="0">
              <a:latin typeface="Calibri"/>
              <a:cs typeface="Calibri"/>
            </a:endParaRPr>
          </a:p>
          <a:p>
            <a:pPr marL="1155700" marR="2443480" indent="-698500">
              <a:lnSpc>
                <a:spcPct val="100000"/>
              </a:lnSpc>
              <a:spcBef>
                <a:spcPts val="25"/>
              </a:spcBef>
            </a:pPr>
            <a:r>
              <a:rPr sz="2200" i="1" dirty="0">
                <a:latin typeface="Calibri"/>
                <a:cs typeface="Calibri"/>
              </a:rPr>
              <a:t>f(n)</a:t>
            </a:r>
            <a:r>
              <a:rPr sz="2200" i="1" spc="-5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=</a:t>
            </a:r>
            <a:r>
              <a:rPr sz="2200" i="1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estimated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cost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cheapest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solution </a:t>
            </a:r>
            <a:r>
              <a:rPr sz="2200" dirty="0">
                <a:latin typeface="Calibri"/>
                <a:cs typeface="Calibri"/>
              </a:rPr>
              <a:t>through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i="1" spc="-50" dirty="0">
                <a:latin typeface="Calibri"/>
                <a:cs typeface="Calibri"/>
              </a:rPr>
              <a:t>n</a:t>
            </a:r>
            <a:endParaRPr sz="2200" dirty="0">
              <a:latin typeface="Calibri"/>
              <a:cs typeface="Calibri"/>
            </a:endParaRPr>
          </a:p>
          <a:p>
            <a:pPr marL="354965" indent="-342265">
              <a:lnSpc>
                <a:spcPts val="2375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Thus,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if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trying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find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cheapest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solution,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reasonable</a:t>
            </a:r>
            <a:endParaRPr sz="2200" dirty="0">
              <a:latin typeface="Calibri"/>
              <a:cs typeface="Calibri"/>
            </a:endParaRPr>
          </a:p>
          <a:p>
            <a:pPr marL="355600">
              <a:lnSpc>
                <a:spcPts val="2375"/>
              </a:lnSpc>
            </a:pPr>
            <a:r>
              <a:rPr sz="2200" dirty="0">
                <a:latin typeface="Calibri"/>
                <a:cs typeface="Calibri"/>
              </a:rPr>
              <a:t>thing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first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node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lowest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value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g(n)</a:t>
            </a:r>
            <a:r>
              <a:rPr sz="2200" i="1" spc="-4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+</a:t>
            </a:r>
            <a:r>
              <a:rPr sz="2200" i="1" spc="-40" dirty="0">
                <a:latin typeface="Calibri"/>
                <a:cs typeface="Calibri"/>
              </a:rPr>
              <a:t> </a:t>
            </a:r>
            <a:r>
              <a:rPr sz="2200" i="1" spc="-20" dirty="0">
                <a:latin typeface="Calibri"/>
                <a:cs typeface="Calibri"/>
              </a:rPr>
              <a:t>h(n)</a:t>
            </a:r>
            <a:endParaRPr sz="2200" dirty="0">
              <a:latin typeface="Calibri"/>
              <a:cs typeface="Calibri"/>
            </a:endParaRPr>
          </a:p>
          <a:p>
            <a:pPr marL="355600" marR="5080" indent="-342900">
              <a:lnSpc>
                <a:spcPct val="8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It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turns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strategy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more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just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reasonable;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provided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heuristic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function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h(n)</a:t>
            </a:r>
            <a:r>
              <a:rPr sz="2200" i="1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satisfies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certain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conditions,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A* </a:t>
            </a:r>
            <a:r>
              <a:rPr sz="2200" dirty="0">
                <a:latin typeface="Calibri"/>
                <a:cs typeface="Calibri"/>
              </a:rPr>
              <a:t>search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both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complete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optimal</a:t>
            </a:r>
            <a:endParaRPr sz="2200" dirty="0">
              <a:latin typeface="Calibri"/>
              <a:cs typeface="Calibri"/>
            </a:endParaRPr>
          </a:p>
          <a:p>
            <a:pPr marL="354965" indent="-342265">
              <a:lnSpc>
                <a:spcPts val="2375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algorithm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identical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UCS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except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A*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using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g+h</a:t>
            </a:r>
            <a:r>
              <a:rPr sz="2200" i="1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instead</a:t>
            </a:r>
            <a:endParaRPr sz="2200" dirty="0">
              <a:latin typeface="Calibri"/>
              <a:cs typeface="Calibri"/>
            </a:endParaRPr>
          </a:p>
          <a:p>
            <a:pPr marL="355600">
              <a:lnSpc>
                <a:spcPts val="2375"/>
              </a:lnSpc>
            </a:pPr>
            <a:r>
              <a:rPr sz="2200" dirty="0">
                <a:latin typeface="Calibri"/>
                <a:cs typeface="Calibri"/>
              </a:rPr>
              <a:t>of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i="1" spc="-50" dirty="0">
                <a:latin typeface="Calibri"/>
                <a:cs typeface="Calibri"/>
              </a:rPr>
              <a:t>g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38100">
                <a:lnSpc>
                  <a:spcPts val="1240"/>
                </a:lnSpc>
              </a:pPr>
              <a:t>10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20602" y="683261"/>
            <a:ext cx="8333198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81075">
              <a:lnSpc>
                <a:spcPct val="100000"/>
              </a:lnSpc>
              <a:spcBef>
                <a:spcPts val="95"/>
              </a:spcBef>
            </a:pPr>
            <a:r>
              <a:rPr dirty="0"/>
              <a:t>A*</a:t>
            </a:r>
            <a:r>
              <a:rPr spc="-85" dirty="0"/>
              <a:t> </a:t>
            </a:r>
            <a:r>
              <a:rPr dirty="0"/>
              <a:t>algorithm</a:t>
            </a:r>
            <a:r>
              <a:rPr spc="-80" dirty="0"/>
              <a:t> </a:t>
            </a:r>
            <a:r>
              <a:rPr spc="-10" dirty="0"/>
              <a:t>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08447" y="1732311"/>
            <a:ext cx="8054975" cy="4690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67665" algn="l"/>
              </a:tabLst>
            </a:pPr>
            <a:r>
              <a:rPr sz="2200" b="1" dirty="0">
                <a:latin typeface="Calibri"/>
                <a:cs typeface="Calibri"/>
              </a:rPr>
              <a:t>Conditions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for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optimality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: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Admissibility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and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consistency</a:t>
            </a:r>
            <a:endParaRPr sz="2200" dirty="0">
              <a:latin typeface="Calibri"/>
              <a:cs typeface="Calibri"/>
            </a:endParaRPr>
          </a:p>
          <a:p>
            <a:pPr marL="766445" marR="964565" lvl="1" indent="-284480">
              <a:lnSpc>
                <a:spcPts val="1920"/>
              </a:lnSpc>
              <a:spcBef>
                <a:spcPts val="470"/>
              </a:spcBef>
              <a:buFont typeface="Arial MT"/>
              <a:buChar char="–"/>
              <a:tabLst>
                <a:tab pos="76898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first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condition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require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optimality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h(n)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 	</a:t>
            </a:r>
            <a:r>
              <a:rPr sz="2000" b="1" i="1" dirty="0">
                <a:latin typeface="Calibri"/>
                <a:cs typeface="Calibri"/>
              </a:rPr>
              <a:t>admissible</a:t>
            </a:r>
            <a:r>
              <a:rPr sz="2000" b="1" i="1" spc="-6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heuristic</a:t>
            </a:r>
            <a:endParaRPr sz="2000" dirty="0">
              <a:latin typeface="Calibri"/>
              <a:cs typeface="Calibri"/>
            </a:endParaRPr>
          </a:p>
          <a:p>
            <a:pPr marL="767080" lvl="1" indent="-284480">
              <a:lnSpc>
                <a:spcPts val="2160"/>
              </a:lnSpc>
              <a:spcBef>
                <a:spcPts val="20"/>
              </a:spcBef>
              <a:buFont typeface="Arial MT"/>
              <a:buChar char="–"/>
              <a:tabLst>
                <a:tab pos="767080" algn="l"/>
              </a:tabLst>
            </a:pPr>
            <a:r>
              <a:rPr sz="2000" dirty="0">
                <a:latin typeface="Calibri"/>
                <a:cs typeface="Calibri"/>
              </a:rPr>
              <a:t>An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admissible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heuristic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never</a:t>
            </a:r>
            <a:r>
              <a:rPr sz="2000" i="1" spc="-6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overestimates</a:t>
            </a:r>
            <a:r>
              <a:rPr sz="2000" i="1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cost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</a:t>
            </a:r>
            <a:endParaRPr sz="2000" dirty="0">
              <a:latin typeface="Calibri"/>
              <a:cs typeface="Calibri"/>
            </a:endParaRPr>
          </a:p>
          <a:p>
            <a:pPr marL="768985">
              <a:lnSpc>
                <a:spcPts val="2160"/>
              </a:lnSpc>
            </a:pPr>
            <a:r>
              <a:rPr sz="2000" dirty="0">
                <a:latin typeface="Calibri"/>
                <a:cs typeface="Calibri"/>
              </a:rPr>
              <a:t>reach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goal</a:t>
            </a:r>
            <a:endParaRPr sz="2000" dirty="0">
              <a:latin typeface="Calibri"/>
              <a:cs typeface="Calibri"/>
            </a:endParaRPr>
          </a:p>
          <a:p>
            <a:pPr marL="766445" marR="125095" lvl="1" indent="-284480">
              <a:lnSpc>
                <a:spcPct val="80000"/>
              </a:lnSpc>
              <a:spcBef>
                <a:spcPts val="480"/>
              </a:spcBef>
              <a:buFont typeface="Arial MT"/>
              <a:buChar char="–"/>
              <a:tabLst>
                <a:tab pos="768985" algn="l"/>
              </a:tabLst>
            </a:pPr>
            <a:r>
              <a:rPr sz="2000" dirty="0">
                <a:latin typeface="Calibri"/>
                <a:cs typeface="Calibri"/>
              </a:rPr>
              <a:t>Because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g(n)</a:t>
            </a:r>
            <a:r>
              <a:rPr sz="2000" i="1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actual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reach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n</a:t>
            </a:r>
            <a:r>
              <a:rPr sz="2000" i="1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along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current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	</a:t>
            </a:r>
            <a:r>
              <a:rPr sz="2000" i="1" spc="-10" dirty="0">
                <a:latin typeface="Calibri"/>
                <a:cs typeface="Calibri"/>
              </a:rPr>
              <a:t>f(n)=g(n)+h(n),</a:t>
            </a:r>
            <a:r>
              <a:rPr sz="2000" i="1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immediate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consequence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f(n)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never 	</a:t>
            </a:r>
            <a:r>
              <a:rPr sz="2000" spc="-20" dirty="0">
                <a:latin typeface="Calibri"/>
                <a:cs typeface="Calibri"/>
              </a:rPr>
              <a:t>overestimates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true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solution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along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current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path 	</a:t>
            </a:r>
            <a:r>
              <a:rPr sz="2000" dirty="0">
                <a:latin typeface="Calibri"/>
                <a:cs typeface="Calibri"/>
              </a:rPr>
              <a:t>through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i="1" spc="-50" dirty="0">
                <a:latin typeface="Calibri"/>
                <a:cs typeface="Calibri"/>
              </a:rPr>
              <a:t>n</a:t>
            </a:r>
            <a:endParaRPr sz="2000" dirty="0">
              <a:latin typeface="Calibri"/>
              <a:cs typeface="Calibri"/>
            </a:endParaRPr>
          </a:p>
          <a:p>
            <a:pPr marL="767080" lvl="1" indent="-284480">
              <a:lnSpc>
                <a:spcPts val="2160"/>
              </a:lnSpc>
              <a:buFont typeface="Arial MT"/>
              <a:buChar char="–"/>
              <a:tabLst>
                <a:tab pos="767080" algn="l"/>
              </a:tabLst>
            </a:pPr>
            <a:r>
              <a:rPr sz="2000" dirty="0">
                <a:latin typeface="Calibri"/>
                <a:cs typeface="Calibri"/>
              </a:rPr>
              <a:t>Admissible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heuristics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nature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optimistic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because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think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</a:t>
            </a:r>
            <a:endParaRPr sz="2000" dirty="0">
              <a:latin typeface="Calibri"/>
              <a:cs typeface="Calibri"/>
            </a:endParaRPr>
          </a:p>
          <a:p>
            <a:pPr marL="768985">
              <a:lnSpc>
                <a:spcPts val="2160"/>
              </a:lnSpc>
            </a:pPr>
            <a:r>
              <a:rPr sz="2000" dirty="0">
                <a:latin typeface="Calibri"/>
                <a:cs typeface="Calibri"/>
              </a:rPr>
              <a:t>cost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solving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problem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actually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is</a:t>
            </a:r>
            <a:endParaRPr sz="2000" dirty="0">
              <a:latin typeface="Calibri"/>
              <a:cs typeface="Calibri"/>
            </a:endParaRPr>
          </a:p>
          <a:p>
            <a:pPr marL="766445" marR="608965" lvl="1" indent="-284480">
              <a:lnSpc>
                <a:spcPct val="80000"/>
              </a:lnSpc>
              <a:spcBef>
                <a:spcPts val="484"/>
              </a:spcBef>
              <a:buFont typeface="Arial MT"/>
              <a:buChar char="–"/>
              <a:tabLst>
                <a:tab pos="768985" algn="l"/>
              </a:tabLst>
            </a:pPr>
            <a:r>
              <a:rPr sz="2000" dirty="0">
                <a:latin typeface="Calibri"/>
                <a:cs typeface="Calibri"/>
              </a:rPr>
              <a:t>An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obvious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example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admissible</a:t>
            </a:r>
            <a:r>
              <a:rPr sz="2000" spc="-10" dirty="0">
                <a:latin typeface="Calibri"/>
                <a:cs typeface="Calibri"/>
              </a:rPr>
              <a:t> heuristic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straight-line 	</a:t>
            </a:r>
            <a:r>
              <a:rPr sz="2000" spc="-10" dirty="0">
                <a:latin typeface="Calibri"/>
                <a:cs typeface="Calibri"/>
              </a:rPr>
              <a:t>distance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mbria Math"/>
                <a:cs typeface="Cambria Math"/>
              </a:rPr>
              <a:t>ℎ</a:t>
            </a:r>
            <a:r>
              <a:rPr sz="2175" baseline="-15325" dirty="0">
                <a:latin typeface="Cambria Math"/>
                <a:cs typeface="Cambria Math"/>
              </a:rPr>
              <a:t>𝑆𝐿𝐷</a:t>
            </a:r>
            <a:r>
              <a:rPr sz="2175" spc="345" baseline="-153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getting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Bucharest</a:t>
            </a:r>
            <a:endParaRPr sz="2000" dirty="0">
              <a:latin typeface="Calibri"/>
              <a:cs typeface="Calibri"/>
            </a:endParaRPr>
          </a:p>
          <a:p>
            <a:pPr marL="766445" marR="17780" lvl="1" indent="-284480">
              <a:lnSpc>
                <a:spcPts val="1920"/>
              </a:lnSpc>
              <a:spcBef>
                <a:spcPts val="459"/>
              </a:spcBef>
              <a:buFont typeface="Arial MT"/>
              <a:buChar char="–"/>
              <a:tabLst>
                <a:tab pos="768985" algn="l"/>
              </a:tabLst>
            </a:pPr>
            <a:r>
              <a:rPr sz="2000" spc="-20" dirty="0">
                <a:latin typeface="Calibri"/>
                <a:cs typeface="Calibri"/>
              </a:rPr>
              <a:t>Straight-</a:t>
            </a:r>
            <a:r>
              <a:rPr sz="2000" dirty="0">
                <a:latin typeface="Calibri"/>
                <a:cs typeface="Calibri"/>
              </a:rPr>
              <a:t>line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distance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admissible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because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shortest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between 	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two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straight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line,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</a:t>
            </a:r>
            <a:r>
              <a:rPr sz="2000" spc="4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3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straight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cannot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25" dirty="0">
                <a:latin typeface="Calibri"/>
                <a:cs typeface="Calibri"/>
              </a:rPr>
              <a:t> an 	</a:t>
            </a:r>
            <a:r>
              <a:rPr sz="2000" spc="-10" dirty="0">
                <a:latin typeface="Calibri"/>
                <a:cs typeface="Calibri"/>
              </a:rPr>
              <a:t>overestimate</a:t>
            </a:r>
            <a:endParaRPr sz="2000" dirty="0">
              <a:latin typeface="Calibri"/>
              <a:cs typeface="Calibri"/>
            </a:endParaRPr>
          </a:p>
          <a:p>
            <a:pPr marL="767080" lvl="1" indent="-284480">
              <a:lnSpc>
                <a:spcPct val="100000"/>
              </a:lnSpc>
              <a:spcBef>
                <a:spcPts val="20"/>
              </a:spcBef>
              <a:buFont typeface="Arial MT"/>
              <a:buChar char="–"/>
              <a:tabLst>
                <a:tab pos="767080" algn="l"/>
              </a:tabLst>
            </a:pPr>
            <a:r>
              <a:rPr sz="2000" dirty="0">
                <a:latin typeface="Calibri"/>
                <a:cs typeface="Calibri"/>
              </a:rPr>
              <a:t>Fig.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4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shows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progress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A*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Bucharest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94570" y="683261"/>
            <a:ext cx="8559229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81075">
              <a:lnSpc>
                <a:spcPct val="100000"/>
              </a:lnSpc>
              <a:spcBef>
                <a:spcPts val="95"/>
              </a:spcBef>
            </a:pPr>
            <a:r>
              <a:rPr dirty="0"/>
              <a:t>A*</a:t>
            </a:r>
            <a:r>
              <a:rPr spc="-85" dirty="0"/>
              <a:t> </a:t>
            </a:r>
            <a:r>
              <a:rPr dirty="0"/>
              <a:t>algorithm</a:t>
            </a:r>
            <a:r>
              <a:rPr spc="-80" dirty="0"/>
              <a:t> </a:t>
            </a:r>
            <a:r>
              <a:rPr spc="-10" dirty="0"/>
              <a:t>(contd.)</a:t>
            </a:r>
          </a:p>
        </p:txBody>
      </p:sp>
      <p:sp>
        <p:nvSpPr>
          <p:cNvPr id="3" name="object 3"/>
          <p:cNvSpPr/>
          <p:nvPr/>
        </p:nvSpPr>
        <p:spPr>
          <a:xfrm>
            <a:off x="2904998" y="4147820"/>
            <a:ext cx="285115" cy="212090"/>
          </a:xfrm>
          <a:custGeom>
            <a:avLst/>
            <a:gdLst/>
            <a:ahLst/>
            <a:cxnLst/>
            <a:rect l="l" t="t" r="r" b="b"/>
            <a:pathLst>
              <a:path w="285114" h="212089">
                <a:moveTo>
                  <a:pt x="217296" y="0"/>
                </a:moveTo>
                <a:lnTo>
                  <a:pt x="214248" y="8635"/>
                </a:lnTo>
                <a:lnTo>
                  <a:pt x="226534" y="13946"/>
                </a:lnTo>
                <a:lnTo>
                  <a:pt x="237093" y="21304"/>
                </a:lnTo>
                <a:lnTo>
                  <a:pt x="258484" y="55431"/>
                </a:lnTo>
                <a:lnTo>
                  <a:pt x="265556" y="104901"/>
                </a:lnTo>
                <a:lnTo>
                  <a:pt x="264771" y="123570"/>
                </a:lnTo>
                <a:lnTo>
                  <a:pt x="252983" y="169290"/>
                </a:lnTo>
                <a:lnTo>
                  <a:pt x="226677" y="197865"/>
                </a:lnTo>
                <a:lnTo>
                  <a:pt x="214629" y="203199"/>
                </a:lnTo>
                <a:lnTo>
                  <a:pt x="217296" y="211835"/>
                </a:lnTo>
                <a:lnTo>
                  <a:pt x="257766" y="187707"/>
                </a:lnTo>
                <a:lnTo>
                  <a:pt x="280495" y="143335"/>
                </a:lnTo>
                <a:lnTo>
                  <a:pt x="284860" y="105917"/>
                </a:lnTo>
                <a:lnTo>
                  <a:pt x="283779" y="86776"/>
                </a:lnTo>
                <a:lnTo>
                  <a:pt x="283765" y="86536"/>
                </a:lnTo>
                <a:lnTo>
                  <a:pt x="267334" y="37083"/>
                </a:lnTo>
                <a:lnTo>
                  <a:pt x="232652" y="5544"/>
                </a:lnTo>
                <a:lnTo>
                  <a:pt x="217296" y="0"/>
                </a:lnTo>
                <a:close/>
              </a:path>
              <a:path w="285114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7"/>
                </a:lnTo>
                <a:lnTo>
                  <a:pt x="9804" y="159799"/>
                </a:lnTo>
                <a:lnTo>
                  <a:pt x="38671" y="198199"/>
                </a:lnTo>
                <a:lnTo>
                  <a:pt x="67563" y="211835"/>
                </a:lnTo>
                <a:lnTo>
                  <a:pt x="70230" y="203199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7"/>
                </a:lnTo>
                <a:lnTo>
                  <a:pt x="19303" y="104901"/>
                </a:lnTo>
                <a:lnTo>
                  <a:pt x="20089" y="86776"/>
                </a:lnTo>
                <a:lnTo>
                  <a:pt x="31876" y="42163"/>
                </a:lnTo>
                <a:lnTo>
                  <a:pt x="58398" y="13946"/>
                </a:lnTo>
                <a:lnTo>
                  <a:pt x="70611" y="8635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41090" y="4147820"/>
            <a:ext cx="792480" cy="212090"/>
          </a:xfrm>
          <a:custGeom>
            <a:avLst/>
            <a:gdLst/>
            <a:ahLst/>
            <a:cxnLst/>
            <a:rect l="l" t="t" r="r" b="b"/>
            <a:pathLst>
              <a:path w="792479" h="212089">
                <a:moveTo>
                  <a:pt x="724788" y="0"/>
                </a:moveTo>
                <a:lnTo>
                  <a:pt x="721740" y="8635"/>
                </a:lnTo>
                <a:lnTo>
                  <a:pt x="734026" y="13946"/>
                </a:lnTo>
                <a:lnTo>
                  <a:pt x="744585" y="21304"/>
                </a:lnTo>
                <a:lnTo>
                  <a:pt x="765976" y="55431"/>
                </a:lnTo>
                <a:lnTo>
                  <a:pt x="773048" y="104901"/>
                </a:lnTo>
                <a:lnTo>
                  <a:pt x="772263" y="123570"/>
                </a:lnTo>
                <a:lnTo>
                  <a:pt x="760476" y="169290"/>
                </a:lnTo>
                <a:lnTo>
                  <a:pt x="734169" y="197865"/>
                </a:lnTo>
                <a:lnTo>
                  <a:pt x="722121" y="203199"/>
                </a:lnTo>
                <a:lnTo>
                  <a:pt x="724788" y="211835"/>
                </a:lnTo>
                <a:lnTo>
                  <a:pt x="765258" y="187707"/>
                </a:lnTo>
                <a:lnTo>
                  <a:pt x="787987" y="143335"/>
                </a:lnTo>
                <a:lnTo>
                  <a:pt x="792352" y="105917"/>
                </a:lnTo>
                <a:lnTo>
                  <a:pt x="791271" y="86776"/>
                </a:lnTo>
                <a:lnTo>
                  <a:pt x="791257" y="86536"/>
                </a:lnTo>
                <a:lnTo>
                  <a:pt x="774826" y="37083"/>
                </a:lnTo>
                <a:lnTo>
                  <a:pt x="740144" y="5544"/>
                </a:lnTo>
                <a:lnTo>
                  <a:pt x="724788" y="0"/>
                </a:lnTo>
                <a:close/>
              </a:path>
              <a:path w="792479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1"/>
                </a:lnTo>
                <a:lnTo>
                  <a:pt x="0" y="105917"/>
                </a:lnTo>
                <a:lnTo>
                  <a:pt x="992" y="123570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3" y="211835"/>
                </a:lnTo>
                <a:lnTo>
                  <a:pt x="70230" y="203199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7"/>
                </a:lnTo>
                <a:lnTo>
                  <a:pt x="19303" y="104901"/>
                </a:lnTo>
                <a:lnTo>
                  <a:pt x="20089" y="86776"/>
                </a:lnTo>
                <a:lnTo>
                  <a:pt x="31876" y="42163"/>
                </a:lnTo>
                <a:lnTo>
                  <a:pt x="58398" y="13946"/>
                </a:lnTo>
                <a:lnTo>
                  <a:pt x="70611" y="8635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15185" y="1452961"/>
            <a:ext cx="7961630" cy="4909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indent="-342265">
              <a:lnSpc>
                <a:spcPts val="1945"/>
              </a:lnSpc>
              <a:spcBef>
                <a:spcPts val="100"/>
              </a:spcBef>
              <a:buFont typeface="Arial MT"/>
              <a:buChar char="•"/>
              <a:tabLst>
                <a:tab pos="36766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values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g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computed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step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costs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Fig.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values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ℎ</a:t>
            </a:r>
            <a:r>
              <a:rPr sz="1950" spc="-30" baseline="-14957" dirty="0">
                <a:latin typeface="Cambria Math"/>
                <a:cs typeface="Cambria Math"/>
              </a:rPr>
              <a:t>𝑆𝐿𝐷</a:t>
            </a:r>
            <a:endParaRPr sz="1950" baseline="-14957" dirty="0">
              <a:latin typeface="Cambria Math"/>
              <a:cs typeface="Cambria Math"/>
            </a:endParaRPr>
          </a:p>
          <a:p>
            <a:pPr marL="368300">
              <a:lnSpc>
                <a:spcPts val="1945"/>
              </a:lnSpc>
            </a:pPr>
            <a:r>
              <a:rPr sz="1800" dirty="0">
                <a:latin typeface="Calibri"/>
                <a:cs typeface="Calibri"/>
              </a:rPr>
              <a:t>are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given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Fig.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2</a:t>
            </a:r>
            <a:endParaRPr sz="1800" dirty="0">
              <a:latin typeface="Calibri"/>
              <a:cs typeface="Calibri"/>
            </a:endParaRPr>
          </a:p>
          <a:p>
            <a:pPr marL="368300" marR="34290" indent="-342900">
              <a:lnSpc>
                <a:spcPct val="80000"/>
              </a:lnSpc>
              <a:spcBef>
                <a:spcPts val="434"/>
              </a:spcBef>
              <a:buFont typeface="Arial MT"/>
              <a:buChar char="•"/>
              <a:tabLst>
                <a:tab pos="368300" algn="l"/>
              </a:tabLst>
            </a:pPr>
            <a:r>
              <a:rPr sz="1800" dirty="0">
                <a:latin typeface="Calibri"/>
                <a:cs typeface="Calibri"/>
              </a:rPr>
              <a:t>Notice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particular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Bucharest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appears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frontier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step(e),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3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selected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expansion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because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f-</a:t>
            </a:r>
            <a:r>
              <a:rPr sz="1800" i="1" dirty="0">
                <a:latin typeface="Calibri"/>
                <a:cs typeface="Calibri"/>
              </a:rPr>
              <a:t>cost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(450)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higher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Pitesti (417)</a:t>
            </a:r>
            <a:endParaRPr sz="1800" dirty="0">
              <a:latin typeface="Calibri"/>
              <a:cs typeface="Calibri"/>
            </a:endParaRPr>
          </a:p>
          <a:p>
            <a:pPr marL="368300" marR="139700" indent="-342900">
              <a:lnSpc>
                <a:spcPts val="1730"/>
              </a:lnSpc>
              <a:spcBef>
                <a:spcPts val="415"/>
              </a:spcBef>
              <a:buFont typeface="Arial MT"/>
              <a:buChar char="•"/>
              <a:tabLst>
                <a:tab pos="368300" algn="l"/>
              </a:tabLst>
            </a:pPr>
            <a:r>
              <a:rPr sz="1800" dirty="0">
                <a:latin typeface="Calibri"/>
                <a:cs typeface="Calibri"/>
              </a:rPr>
              <a:t>Another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might</a:t>
            </a:r>
            <a:r>
              <a:rPr sz="1800" i="1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solution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through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Pitesti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whose </a:t>
            </a:r>
            <a:r>
              <a:rPr sz="1800" dirty="0">
                <a:latin typeface="Calibri"/>
                <a:cs typeface="Calibri"/>
              </a:rPr>
              <a:t>cost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low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417,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algorithm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settle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solution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costs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450</a:t>
            </a:r>
            <a:endParaRPr sz="1800" dirty="0">
              <a:latin typeface="Calibri"/>
              <a:cs typeface="Calibri"/>
            </a:endParaRPr>
          </a:p>
          <a:p>
            <a:pPr marL="368300" marR="889635" indent="-342900">
              <a:lnSpc>
                <a:spcPct val="80000"/>
              </a:lnSpc>
              <a:spcBef>
                <a:spcPts val="445"/>
              </a:spcBef>
              <a:buFont typeface="Arial MT"/>
              <a:buChar char="•"/>
              <a:tabLst>
                <a:tab pos="368300" algn="l"/>
              </a:tabLst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second,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slightly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stronger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condition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called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consistency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sometimes </a:t>
            </a:r>
            <a:r>
              <a:rPr sz="1800" b="1" dirty="0">
                <a:latin typeface="Calibri"/>
                <a:cs typeface="Calibri"/>
              </a:rPr>
              <a:t>monotonicity</a:t>
            </a:r>
            <a:r>
              <a:rPr sz="1800" dirty="0">
                <a:latin typeface="Calibri"/>
                <a:cs typeface="Calibri"/>
              </a:rPr>
              <a:t>)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required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only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applications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A*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graph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search</a:t>
            </a:r>
            <a:endParaRPr sz="1800" dirty="0">
              <a:latin typeface="Calibri"/>
              <a:cs typeface="Calibri"/>
            </a:endParaRPr>
          </a:p>
          <a:p>
            <a:pPr marL="368300" marR="105410" indent="-342900">
              <a:lnSpc>
                <a:spcPct val="80000"/>
              </a:lnSpc>
              <a:spcBef>
                <a:spcPts val="430"/>
              </a:spcBef>
              <a:buFont typeface="Arial MT"/>
              <a:buChar char="•"/>
              <a:tabLst>
                <a:tab pos="368300" algn="l"/>
              </a:tabLst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heuristic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h(n)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consistent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if,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every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n</a:t>
            </a:r>
            <a:r>
              <a:rPr sz="1800" i="1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every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successor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n’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i="1" spc="-50" dirty="0">
                <a:latin typeface="Calibri"/>
                <a:cs typeface="Calibri"/>
              </a:rPr>
              <a:t>n </a:t>
            </a:r>
            <a:r>
              <a:rPr sz="1800" spc="-10" dirty="0">
                <a:latin typeface="Calibri"/>
                <a:cs typeface="Calibri"/>
              </a:rPr>
              <a:t>generated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action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a,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estimated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cost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reaching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n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no </a:t>
            </a:r>
            <a:r>
              <a:rPr sz="1800" spc="-10" dirty="0">
                <a:latin typeface="Calibri"/>
                <a:cs typeface="Calibri"/>
              </a:rPr>
              <a:t>greater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step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getting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n’</a:t>
            </a:r>
            <a:r>
              <a:rPr sz="1800" i="1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plus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estimated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cost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reaching</a:t>
            </a:r>
            <a:r>
              <a:rPr sz="1800" spc="-25" dirty="0">
                <a:latin typeface="Calibri"/>
                <a:cs typeface="Calibri"/>
              </a:rPr>
              <a:t> the </a:t>
            </a:r>
            <a:r>
              <a:rPr sz="1800" dirty="0">
                <a:latin typeface="Calibri"/>
                <a:cs typeface="Calibri"/>
              </a:rPr>
              <a:t>goal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n’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spc="-50" dirty="0"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 marL="706120">
              <a:lnSpc>
                <a:spcPct val="100000"/>
              </a:lnSpc>
              <a:tabLst>
                <a:tab pos="1226185" algn="l"/>
                <a:tab pos="2457450" algn="l"/>
              </a:tabLst>
            </a:pPr>
            <a:r>
              <a:rPr sz="1800" dirty="0">
                <a:latin typeface="Cambria Math"/>
                <a:cs typeface="Cambria Math"/>
              </a:rPr>
              <a:t>ℎ</a:t>
            </a:r>
            <a:r>
              <a:rPr sz="1800" spc="37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𝑛</a:t>
            </a:r>
            <a:r>
              <a:rPr sz="1800" dirty="0">
                <a:latin typeface="Cambria Math"/>
                <a:cs typeface="Cambria Math"/>
              </a:rPr>
              <a:t>	≤</a:t>
            </a:r>
            <a:r>
              <a:rPr sz="1800" spc="1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𝑐</a:t>
            </a:r>
            <a:r>
              <a:rPr sz="1800" spc="4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𝑛,</a:t>
            </a:r>
            <a:r>
              <a:rPr sz="1800" spc="-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𝑎,</a:t>
            </a:r>
            <a:r>
              <a:rPr sz="1800" spc="-90" dirty="0">
                <a:latin typeface="Cambria Math"/>
                <a:cs typeface="Cambria Math"/>
              </a:rPr>
              <a:t> </a:t>
            </a:r>
            <a:r>
              <a:rPr sz="1800" spc="40" dirty="0">
                <a:latin typeface="Cambria Math"/>
                <a:cs typeface="Cambria Math"/>
              </a:rPr>
              <a:t>𝑛</a:t>
            </a:r>
            <a:r>
              <a:rPr sz="1950" spc="60" baseline="27777" dirty="0">
                <a:latin typeface="Cambria Math"/>
                <a:cs typeface="Cambria Math"/>
              </a:rPr>
              <a:t>′</a:t>
            </a:r>
            <a:r>
              <a:rPr sz="1950" baseline="27777" dirty="0">
                <a:latin typeface="Cambria Math"/>
                <a:cs typeface="Cambria Math"/>
              </a:rPr>
              <a:t>	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-10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ℎ(𝑛</a:t>
            </a:r>
            <a:r>
              <a:rPr sz="1950" spc="-30" baseline="27777" dirty="0">
                <a:latin typeface="Cambria Math"/>
                <a:cs typeface="Cambria Math"/>
              </a:rPr>
              <a:t>′</a:t>
            </a:r>
            <a:r>
              <a:rPr sz="1800" spc="-20" dirty="0">
                <a:latin typeface="Cambria Math"/>
                <a:cs typeface="Cambria Math"/>
              </a:rPr>
              <a:t>)</a:t>
            </a:r>
            <a:endParaRPr sz="1800" dirty="0">
              <a:latin typeface="Cambria Math"/>
              <a:cs typeface="Cambria Math"/>
            </a:endParaRPr>
          </a:p>
          <a:p>
            <a:pPr marL="368300" marR="17780" indent="-342900">
              <a:lnSpc>
                <a:spcPct val="80000"/>
              </a:lnSpc>
              <a:spcBef>
                <a:spcPts val="434"/>
              </a:spcBef>
              <a:buFont typeface="Arial MT"/>
              <a:buChar char="•"/>
              <a:tabLst>
                <a:tab pos="368300" algn="l"/>
              </a:tabLst>
            </a:pPr>
            <a:r>
              <a:rPr sz="1800" dirty="0">
                <a:latin typeface="Calibri"/>
                <a:cs typeface="Calibri"/>
              </a:rPr>
              <a:t>This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form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general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triangle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inequality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10" dirty="0">
                <a:latin typeface="Calibri"/>
                <a:cs typeface="Calibri"/>
              </a:rPr>
              <a:t> stipulates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triangle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cannot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longer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other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two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sides</a:t>
            </a:r>
            <a:endParaRPr sz="1800" dirty="0">
              <a:latin typeface="Calibri"/>
              <a:cs typeface="Calibri"/>
            </a:endParaRPr>
          </a:p>
          <a:p>
            <a:pPr marL="367665" indent="-342265">
              <a:lnSpc>
                <a:spcPct val="100000"/>
              </a:lnSpc>
              <a:buFont typeface="Arial MT"/>
              <a:buChar char="•"/>
              <a:tabLst>
                <a:tab pos="367665" algn="l"/>
              </a:tabLst>
            </a:pPr>
            <a:r>
              <a:rPr sz="1800" dirty="0">
                <a:latin typeface="Calibri"/>
                <a:cs typeface="Calibri"/>
              </a:rPr>
              <a:t>Here,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triangle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formed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n,n’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goal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𝐺</a:t>
            </a:r>
            <a:r>
              <a:rPr sz="1950" baseline="-14957" dirty="0">
                <a:latin typeface="Cambria Math"/>
                <a:cs typeface="Cambria Math"/>
              </a:rPr>
              <a:t>𝑛</a:t>
            </a:r>
            <a:r>
              <a:rPr sz="1950" spc="284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libri"/>
                <a:cs typeface="Calibri"/>
              </a:rPr>
              <a:t>closest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i="1" spc="-50" dirty="0">
                <a:latin typeface="Calibri"/>
                <a:cs typeface="Calibri"/>
              </a:rPr>
              <a:t>n</a:t>
            </a:r>
            <a:endParaRPr sz="1800" dirty="0">
              <a:latin typeface="Calibri"/>
              <a:cs typeface="Calibri"/>
            </a:endParaRPr>
          </a:p>
          <a:p>
            <a:pPr marL="368300" marR="308610" indent="-342900">
              <a:lnSpc>
                <a:spcPts val="1730"/>
              </a:lnSpc>
              <a:spcBef>
                <a:spcPts val="415"/>
              </a:spcBef>
              <a:buFont typeface="Arial MT"/>
              <a:buChar char="•"/>
              <a:tabLst>
                <a:tab pos="368300" algn="l"/>
              </a:tabLst>
            </a:pPr>
            <a:r>
              <a:rPr sz="1800" dirty="0">
                <a:latin typeface="Calibri"/>
                <a:cs typeface="Calibri"/>
              </a:rPr>
              <a:t>For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admissible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heuristic,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inequality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makes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perfect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sense;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if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a </a:t>
            </a:r>
            <a:r>
              <a:rPr sz="1800" dirty="0">
                <a:latin typeface="Calibri"/>
                <a:cs typeface="Calibri"/>
              </a:rPr>
              <a:t>route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n</a:t>
            </a:r>
            <a:r>
              <a:rPr sz="1800" i="1" spc="-4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to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𝐺</a:t>
            </a:r>
            <a:r>
              <a:rPr sz="1950" baseline="-14957" dirty="0">
                <a:latin typeface="Cambria Math"/>
                <a:cs typeface="Cambria Math"/>
              </a:rPr>
              <a:t>𝑛</a:t>
            </a:r>
            <a:r>
              <a:rPr sz="1950" spc="24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libri"/>
                <a:cs typeface="Calibri"/>
              </a:rPr>
              <a:t>via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n’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cheaper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h(n),</a:t>
            </a:r>
            <a:r>
              <a:rPr sz="1800" i="1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would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violate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property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h(n)</a:t>
            </a:r>
            <a:r>
              <a:rPr sz="1800" i="1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lower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bound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cost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reach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𝐺</a:t>
            </a:r>
            <a:r>
              <a:rPr sz="1950" spc="-37" baseline="-14957" dirty="0">
                <a:latin typeface="Cambria Math"/>
                <a:cs typeface="Cambria Math"/>
              </a:rPr>
              <a:t>𝑛</a:t>
            </a:r>
            <a:endParaRPr sz="1950" baseline="-14957" dirty="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38100">
                <a:lnSpc>
                  <a:spcPts val="1240"/>
                </a:lnSpc>
              </a:pPr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38100">
                <a:lnSpc>
                  <a:spcPts val="1240"/>
                </a:lnSpc>
              </a:pPr>
              <a:t>12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89780" y="683261"/>
            <a:ext cx="836402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81075">
              <a:lnSpc>
                <a:spcPct val="100000"/>
              </a:lnSpc>
              <a:spcBef>
                <a:spcPts val="95"/>
              </a:spcBef>
            </a:pPr>
            <a:r>
              <a:rPr dirty="0"/>
              <a:t>A*</a:t>
            </a:r>
            <a:r>
              <a:rPr spc="-85" dirty="0"/>
              <a:t> </a:t>
            </a:r>
            <a:r>
              <a:rPr dirty="0"/>
              <a:t>algorithm</a:t>
            </a:r>
            <a:r>
              <a:rPr spc="-80" dirty="0"/>
              <a:t> </a:t>
            </a:r>
            <a:r>
              <a:rPr spc="-10" dirty="0"/>
              <a:t>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5301" y="1588770"/>
            <a:ext cx="8061959" cy="490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67665" algn="l"/>
              </a:tabLst>
            </a:pPr>
            <a:r>
              <a:rPr sz="2000" dirty="0">
                <a:latin typeface="Calibri"/>
                <a:cs typeface="Calibri"/>
              </a:rPr>
              <a:t>Every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consistent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heuristic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also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admissible</a:t>
            </a:r>
            <a:endParaRPr sz="2000" dirty="0">
              <a:latin typeface="Calibri"/>
              <a:cs typeface="Calibri"/>
            </a:endParaRPr>
          </a:p>
          <a:p>
            <a:pPr marL="368300" marR="105410" indent="-342900">
              <a:lnSpc>
                <a:spcPct val="80000"/>
              </a:lnSpc>
              <a:spcBef>
                <a:spcPts val="480"/>
              </a:spcBef>
              <a:buFont typeface="Arial MT"/>
              <a:buChar char="•"/>
              <a:tabLst>
                <a:tab pos="368300" algn="l"/>
              </a:tabLst>
            </a:pPr>
            <a:r>
              <a:rPr sz="2000" spc="-10" dirty="0">
                <a:latin typeface="Calibri"/>
                <a:cs typeface="Calibri"/>
              </a:rPr>
              <a:t>Consistency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therefore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stricter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requirement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admissibility,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one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work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quite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hard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concoct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heuristics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admissible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not </a:t>
            </a:r>
            <a:r>
              <a:rPr sz="2000" spc="-10" dirty="0">
                <a:latin typeface="Calibri"/>
                <a:cs typeface="Calibri"/>
              </a:rPr>
              <a:t>consistent</a:t>
            </a:r>
            <a:endParaRPr sz="2000" dirty="0">
              <a:latin typeface="Calibri"/>
              <a:cs typeface="Calibri"/>
            </a:endParaRPr>
          </a:p>
          <a:p>
            <a:pPr marL="368300" marR="143510" indent="-342900">
              <a:lnSpc>
                <a:spcPct val="80000"/>
              </a:lnSpc>
              <a:spcBef>
                <a:spcPts val="480"/>
              </a:spcBef>
              <a:buFont typeface="Arial MT"/>
              <a:buChar char="•"/>
              <a:tabLst>
                <a:tab pos="368300" algn="l"/>
              </a:tabLst>
            </a:pPr>
            <a:r>
              <a:rPr sz="2000" dirty="0">
                <a:latin typeface="Calibri"/>
                <a:cs typeface="Calibri"/>
              </a:rPr>
              <a:t>E.g.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mbria Math"/>
                <a:cs typeface="Cambria Math"/>
              </a:rPr>
              <a:t>ℎ</a:t>
            </a:r>
            <a:r>
              <a:rPr sz="2175" baseline="-15325" dirty="0">
                <a:latin typeface="Cambria Math"/>
                <a:cs typeface="Cambria Math"/>
              </a:rPr>
              <a:t>𝑆𝐿𝐷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general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triangle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inequality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satisfied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is </a:t>
            </a:r>
            <a:r>
              <a:rPr sz="2000" dirty="0">
                <a:latin typeface="Calibri"/>
                <a:cs typeface="Calibri"/>
              </a:rPr>
              <a:t>measured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straight-</a:t>
            </a:r>
            <a:r>
              <a:rPr sz="2000" dirty="0">
                <a:latin typeface="Calibri"/>
                <a:cs typeface="Calibri"/>
              </a:rPr>
              <a:t>line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distance,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straight-</a:t>
            </a:r>
            <a:r>
              <a:rPr sz="2000" dirty="0">
                <a:latin typeface="Calibri"/>
                <a:cs typeface="Calibri"/>
              </a:rPr>
              <a:t>line </a:t>
            </a:r>
            <a:r>
              <a:rPr sz="2000" spc="-10" dirty="0">
                <a:latin typeface="Calibri"/>
                <a:cs typeface="Calibri"/>
              </a:rPr>
              <a:t>distance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n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n’</a:t>
            </a:r>
            <a:r>
              <a:rPr sz="2000" i="1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greater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c(n,a,n’)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making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consistent heuristic</a:t>
            </a:r>
            <a:endParaRPr sz="2000" dirty="0">
              <a:latin typeface="Calibri"/>
              <a:cs typeface="Calibri"/>
            </a:endParaRPr>
          </a:p>
          <a:p>
            <a:pPr marL="368300" marR="387350" indent="-342900">
              <a:lnSpc>
                <a:spcPct val="80000"/>
              </a:lnSpc>
              <a:spcBef>
                <a:spcPts val="480"/>
              </a:spcBef>
              <a:buFont typeface="Arial MT"/>
              <a:buChar char="•"/>
              <a:tabLst>
                <a:tab pos="368300" algn="l"/>
              </a:tabLst>
            </a:pPr>
            <a:r>
              <a:rPr sz="2000" dirty="0">
                <a:latin typeface="Calibri"/>
                <a:cs typeface="Calibri"/>
              </a:rPr>
              <a:t>For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A*,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the</a:t>
            </a:r>
            <a:r>
              <a:rPr sz="2000" i="1" spc="-1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tree-</a:t>
            </a:r>
            <a:r>
              <a:rPr sz="2000" i="1" dirty="0">
                <a:latin typeface="Calibri"/>
                <a:cs typeface="Calibri"/>
              </a:rPr>
              <a:t>search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version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is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optimal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if</a:t>
            </a:r>
            <a:r>
              <a:rPr sz="2000" i="1" spc="-1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h(n)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is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admissible,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while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i="1" spc="-25" dirty="0">
                <a:latin typeface="Calibri"/>
                <a:cs typeface="Calibri"/>
              </a:rPr>
              <a:t>the </a:t>
            </a:r>
            <a:r>
              <a:rPr sz="2000" i="1" spc="-10" dirty="0">
                <a:latin typeface="Calibri"/>
                <a:cs typeface="Calibri"/>
              </a:rPr>
              <a:t>graph-</a:t>
            </a:r>
            <a:r>
              <a:rPr sz="2000" i="1" dirty="0">
                <a:latin typeface="Calibri"/>
                <a:cs typeface="Calibri"/>
              </a:rPr>
              <a:t>search</a:t>
            </a:r>
            <a:r>
              <a:rPr sz="2000" i="1" spc="-5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version</a:t>
            </a:r>
            <a:r>
              <a:rPr sz="2000" i="1" spc="-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is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optimal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if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h(n)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is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consistent</a:t>
            </a:r>
            <a:endParaRPr sz="2000" dirty="0">
              <a:latin typeface="Calibri"/>
              <a:cs typeface="Calibri"/>
            </a:endParaRPr>
          </a:p>
          <a:p>
            <a:pPr marL="367665" indent="-342265">
              <a:lnSpc>
                <a:spcPts val="2160"/>
              </a:lnSpc>
              <a:buFont typeface="Arial MT"/>
              <a:buChar char="•"/>
              <a:tabLst>
                <a:tab pos="367665" algn="l"/>
              </a:tabLst>
            </a:pPr>
            <a:r>
              <a:rPr sz="2000" dirty="0">
                <a:latin typeface="Calibri"/>
                <a:cs typeface="Calibri"/>
              </a:rPr>
              <a:t>Since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f-</a:t>
            </a:r>
            <a:r>
              <a:rPr sz="2000" i="1" dirty="0">
                <a:latin typeface="Calibri"/>
                <a:cs typeface="Calibri"/>
              </a:rPr>
              <a:t>costs</a:t>
            </a:r>
            <a:r>
              <a:rPr sz="2000" i="1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nondecreasing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along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draw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contours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in</a:t>
            </a:r>
            <a:endParaRPr sz="2000" dirty="0">
              <a:latin typeface="Calibri"/>
              <a:cs typeface="Calibri"/>
            </a:endParaRPr>
          </a:p>
          <a:p>
            <a:pPr marL="368300">
              <a:lnSpc>
                <a:spcPts val="2160"/>
              </a:lnSpc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space</a:t>
            </a:r>
            <a:endParaRPr sz="2000" dirty="0">
              <a:latin typeface="Calibri"/>
              <a:cs typeface="Calibri"/>
            </a:endParaRPr>
          </a:p>
          <a:p>
            <a:pPr marL="367665" indent="-342265">
              <a:lnSpc>
                <a:spcPct val="100000"/>
              </a:lnSpc>
              <a:buFont typeface="Arial MT"/>
              <a:buChar char="•"/>
              <a:tabLst>
                <a:tab pos="367665" algn="l"/>
              </a:tabLst>
            </a:pPr>
            <a:r>
              <a:rPr sz="2000" dirty="0">
                <a:latin typeface="Calibri"/>
                <a:cs typeface="Calibri"/>
              </a:rPr>
              <a:t>Fig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5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shows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example</a:t>
            </a:r>
            <a:endParaRPr sz="2000" dirty="0">
              <a:latin typeface="Calibri"/>
              <a:cs typeface="Calibri"/>
            </a:endParaRPr>
          </a:p>
          <a:p>
            <a:pPr marL="368300" marR="307975" indent="-342900">
              <a:lnSpc>
                <a:spcPts val="1920"/>
              </a:lnSpc>
              <a:spcBef>
                <a:spcPts val="459"/>
              </a:spcBef>
              <a:buFont typeface="Arial MT"/>
              <a:buChar char="•"/>
              <a:tabLst>
                <a:tab pos="368300" algn="l"/>
              </a:tabLst>
            </a:pPr>
            <a:r>
              <a:rPr sz="2000" dirty="0">
                <a:latin typeface="Calibri"/>
                <a:cs typeface="Calibri"/>
              </a:rPr>
              <a:t>Inside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contour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labelled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400,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f(n)</a:t>
            </a:r>
            <a:r>
              <a:rPr sz="2000" i="1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equal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400,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 </a:t>
            </a:r>
            <a:r>
              <a:rPr sz="2000" spc="-25" dirty="0">
                <a:latin typeface="Calibri"/>
                <a:cs typeface="Calibri"/>
              </a:rPr>
              <a:t>on</a:t>
            </a:r>
            <a:endParaRPr sz="2000" dirty="0">
              <a:latin typeface="Calibri"/>
              <a:cs typeface="Calibri"/>
            </a:endParaRPr>
          </a:p>
          <a:p>
            <a:pPr marL="368300" marR="17780" indent="-342900">
              <a:lnSpc>
                <a:spcPct val="80000"/>
              </a:lnSpc>
              <a:spcBef>
                <a:spcPts val="500"/>
              </a:spcBef>
              <a:buFont typeface="Arial MT"/>
              <a:buChar char="•"/>
              <a:tabLst>
                <a:tab pos="368300" algn="l"/>
              </a:tabLst>
            </a:pPr>
            <a:r>
              <a:rPr sz="2000" dirty="0">
                <a:latin typeface="Calibri"/>
                <a:cs typeface="Calibri"/>
              </a:rPr>
              <a:t>Then,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because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A*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expands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frontier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lowest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f-</a:t>
            </a:r>
            <a:r>
              <a:rPr sz="2000" i="1" dirty="0">
                <a:latin typeface="Calibri"/>
                <a:cs typeface="Calibri"/>
              </a:rPr>
              <a:t>cost,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see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A*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fans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start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concentric </a:t>
            </a:r>
            <a:r>
              <a:rPr sz="2000" dirty="0">
                <a:latin typeface="Calibri"/>
                <a:cs typeface="Calibri"/>
              </a:rPr>
              <a:t>bands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increasing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f-</a:t>
            </a:r>
            <a:r>
              <a:rPr sz="2000" i="1" spc="-20" dirty="0">
                <a:latin typeface="Calibri"/>
                <a:cs typeface="Calibri"/>
              </a:rPr>
              <a:t>cost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38100">
                <a:lnSpc>
                  <a:spcPts val="1240"/>
                </a:lnSpc>
              </a:pPr>
              <a:t>13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63748" y="683261"/>
            <a:ext cx="859005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38860">
              <a:lnSpc>
                <a:spcPct val="100000"/>
              </a:lnSpc>
              <a:spcBef>
                <a:spcPts val="95"/>
              </a:spcBef>
            </a:pPr>
            <a:r>
              <a:rPr dirty="0"/>
              <a:t>A*</a:t>
            </a:r>
            <a:r>
              <a:rPr spc="-20" dirty="0"/>
              <a:t> </a:t>
            </a:r>
            <a:r>
              <a:rPr spc="-10" dirty="0"/>
              <a:t>algorithm(contd.)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3446" y="1690688"/>
            <a:ext cx="7886065" cy="46361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311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431165" algn="l"/>
              </a:tabLst>
            </a:pPr>
            <a:r>
              <a:rPr sz="2000" dirty="0">
                <a:latin typeface="Calibri"/>
                <a:cs typeface="Calibri"/>
              </a:rPr>
              <a:t>With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UCS,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bands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circular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around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start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</a:t>
            </a:r>
            <a:endParaRPr sz="2000" dirty="0">
              <a:latin typeface="Calibri"/>
              <a:cs typeface="Calibri"/>
            </a:endParaRPr>
          </a:p>
          <a:p>
            <a:pPr marL="431165" indent="-342265">
              <a:lnSpc>
                <a:spcPts val="2160"/>
              </a:lnSpc>
              <a:buFont typeface="Arial MT"/>
              <a:buChar char="•"/>
              <a:tabLst>
                <a:tab pos="431165" algn="l"/>
              </a:tabLst>
            </a:pPr>
            <a:r>
              <a:rPr sz="2000" dirty="0">
                <a:latin typeface="Calibri"/>
                <a:cs typeface="Calibri"/>
              </a:rPr>
              <a:t>With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accurate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heuristics,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3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bands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stretch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towards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goal</a:t>
            </a:r>
            <a:endParaRPr sz="2000" dirty="0">
              <a:latin typeface="Calibri"/>
              <a:cs typeface="Calibri"/>
            </a:endParaRPr>
          </a:p>
          <a:p>
            <a:pPr marL="431800">
              <a:lnSpc>
                <a:spcPts val="2160"/>
              </a:lnSpc>
            </a:pPr>
            <a:r>
              <a:rPr sz="2000" spc="-10" dirty="0">
                <a:latin typeface="Calibri"/>
                <a:cs typeface="Calibri"/>
              </a:rPr>
              <a:t>state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become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narrowly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focused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around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optimal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path</a:t>
            </a:r>
            <a:endParaRPr sz="2000" dirty="0">
              <a:latin typeface="Calibri"/>
              <a:cs typeface="Calibri"/>
            </a:endParaRPr>
          </a:p>
          <a:p>
            <a:pPr marL="431165" indent="-342265">
              <a:lnSpc>
                <a:spcPct val="100000"/>
              </a:lnSpc>
              <a:buFont typeface="Arial MT"/>
              <a:buChar char="•"/>
              <a:tabLst>
                <a:tab pos="431165" algn="l"/>
              </a:tabLst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C*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optimal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solution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:</a:t>
            </a:r>
            <a:endParaRPr sz="2000" dirty="0">
              <a:latin typeface="Calibri"/>
              <a:cs typeface="Calibri"/>
            </a:endParaRPr>
          </a:p>
          <a:p>
            <a:pPr marL="832485" lvl="1" indent="-286385">
              <a:lnSpc>
                <a:spcPct val="100000"/>
              </a:lnSpc>
              <a:spcBef>
                <a:spcPts val="10"/>
              </a:spcBef>
              <a:buFont typeface="Arial MT"/>
              <a:buChar char="–"/>
              <a:tabLst>
                <a:tab pos="832485" algn="l"/>
              </a:tabLst>
            </a:pPr>
            <a:r>
              <a:rPr sz="1800" dirty="0">
                <a:latin typeface="Calibri"/>
                <a:cs typeface="Calibri"/>
              </a:rPr>
              <a:t>A*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expands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nodes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 </a:t>
            </a:r>
            <a:r>
              <a:rPr sz="1800" i="1" spc="-10" dirty="0">
                <a:latin typeface="Calibri"/>
                <a:cs typeface="Calibri"/>
              </a:rPr>
              <a:t>f(n)&lt;C*</a:t>
            </a:r>
            <a:endParaRPr sz="1800" dirty="0">
              <a:latin typeface="Calibri"/>
              <a:cs typeface="Calibri"/>
            </a:endParaRPr>
          </a:p>
          <a:p>
            <a:pPr marL="832485" marR="135890" lvl="1" indent="-287020">
              <a:lnSpc>
                <a:spcPct val="80000"/>
              </a:lnSpc>
              <a:spcBef>
                <a:spcPts val="430"/>
              </a:spcBef>
              <a:buFont typeface="Arial MT"/>
              <a:buChar char="–"/>
              <a:tabLst>
                <a:tab pos="832485" algn="l"/>
              </a:tabLst>
            </a:pPr>
            <a:r>
              <a:rPr sz="1800" dirty="0">
                <a:latin typeface="Calibri"/>
                <a:cs typeface="Calibri"/>
              </a:rPr>
              <a:t>A*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might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expand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some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nodes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right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goal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contour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(where </a:t>
            </a:r>
            <a:r>
              <a:rPr sz="1800" i="1" dirty="0">
                <a:latin typeface="Calibri"/>
                <a:cs typeface="Calibri"/>
              </a:rPr>
              <a:t>f(n)=C*)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before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selecting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goal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node</a:t>
            </a:r>
            <a:endParaRPr sz="1800" dirty="0">
              <a:latin typeface="Calibri"/>
              <a:cs typeface="Calibri"/>
            </a:endParaRPr>
          </a:p>
          <a:p>
            <a:pPr marL="431800" marR="93980" indent="-342900">
              <a:lnSpc>
                <a:spcPct val="80000"/>
              </a:lnSpc>
              <a:spcBef>
                <a:spcPts val="475"/>
              </a:spcBef>
              <a:buFont typeface="Arial MT"/>
              <a:buChar char="•"/>
              <a:tabLst>
                <a:tab pos="431800" algn="l"/>
              </a:tabLst>
            </a:pPr>
            <a:r>
              <a:rPr sz="2000" spc="-10" dirty="0">
                <a:latin typeface="Calibri"/>
                <a:cs typeface="Calibri"/>
              </a:rPr>
              <a:t>Completeness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requires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only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finitely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cost </a:t>
            </a:r>
            <a:r>
              <a:rPr sz="2000" dirty="0">
                <a:latin typeface="Calibri"/>
                <a:cs typeface="Calibri"/>
              </a:rPr>
              <a:t>less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equal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C*,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condition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true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step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costs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exceed </a:t>
            </a:r>
            <a:r>
              <a:rPr sz="2000" dirty="0">
                <a:latin typeface="Calibri"/>
                <a:cs typeface="Calibri"/>
              </a:rPr>
              <a:t>some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finite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mbria Math"/>
                <a:cs typeface="Cambria Math"/>
              </a:rPr>
              <a:t>𝜀</a:t>
            </a:r>
            <a:r>
              <a:rPr sz="2000" spc="55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b</a:t>
            </a:r>
            <a:r>
              <a:rPr sz="2000" i="1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finite</a:t>
            </a:r>
            <a:endParaRPr sz="2000" dirty="0">
              <a:latin typeface="Calibri"/>
              <a:cs typeface="Calibri"/>
            </a:endParaRPr>
          </a:p>
          <a:p>
            <a:pPr marL="431800" marR="589915" indent="-342900">
              <a:lnSpc>
                <a:spcPct val="80000"/>
              </a:lnSpc>
              <a:spcBef>
                <a:spcPts val="480"/>
              </a:spcBef>
              <a:buFont typeface="Arial MT"/>
              <a:buChar char="•"/>
              <a:tabLst>
                <a:tab pos="431800" algn="l"/>
              </a:tabLst>
            </a:pPr>
            <a:r>
              <a:rPr sz="2000" dirty="0">
                <a:latin typeface="Calibri"/>
                <a:cs typeface="Calibri"/>
              </a:rPr>
              <a:t>Notice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A*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expands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f(n)&gt;C*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e.g.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Timisoara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not </a:t>
            </a:r>
            <a:r>
              <a:rPr sz="2000" dirty="0">
                <a:latin typeface="Calibri"/>
                <a:cs typeface="Calibri"/>
              </a:rPr>
              <a:t>expanded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Fig.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3.24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though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child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root</a:t>
            </a:r>
            <a:endParaRPr sz="2000" dirty="0">
              <a:latin typeface="Calibri"/>
              <a:cs typeface="Calibri"/>
            </a:endParaRPr>
          </a:p>
          <a:p>
            <a:pPr marL="431800" marR="454025" indent="-342900">
              <a:lnSpc>
                <a:spcPct val="80000"/>
              </a:lnSpc>
              <a:spcBef>
                <a:spcPts val="480"/>
              </a:spcBef>
              <a:buFont typeface="Arial MT"/>
              <a:buChar char="•"/>
              <a:tabLst>
                <a:tab pos="431800" algn="l"/>
              </a:tabLst>
            </a:pPr>
            <a:r>
              <a:rPr sz="2000" dirty="0">
                <a:latin typeface="Calibri"/>
                <a:cs typeface="Calibri"/>
              </a:rPr>
              <a:t>We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subtree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below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Timisoara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pruned;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because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mbria Math"/>
                <a:cs typeface="Cambria Math"/>
              </a:rPr>
              <a:t>ℎ</a:t>
            </a:r>
            <a:r>
              <a:rPr sz="2175" baseline="-15325" dirty="0">
                <a:latin typeface="Cambria Math"/>
                <a:cs typeface="Cambria Math"/>
              </a:rPr>
              <a:t>𝑆𝐿𝐷</a:t>
            </a:r>
            <a:r>
              <a:rPr sz="2175" spc="307" baseline="-15325" dirty="0">
                <a:latin typeface="Cambria Math"/>
                <a:cs typeface="Cambria Math"/>
              </a:rPr>
              <a:t> </a:t>
            </a:r>
            <a:r>
              <a:rPr sz="2000" spc="-25" dirty="0">
                <a:latin typeface="Calibri"/>
                <a:cs typeface="Calibri"/>
              </a:rPr>
              <a:t>is </a:t>
            </a:r>
            <a:r>
              <a:rPr sz="2000" dirty="0">
                <a:latin typeface="Calibri"/>
                <a:cs typeface="Calibri"/>
              </a:rPr>
              <a:t>admissible,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algorithm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safely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ignore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subtree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still guaranteeing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optimality</a:t>
            </a:r>
            <a:endParaRPr sz="2000" dirty="0">
              <a:latin typeface="Calibri"/>
              <a:cs typeface="Calibri"/>
            </a:endParaRPr>
          </a:p>
          <a:p>
            <a:pPr marL="431800" marR="369570" indent="-342900">
              <a:lnSpc>
                <a:spcPct val="80000"/>
              </a:lnSpc>
              <a:spcBef>
                <a:spcPts val="480"/>
              </a:spcBef>
              <a:buFont typeface="Arial MT"/>
              <a:buChar char="•"/>
              <a:tabLst>
                <a:tab pos="4318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concept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pruning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eliminating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possibilities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consideration </a:t>
            </a:r>
            <a:r>
              <a:rPr sz="2000" dirty="0">
                <a:latin typeface="Calibri"/>
                <a:cs typeface="Calibri"/>
              </a:rPr>
              <a:t>without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examine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important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areas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AI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55015" y="477012"/>
            <a:ext cx="4579403" cy="590397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323066" y="6426504"/>
            <a:ext cx="1816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38426" y="6256426"/>
            <a:ext cx="6871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Figure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Russel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Norvig,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Artificial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Intelligence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Modern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Approach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8419" y="591290"/>
            <a:ext cx="5980696" cy="442114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50391" y="5057394"/>
            <a:ext cx="8173084" cy="1138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3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Figure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4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Stages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A*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search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Bucharest.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Nodes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labeled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f=g+h</a:t>
            </a:r>
            <a:r>
              <a:rPr sz="1800" dirty="0">
                <a:latin typeface="Calibri"/>
                <a:cs typeface="Calibri"/>
              </a:rPr>
              <a:t>.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values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straight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line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distance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Bucharest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taken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Figure</a:t>
            </a:r>
            <a:r>
              <a:rPr sz="1800" spc="-50" dirty="0">
                <a:latin typeface="Calibri"/>
                <a:cs typeface="Calibri"/>
              </a:rPr>
              <a:t> 2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Figure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Russel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Norvig,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Artificial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Intelligence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Modern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Approach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38100">
                <a:lnSpc>
                  <a:spcPts val="1240"/>
                </a:lnSpc>
              </a:pPr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4346" y="688758"/>
            <a:ext cx="6795783" cy="338794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583307" y="3951173"/>
            <a:ext cx="713613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Figure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Map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Romania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showing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contours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f=380,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f=400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f=420,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with </a:t>
            </a:r>
            <a:r>
              <a:rPr sz="1800" dirty="0">
                <a:latin typeface="Calibri"/>
                <a:cs typeface="Calibri"/>
              </a:rPr>
              <a:t>Arad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start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state.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Nodes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inside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give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contour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f-costs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less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25" dirty="0">
                <a:latin typeface="Calibri"/>
                <a:cs typeface="Calibri"/>
              </a:rPr>
              <a:t> or </a:t>
            </a:r>
            <a:r>
              <a:rPr sz="1800" dirty="0">
                <a:latin typeface="Calibri"/>
                <a:cs typeface="Calibri"/>
              </a:rPr>
              <a:t>equal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contour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value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38100">
                <a:lnSpc>
                  <a:spcPts val="1240"/>
                </a:lnSpc>
              </a:pPr>
              <a:t>16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350391" y="5536183"/>
            <a:ext cx="6871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Figure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Russel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Norvig,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Artificial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Intelligence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Modern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Approach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38100">
                <a:lnSpc>
                  <a:spcPts val="1240"/>
                </a:lnSpc>
              </a:pPr>
              <a:t>17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23344" y="683261"/>
            <a:ext cx="8230456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81075">
              <a:lnSpc>
                <a:spcPct val="100000"/>
              </a:lnSpc>
              <a:spcBef>
                <a:spcPts val="95"/>
              </a:spcBef>
            </a:pPr>
            <a:r>
              <a:rPr dirty="0"/>
              <a:t>A*</a:t>
            </a:r>
            <a:r>
              <a:rPr spc="-85" dirty="0"/>
              <a:t> </a:t>
            </a:r>
            <a:r>
              <a:rPr dirty="0"/>
              <a:t>algorithm</a:t>
            </a:r>
            <a:r>
              <a:rPr spc="-80" dirty="0"/>
              <a:t> </a:t>
            </a:r>
            <a:r>
              <a:rPr spc="-10" dirty="0"/>
              <a:t>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34163" y="1690688"/>
            <a:ext cx="8025130" cy="4317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A*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algorithm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optimally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efficient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any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given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consistent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heuristic</a:t>
            </a:r>
            <a:endParaRPr sz="2200" dirty="0">
              <a:latin typeface="Calibri"/>
              <a:cs typeface="Calibri"/>
            </a:endParaRPr>
          </a:p>
          <a:p>
            <a:pPr marL="355600" marR="464184" indent="-342900">
              <a:lnSpc>
                <a:spcPct val="8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This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means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other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optimal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algorithm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guaranteed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expand fewer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nodes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A*</a:t>
            </a:r>
            <a:endParaRPr sz="2200" dirty="0">
              <a:latin typeface="Calibri"/>
              <a:cs typeface="Calibri"/>
            </a:endParaRPr>
          </a:p>
          <a:p>
            <a:pPr marL="354965" indent="-342265">
              <a:lnSpc>
                <a:spcPts val="2375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This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because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algorithm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does</a:t>
            </a:r>
            <a:r>
              <a:rPr sz="2200" i="1" spc="-4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not</a:t>
            </a:r>
            <a:r>
              <a:rPr sz="2200" i="1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expand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nodes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with</a:t>
            </a:r>
            <a:endParaRPr sz="2200" dirty="0">
              <a:latin typeface="Calibri"/>
              <a:cs typeface="Calibri"/>
            </a:endParaRPr>
          </a:p>
          <a:p>
            <a:pPr marL="355600">
              <a:lnSpc>
                <a:spcPts val="2375"/>
              </a:lnSpc>
            </a:pPr>
            <a:r>
              <a:rPr sz="2200" i="1" dirty="0">
                <a:latin typeface="Calibri"/>
                <a:cs typeface="Calibri"/>
              </a:rPr>
              <a:t>f(n)&lt;C*</a:t>
            </a:r>
            <a:r>
              <a:rPr sz="2200" i="1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runs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risk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missing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optimal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solution</a:t>
            </a:r>
            <a:endParaRPr sz="2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Hence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A*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search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complete,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optimal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optimally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efficient</a:t>
            </a:r>
            <a:endParaRPr sz="2200" dirty="0">
              <a:latin typeface="Calibri"/>
              <a:cs typeface="Calibri"/>
            </a:endParaRPr>
          </a:p>
          <a:p>
            <a:pPr marL="355600" marR="316865" indent="-342900">
              <a:lnSpc>
                <a:spcPct val="80000"/>
              </a:lnSpc>
              <a:spcBef>
                <a:spcPts val="52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For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most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problems,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number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states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within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goal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contour </a:t>
            </a:r>
            <a:r>
              <a:rPr sz="2200" dirty="0">
                <a:latin typeface="Calibri"/>
                <a:cs typeface="Calibri"/>
              </a:rPr>
              <a:t>search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space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still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exponential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length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4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solution</a:t>
            </a:r>
            <a:endParaRPr sz="2200" dirty="0">
              <a:latin typeface="Calibri"/>
              <a:cs typeface="Calibri"/>
            </a:endParaRPr>
          </a:p>
          <a:p>
            <a:pPr marL="355600" marR="134620" indent="-342900">
              <a:lnSpc>
                <a:spcPct val="8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complexity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A*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often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makes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impractical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insist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finding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4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optimal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solution</a:t>
            </a:r>
            <a:endParaRPr sz="2200" dirty="0">
              <a:latin typeface="Calibri"/>
              <a:cs typeface="Calibri"/>
            </a:endParaRPr>
          </a:p>
          <a:p>
            <a:pPr marL="355600" marR="33020" indent="-342900">
              <a:lnSpc>
                <a:spcPts val="2110"/>
              </a:lnSpc>
              <a:spcBef>
                <a:spcPts val="51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One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variants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A*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find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suboptimal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solutions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quickly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or </a:t>
            </a:r>
            <a:r>
              <a:rPr sz="2200" dirty="0">
                <a:latin typeface="Calibri"/>
                <a:cs typeface="Calibri"/>
              </a:rPr>
              <a:t>heuristics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more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accurate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strictly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admissible</a:t>
            </a:r>
            <a:endParaRPr sz="2200" dirty="0">
              <a:latin typeface="Calibri"/>
              <a:cs typeface="Calibri"/>
            </a:endParaRPr>
          </a:p>
          <a:p>
            <a:pPr marL="355600" marR="61594" indent="-342900">
              <a:lnSpc>
                <a:spcPts val="211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Space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complexity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A*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more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problem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complexity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runs</a:t>
            </a:r>
            <a:r>
              <a:rPr sz="2200" spc="4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space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long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before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runs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time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38100">
                <a:lnSpc>
                  <a:spcPts val="1240"/>
                </a:lnSpc>
              </a:pPr>
              <a:t>18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04442" y="420747"/>
            <a:ext cx="71113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Memory</a:t>
            </a:r>
            <a:r>
              <a:rPr spc="-140" dirty="0"/>
              <a:t> </a:t>
            </a:r>
            <a:r>
              <a:rPr dirty="0"/>
              <a:t>bounded</a:t>
            </a:r>
            <a:r>
              <a:rPr spc="-140" dirty="0"/>
              <a:t> </a:t>
            </a:r>
            <a:r>
              <a:rPr dirty="0"/>
              <a:t>heuristic</a:t>
            </a:r>
            <a:r>
              <a:rPr spc="-145" dirty="0"/>
              <a:t> </a:t>
            </a:r>
            <a:r>
              <a:rPr spc="-10"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75259" y="1329771"/>
            <a:ext cx="8050530" cy="497903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5600" marR="69215" indent="-342900">
              <a:lnSpc>
                <a:spcPct val="80000"/>
              </a:lnSpc>
              <a:spcBef>
                <a:spcPts val="695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dirty="0">
                <a:latin typeface="Calibri"/>
                <a:cs typeface="Calibri"/>
              </a:rPr>
              <a:t>The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simplest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way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to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reduce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memory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requirements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for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A*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is </a:t>
            </a:r>
            <a:r>
              <a:rPr sz="2500" dirty="0">
                <a:latin typeface="Calibri"/>
                <a:cs typeface="Calibri"/>
              </a:rPr>
              <a:t>to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adapt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idea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iterative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deepening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to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heuristic </a:t>
            </a:r>
            <a:r>
              <a:rPr sz="2500" dirty="0">
                <a:latin typeface="Calibri"/>
                <a:cs typeface="Calibri"/>
              </a:rPr>
              <a:t>search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context,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resulting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in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b="1" spc="-35" dirty="0">
                <a:latin typeface="Calibri"/>
                <a:cs typeface="Calibri"/>
              </a:rPr>
              <a:t>iterative-</a:t>
            </a:r>
            <a:r>
              <a:rPr sz="2500" b="1" dirty="0">
                <a:latin typeface="Calibri"/>
                <a:cs typeface="Calibri"/>
              </a:rPr>
              <a:t>deepening</a:t>
            </a:r>
            <a:r>
              <a:rPr sz="2500" b="1" spc="-45" dirty="0">
                <a:latin typeface="Calibri"/>
                <a:cs typeface="Calibri"/>
              </a:rPr>
              <a:t> </a:t>
            </a:r>
            <a:r>
              <a:rPr sz="2500" b="1" spc="-25" dirty="0">
                <a:latin typeface="Calibri"/>
                <a:cs typeface="Calibri"/>
              </a:rPr>
              <a:t>A* </a:t>
            </a:r>
            <a:r>
              <a:rPr sz="2500" dirty="0">
                <a:latin typeface="Calibri"/>
                <a:cs typeface="Calibri"/>
              </a:rPr>
              <a:t>(IDA*)</a:t>
            </a:r>
            <a:r>
              <a:rPr sz="2500" spc="-114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algorithm</a:t>
            </a:r>
            <a:endParaRPr sz="2500" dirty="0">
              <a:latin typeface="Calibri"/>
              <a:cs typeface="Calibri"/>
            </a:endParaRPr>
          </a:p>
          <a:p>
            <a:pPr marL="355600" marR="92710" indent="-342900">
              <a:lnSpc>
                <a:spcPct val="800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dirty="0">
                <a:latin typeface="Calibri"/>
                <a:cs typeface="Calibri"/>
              </a:rPr>
              <a:t>The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main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difference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between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IDA*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standard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iterative </a:t>
            </a:r>
            <a:r>
              <a:rPr sz="2500" dirty="0">
                <a:latin typeface="Calibri"/>
                <a:cs typeface="Calibri"/>
              </a:rPr>
              <a:t>deepening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that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cutoff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used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i="1" spc="-10" dirty="0">
                <a:latin typeface="Calibri"/>
                <a:cs typeface="Calibri"/>
              </a:rPr>
              <a:t>f</a:t>
            </a:r>
            <a:r>
              <a:rPr sz="2500" spc="-10" dirty="0">
                <a:latin typeface="Calibri"/>
                <a:cs typeface="Calibri"/>
              </a:rPr>
              <a:t>-</a:t>
            </a:r>
            <a:r>
              <a:rPr sz="2500" dirty="0">
                <a:latin typeface="Calibri"/>
                <a:cs typeface="Calibri"/>
              </a:rPr>
              <a:t>cost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(</a:t>
            </a:r>
            <a:r>
              <a:rPr sz="2500" i="1" dirty="0">
                <a:latin typeface="Calibri"/>
                <a:cs typeface="Calibri"/>
              </a:rPr>
              <a:t>g+h)</a:t>
            </a:r>
            <a:r>
              <a:rPr sz="2500" i="1" spc="-4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rather </a:t>
            </a:r>
            <a:r>
              <a:rPr sz="2500" dirty="0">
                <a:latin typeface="Calibri"/>
                <a:cs typeface="Calibri"/>
              </a:rPr>
              <a:t>than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depth;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at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each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iteration,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2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cutoff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value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the </a:t>
            </a:r>
            <a:r>
              <a:rPr sz="2500" dirty="0">
                <a:latin typeface="Calibri"/>
                <a:cs typeface="Calibri"/>
              </a:rPr>
              <a:t>smallest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i="1" spc="-10" dirty="0">
                <a:latin typeface="Calibri"/>
                <a:cs typeface="Calibri"/>
              </a:rPr>
              <a:t>f-</a:t>
            </a:r>
            <a:r>
              <a:rPr sz="2500" dirty="0">
                <a:latin typeface="Calibri"/>
                <a:cs typeface="Calibri"/>
              </a:rPr>
              <a:t>cost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any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node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that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exceeded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cutoff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on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the </a:t>
            </a:r>
            <a:r>
              <a:rPr sz="2500" spc="-10" dirty="0">
                <a:latin typeface="Calibri"/>
                <a:cs typeface="Calibri"/>
              </a:rPr>
              <a:t>previous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iteration</a:t>
            </a:r>
            <a:endParaRPr sz="2500" dirty="0">
              <a:latin typeface="Calibri"/>
              <a:cs typeface="Calibri"/>
            </a:endParaRPr>
          </a:p>
          <a:p>
            <a:pPr marL="355600" marR="5080" indent="-342900">
              <a:lnSpc>
                <a:spcPts val="24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dirty="0">
                <a:latin typeface="Calibri"/>
                <a:cs typeface="Calibri"/>
              </a:rPr>
              <a:t>IDA*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practical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for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many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problems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with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unit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step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costs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and </a:t>
            </a:r>
            <a:r>
              <a:rPr sz="2500" dirty="0">
                <a:latin typeface="Calibri"/>
                <a:cs typeface="Calibri"/>
              </a:rPr>
              <a:t>avoids</a:t>
            </a:r>
            <a:r>
              <a:rPr sz="2500" spc="-9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substantial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overhead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associated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with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keeping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spc="-50" dirty="0">
                <a:latin typeface="Calibri"/>
                <a:cs typeface="Calibri"/>
              </a:rPr>
              <a:t>a </a:t>
            </a:r>
            <a:r>
              <a:rPr sz="2500" dirty="0">
                <a:latin typeface="Calibri"/>
                <a:cs typeface="Calibri"/>
              </a:rPr>
              <a:t>sorted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queue</a:t>
            </a:r>
            <a:r>
              <a:rPr sz="2500" spc="-2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nodes</a:t>
            </a:r>
            <a:endParaRPr sz="2500" dirty="0">
              <a:latin typeface="Calibri"/>
              <a:cs typeface="Calibri"/>
            </a:endParaRPr>
          </a:p>
          <a:p>
            <a:pPr marL="355600" marR="629285" indent="-342900">
              <a:lnSpc>
                <a:spcPts val="24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spc="-25" dirty="0">
                <a:latin typeface="Calibri"/>
                <a:cs typeface="Calibri"/>
              </a:rPr>
              <a:t>Unfortunately,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it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suffers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from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same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difficulties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with real-</a:t>
            </a:r>
            <a:r>
              <a:rPr sz="2500" dirty="0">
                <a:latin typeface="Calibri"/>
                <a:cs typeface="Calibri"/>
              </a:rPr>
              <a:t>valued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costs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as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does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iterative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version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UCS</a:t>
            </a:r>
            <a:endParaRPr sz="25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54965" algn="l"/>
              </a:tabLst>
            </a:pPr>
            <a:r>
              <a:rPr sz="2500" spc="-10" dirty="0">
                <a:latin typeface="Calibri"/>
                <a:cs typeface="Calibri"/>
              </a:rPr>
              <a:t>Two</a:t>
            </a:r>
            <a:r>
              <a:rPr sz="2500" spc="-9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other</a:t>
            </a:r>
            <a:r>
              <a:rPr sz="2500" spc="-9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memory-</a:t>
            </a:r>
            <a:r>
              <a:rPr sz="2500" dirty="0">
                <a:latin typeface="Calibri"/>
                <a:cs typeface="Calibri"/>
              </a:rPr>
              <a:t>bounded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algorithms</a:t>
            </a:r>
            <a:r>
              <a:rPr sz="2500" spc="-10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are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RBFS</a:t>
            </a:r>
            <a:r>
              <a:rPr sz="2500" b="1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b="1" spc="-25" dirty="0">
                <a:latin typeface="Calibri"/>
                <a:cs typeface="Calibri"/>
              </a:rPr>
              <a:t>MA*</a:t>
            </a:r>
            <a:endParaRPr sz="2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38100">
                <a:lnSpc>
                  <a:spcPts val="1240"/>
                </a:lnSpc>
              </a:pPr>
              <a:t>19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46634" y="509290"/>
            <a:ext cx="637556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Memory-bounded</a:t>
            </a:r>
            <a:r>
              <a:rPr sz="3200" spc="-110" dirty="0"/>
              <a:t> </a:t>
            </a:r>
            <a:r>
              <a:rPr sz="3200" dirty="0"/>
              <a:t>heuristic</a:t>
            </a:r>
            <a:r>
              <a:rPr sz="3200" spc="-90" dirty="0"/>
              <a:t> </a:t>
            </a:r>
            <a:r>
              <a:rPr sz="3200" dirty="0"/>
              <a:t>search</a:t>
            </a:r>
            <a:r>
              <a:rPr sz="3200" spc="-110" dirty="0"/>
              <a:t> </a:t>
            </a:r>
            <a:r>
              <a:rPr sz="3200" spc="-10" dirty="0"/>
              <a:t>(contd.)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1813614" y="2109215"/>
            <a:ext cx="7985759" cy="435546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355600" marR="323850" indent="-342900">
              <a:lnSpc>
                <a:spcPts val="1920"/>
              </a:lnSpc>
              <a:spcBef>
                <a:spcPts val="56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spc="-10" dirty="0">
                <a:latin typeface="Calibri"/>
                <a:cs typeface="Calibri"/>
              </a:rPr>
              <a:t>Recursive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best-</a:t>
            </a:r>
            <a:r>
              <a:rPr sz="2000" b="1" dirty="0">
                <a:latin typeface="Calibri"/>
                <a:cs typeface="Calibri"/>
              </a:rPr>
              <a:t>first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search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(RBFS)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simple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recursive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algorithm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that </a:t>
            </a:r>
            <a:r>
              <a:rPr sz="2000" spc="-10" dirty="0">
                <a:latin typeface="Calibri"/>
                <a:cs typeface="Calibri"/>
              </a:rPr>
              <a:t>attempts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mimic the</a:t>
            </a:r>
            <a:r>
              <a:rPr sz="2000" spc="3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operation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standard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BFS,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only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linear space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algorithm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shown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Figure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6</a:t>
            </a:r>
            <a:endParaRPr sz="2000" dirty="0">
              <a:latin typeface="Calibri"/>
              <a:cs typeface="Calibri"/>
            </a:endParaRPr>
          </a:p>
          <a:p>
            <a:pPr marL="355600" marR="5080" indent="-342900">
              <a:lnSpc>
                <a:spcPct val="80000"/>
              </a:lnSpc>
              <a:spcBef>
                <a:spcPts val="48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Its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structure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similar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recursive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depth-</a:t>
            </a:r>
            <a:r>
              <a:rPr sz="2000" dirty="0">
                <a:latin typeface="Calibri"/>
                <a:cs typeface="Calibri"/>
              </a:rPr>
              <a:t>first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rather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continuing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indefinitely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down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current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f_limit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variable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keep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track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f</a:t>
            </a:r>
            <a:r>
              <a:rPr sz="2000" spc="-10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alternative</a:t>
            </a:r>
            <a:r>
              <a:rPr sz="2000" i="1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available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any </a:t>
            </a:r>
            <a:r>
              <a:rPr sz="2000" dirty="0">
                <a:latin typeface="Calibri"/>
                <a:cs typeface="Calibri"/>
              </a:rPr>
              <a:t>ancestor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current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node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ts val="216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current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exceeds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limit,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recursion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unwinds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back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</a:t>
            </a:r>
            <a:endParaRPr sz="2000" dirty="0">
              <a:latin typeface="Calibri"/>
              <a:cs typeface="Calibri"/>
            </a:endParaRPr>
          </a:p>
          <a:p>
            <a:pPr marL="355600">
              <a:lnSpc>
                <a:spcPts val="2160"/>
              </a:lnSpc>
            </a:pPr>
            <a:r>
              <a:rPr sz="2000" spc="-10" dirty="0">
                <a:latin typeface="Calibri"/>
                <a:cs typeface="Calibri"/>
              </a:rPr>
              <a:t>alternative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path</a:t>
            </a:r>
            <a:endParaRPr sz="2000" dirty="0">
              <a:latin typeface="Calibri"/>
              <a:cs typeface="Calibri"/>
            </a:endParaRPr>
          </a:p>
          <a:p>
            <a:pPr marL="355600" marR="280670" indent="-342900">
              <a:lnSpc>
                <a:spcPct val="80000"/>
              </a:lnSpc>
              <a:spcBef>
                <a:spcPts val="48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As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recursion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unwinds,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RBFS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replaces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f</a:t>
            </a:r>
            <a:r>
              <a:rPr sz="2000" spc="-10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along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backed-</a:t>
            </a:r>
            <a:r>
              <a:rPr sz="2000" b="1" dirty="0">
                <a:latin typeface="Calibri"/>
                <a:cs typeface="Calibri"/>
              </a:rPr>
              <a:t>up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value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best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f-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children</a:t>
            </a:r>
            <a:endParaRPr sz="2000" dirty="0">
              <a:latin typeface="Calibri"/>
              <a:cs typeface="Calibri"/>
            </a:endParaRPr>
          </a:p>
          <a:p>
            <a:pPr marL="355600" marR="203200" indent="-342900">
              <a:lnSpc>
                <a:spcPct val="80000"/>
              </a:lnSpc>
              <a:spcBef>
                <a:spcPts val="48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way,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RBFS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remembers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f-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forgotten </a:t>
            </a:r>
            <a:r>
              <a:rPr sz="2000" dirty="0">
                <a:latin typeface="Calibri"/>
                <a:cs typeface="Calibri"/>
              </a:rPr>
              <a:t>subtree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therefore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decide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whether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worth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re-</a:t>
            </a:r>
            <a:r>
              <a:rPr sz="2000" dirty="0">
                <a:latin typeface="Calibri"/>
                <a:cs typeface="Calibri"/>
              </a:rPr>
              <a:t>expanding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subtree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later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time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Fig.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3.27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shows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how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RBFS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reaches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Bucharest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8856" y="908336"/>
            <a:ext cx="7104377" cy="388921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366896" y="4887848"/>
            <a:ext cx="5633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Figure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algorithm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recursive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best-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search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(RBFS)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38100">
                <a:lnSpc>
                  <a:spcPts val="1240"/>
                </a:lnSpc>
              </a:pPr>
              <a:t>20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2070607" y="5896152"/>
            <a:ext cx="6871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Figure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Russel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Norvig,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Artificial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Intelligence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Modern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Approach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9904" y="136818"/>
            <a:ext cx="7415783" cy="54127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66417" y="5824220"/>
            <a:ext cx="6871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Figure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Russel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Norvig,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Artificial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Intelligence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Modern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Approach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38100">
                <a:lnSpc>
                  <a:spcPts val="1240"/>
                </a:lnSpc>
              </a:pPr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323066" y="6464680"/>
            <a:ext cx="2197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240"/>
                </a:lnSpc>
              </a:pPr>
              <a:t>22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37841" y="273557"/>
            <a:ext cx="71151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Memory-bounded</a:t>
            </a:r>
            <a:r>
              <a:rPr sz="3200" spc="-110" dirty="0"/>
              <a:t> </a:t>
            </a:r>
            <a:r>
              <a:rPr sz="3200" dirty="0"/>
              <a:t>heuristic</a:t>
            </a:r>
            <a:r>
              <a:rPr sz="3200" spc="-90" dirty="0"/>
              <a:t> </a:t>
            </a:r>
            <a:r>
              <a:rPr sz="3200" dirty="0"/>
              <a:t>search</a:t>
            </a:r>
            <a:r>
              <a:rPr sz="3200" spc="-110" dirty="0"/>
              <a:t> </a:t>
            </a:r>
            <a:r>
              <a:rPr sz="3200" spc="-10" dirty="0"/>
              <a:t>(contd.)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060194" y="1014476"/>
            <a:ext cx="8004175" cy="484314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55600" marR="184150" indent="-342900">
              <a:lnSpc>
                <a:spcPct val="80000"/>
              </a:lnSpc>
              <a:spcBef>
                <a:spcPts val="58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RBFS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efficient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IDA*,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still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suffers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excessive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re-</a:t>
            </a:r>
            <a:r>
              <a:rPr sz="2000" spc="-10" dirty="0">
                <a:latin typeface="Calibri"/>
                <a:cs typeface="Calibri"/>
              </a:rPr>
              <a:t>generation</a:t>
            </a:r>
            <a:endParaRPr sz="2000">
              <a:latin typeface="Calibri"/>
              <a:cs typeface="Calibri"/>
            </a:endParaRPr>
          </a:p>
          <a:p>
            <a:pPr marL="355600" marR="229870" indent="-342900">
              <a:lnSpc>
                <a:spcPts val="1920"/>
              </a:lnSpc>
              <a:spcBef>
                <a:spcPts val="459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E.g.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Fig.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3.27,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RBFS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follows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via Rimnicu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Vilcea,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“changes </a:t>
            </a:r>
            <a:r>
              <a:rPr sz="2000" dirty="0">
                <a:latin typeface="Calibri"/>
                <a:cs typeface="Calibri"/>
              </a:rPr>
              <a:t>its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mind”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tries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Fagaras,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changes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back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again</a:t>
            </a:r>
            <a:endParaRPr sz="2000">
              <a:latin typeface="Calibri"/>
              <a:cs typeface="Calibri"/>
            </a:endParaRPr>
          </a:p>
          <a:p>
            <a:pPr marL="355600" marR="309880" indent="-342900">
              <a:lnSpc>
                <a:spcPct val="80000"/>
              </a:lnSpc>
              <a:spcBef>
                <a:spcPts val="50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These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changes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occur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because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every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current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best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is </a:t>
            </a:r>
            <a:r>
              <a:rPr sz="2000" dirty="0">
                <a:latin typeface="Calibri"/>
                <a:cs typeface="Calibri"/>
              </a:rPr>
              <a:t>extended,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f-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likely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increase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h</a:t>
            </a:r>
            <a:r>
              <a:rPr sz="2000" i="1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usually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optimistic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 </a:t>
            </a: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closer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goal</a:t>
            </a: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ts val="1920"/>
              </a:lnSpc>
              <a:spcBef>
                <a:spcPts val="459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When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happens,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second-</a:t>
            </a:r>
            <a:r>
              <a:rPr sz="2000" dirty="0">
                <a:latin typeface="Calibri"/>
                <a:cs typeface="Calibri"/>
              </a:rPr>
              <a:t>best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might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become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so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backtrack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follow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it</a:t>
            </a:r>
            <a:endParaRPr sz="2000">
              <a:latin typeface="Calibri"/>
              <a:cs typeface="Calibri"/>
            </a:endParaRPr>
          </a:p>
          <a:p>
            <a:pPr marL="355600" marR="252729" indent="-342900">
              <a:lnSpc>
                <a:spcPct val="80100"/>
              </a:lnSpc>
              <a:spcBef>
                <a:spcPts val="49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Each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change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corresponds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iteration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IDS*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could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require </a:t>
            </a:r>
            <a:r>
              <a:rPr sz="2000" dirty="0">
                <a:latin typeface="Calibri"/>
                <a:cs typeface="Calibri"/>
              </a:rPr>
              <a:t>many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reexpansions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forgotten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recreate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best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dirty="0">
                <a:latin typeface="Calibri"/>
                <a:cs typeface="Calibri"/>
              </a:rPr>
              <a:t>extend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node</a:t>
            </a:r>
            <a:endParaRPr sz="2000">
              <a:latin typeface="Calibri"/>
              <a:cs typeface="Calibri"/>
            </a:endParaRPr>
          </a:p>
          <a:p>
            <a:pPr marL="355600" marR="161925" indent="-342900">
              <a:lnSpc>
                <a:spcPts val="1920"/>
              </a:lnSpc>
              <a:spcBef>
                <a:spcPts val="46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Like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A*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RBFS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optimal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algorithm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heuristic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function </a:t>
            </a:r>
            <a:r>
              <a:rPr sz="2000" i="1" dirty="0">
                <a:latin typeface="Calibri"/>
                <a:cs typeface="Calibri"/>
              </a:rPr>
              <a:t>h(n)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0" dirty="0">
                <a:latin typeface="Calibri"/>
                <a:cs typeface="Calibri"/>
              </a:rPr>
              <a:t> admissible</a:t>
            </a:r>
            <a:endParaRPr sz="2000">
              <a:latin typeface="Calibri"/>
              <a:cs typeface="Calibri"/>
            </a:endParaRPr>
          </a:p>
          <a:p>
            <a:pPr marL="355600" marR="6985" indent="-342900">
              <a:lnSpc>
                <a:spcPct val="80000"/>
              </a:lnSpc>
              <a:spcBef>
                <a:spcPts val="49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Its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space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complexity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linear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depth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deepest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optimal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solution,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complexity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rather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difficult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characterize;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depends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both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accuracy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heuristic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how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often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best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path </a:t>
            </a:r>
            <a:r>
              <a:rPr sz="2000" dirty="0">
                <a:latin typeface="Calibri"/>
                <a:cs typeface="Calibri"/>
              </a:rPr>
              <a:t>changes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expanded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323066" y="6464680"/>
            <a:ext cx="2197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240"/>
                </a:lnSpc>
              </a:pPr>
              <a:t>23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55814" y="252957"/>
            <a:ext cx="71145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Memory-bounded</a:t>
            </a:r>
            <a:r>
              <a:rPr sz="3200" spc="-110" dirty="0"/>
              <a:t> </a:t>
            </a:r>
            <a:r>
              <a:rPr sz="3200" dirty="0"/>
              <a:t>heuristic</a:t>
            </a:r>
            <a:r>
              <a:rPr sz="3200" spc="-95" dirty="0"/>
              <a:t> </a:t>
            </a:r>
            <a:r>
              <a:rPr sz="3200" dirty="0"/>
              <a:t>search</a:t>
            </a:r>
            <a:r>
              <a:rPr sz="3200" spc="-110" dirty="0"/>
              <a:t> </a:t>
            </a:r>
            <a:r>
              <a:rPr sz="3200" spc="-10" dirty="0"/>
              <a:t>(contd.)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2074290" y="1333245"/>
            <a:ext cx="7967980" cy="5131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sz="2500" dirty="0">
                <a:latin typeface="Calibri"/>
                <a:cs typeface="Calibri"/>
              </a:rPr>
              <a:t>IDA*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RBFS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suffer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from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using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i="1" dirty="0">
                <a:latin typeface="Calibri"/>
                <a:cs typeface="Calibri"/>
              </a:rPr>
              <a:t>too</a:t>
            </a:r>
            <a:r>
              <a:rPr sz="2500" i="1" spc="-65" dirty="0">
                <a:latin typeface="Calibri"/>
                <a:cs typeface="Calibri"/>
              </a:rPr>
              <a:t> </a:t>
            </a:r>
            <a:r>
              <a:rPr sz="2500" i="1" dirty="0">
                <a:latin typeface="Calibri"/>
                <a:cs typeface="Calibri"/>
              </a:rPr>
              <a:t>little</a:t>
            </a:r>
            <a:r>
              <a:rPr sz="2500" i="1" spc="-7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memory</a:t>
            </a:r>
            <a:endParaRPr sz="2500" dirty="0">
              <a:latin typeface="Calibri"/>
              <a:cs typeface="Calibri"/>
            </a:endParaRPr>
          </a:p>
          <a:p>
            <a:pPr marL="355600" marR="100965" indent="-342900">
              <a:lnSpc>
                <a:spcPts val="24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dirty="0">
                <a:latin typeface="Calibri"/>
                <a:cs typeface="Calibri"/>
              </a:rPr>
              <a:t>Between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iterations,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IDA*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retains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only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single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number;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the </a:t>
            </a:r>
            <a:r>
              <a:rPr sz="2500" dirty="0">
                <a:latin typeface="Calibri"/>
                <a:cs typeface="Calibri"/>
              </a:rPr>
              <a:t>current</a:t>
            </a:r>
            <a:r>
              <a:rPr sz="2500" spc="-95" dirty="0">
                <a:latin typeface="Calibri"/>
                <a:cs typeface="Calibri"/>
              </a:rPr>
              <a:t> </a:t>
            </a:r>
            <a:r>
              <a:rPr sz="2500" i="1" spc="-10" dirty="0">
                <a:latin typeface="Calibri"/>
                <a:cs typeface="Calibri"/>
              </a:rPr>
              <a:t>f-</a:t>
            </a:r>
            <a:r>
              <a:rPr sz="2500" dirty="0">
                <a:latin typeface="Calibri"/>
                <a:cs typeface="Calibri"/>
              </a:rPr>
              <a:t>cost</a:t>
            </a:r>
            <a:r>
              <a:rPr sz="2500" spc="-11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limit</a:t>
            </a:r>
            <a:endParaRPr sz="2500" dirty="0">
              <a:latin typeface="Calibri"/>
              <a:cs typeface="Calibri"/>
            </a:endParaRPr>
          </a:p>
          <a:p>
            <a:pPr marL="355600" marR="110489" indent="-342900">
              <a:lnSpc>
                <a:spcPts val="24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dirty="0">
                <a:latin typeface="Calibri"/>
                <a:cs typeface="Calibri"/>
              </a:rPr>
              <a:t>RBFS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retains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more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information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in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memory,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but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it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uses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only </a:t>
            </a:r>
            <a:r>
              <a:rPr sz="2500" dirty="0">
                <a:latin typeface="Calibri"/>
                <a:cs typeface="Calibri"/>
              </a:rPr>
              <a:t>linear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space</a:t>
            </a:r>
            <a:endParaRPr sz="2500" dirty="0">
              <a:latin typeface="Calibri"/>
              <a:cs typeface="Calibri"/>
            </a:endParaRPr>
          </a:p>
          <a:p>
            <a:pPr marL="355600" marR="273050" indent="-342900">
              <a:lnSpc>
                <a:spcPts val="24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dirty="0">
                <a:latin typeface="Calibri"/>
                <a:cs typeface="Calibri"/>
              </a:rPr>
              <a:t>Even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if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more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memory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were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available,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RBFS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has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no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way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to </a:t>
            </a:r>
            <a:r>
              <a:rPr sz="2500" dirty="0">
                <a:latin typeface="Calibri"/>
                <a:cs typeface="Calibri"/>
              </a:rPr>
              <a:t>make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use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it</a:t>
            </a:r>
            <a:endParaRPr sz="2500" dirty="0">
              <a:latin typeface="Calibri"/>
              <a:cs typeface="Calibri"/>
            </a:endParaRPr>
          </a:p>
          <a:p>
            <a:pPr marL="355600" marR="5080" indent="-342900">
              <a:lnSpc>
                <a:spcPct val="80000"/>
              </a:lnSpc>
              <a:spcBef>
                <a:spcPts val="625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dirty="0">
                <a:latin typeface="Calibri"/>
                <a:cs typeface="Calibri"/>
              </a:rPr>
              <a:t>Because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they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forget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most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what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they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have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done,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both </a:t>
            </a:r>
            <a:r>
              <a:rPr sz="2500" dirty="0">
                <a:latin typeface="Calibri"/>
                <a:cs typeface="Calibri"/>
              </a:rPr>
              <a:t>algorithms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may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end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up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re-</a:t>
            </a:r>
            <a:r>
              <a:rPr sz="2500" dirty="0">
                <a:latin typeface="Calibri"/>
                <a:cs typeface="Calibri"/>
              </a:rPr>
              <a:t>expanding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same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states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many </a:t>
            </a:r>
            <a:r>
              <a:rPr sz="2500" dirty="0">
                <a:latin typeface="Calibri"/>
                <a:cs typeface="Calibri"/>
              </a:rPr>
              <a:t>times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over</a:t>
            </a:r>
            <a:endParaRPr sz="2500" dirty="0">
              <a:latin typeface="Calibri"/>
              <a:cs typeface="Calibri"/>
            </a:endParaRPr>
          </a:p>
          <a:p>
            <a:pPr marL="355600" marR="149860" indent="-342900">
              <a:lnSpc>
                <a:spcPct val="800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spc="-10" dirty="0">
                <a:latin typeface="Calibri"/>
                <a:cs typeface="Calibri"/>
              </a:rPr>
              <a:t>Furthermore,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they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suffer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potentially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exponential </a:t>
            </a:r>
            <a:r>
              <a:rPr sz="2500" dirty="0">
                <a:latin typeface="Calibri"/>
                <a:cs typeface="Calibri"/>
              </a:rPr>
              <a:t>increase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in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complexity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associated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with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redundant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paths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in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graphs</a:t>
            </a:r>
            <a:endParaRPr sz="2500" dirty="0">
              <a:latin typeface="Calibri"/>
              <a:cs typeface="Calibri"/>
            </a:endParaRPr>
          </a:p>
          <a:p>
            <a:pPr marL="355600" marR="578485" indent="-342900">
              <a:lnSpc>
                <a:spcPts val="24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spc="-10" dirty="0">
                <a:latin typeface="Calibri"/>
                <a:cs typeface="Calibri"/>
              </a:rPr>
              <a:t>Two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algorithms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that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use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all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available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memory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are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b="1" spc="-25" dirty="0">
                <a:latin typeface="Calibri"/>
                <a:cs typeface="Calibri"/>
              </a:rPr>
              <a:t>MA* </a:t>
            </a:r>
            <a:r>
              <a:rPr sz="2500" spc="-20" dirty="0">
                <a:latin typeface="Calibri"/>
                <a:cs typeface="Calibri"/>
              </a:rPr>
              <a:t>(memory-</a:t>
            </a:r>
            <a:r>
              <a:rPr sz="2500" dirty="0">
                <a:latin typeface="Calibri"/>
                <a:cs typeface="Calibri"/>
              </a:rPr>
              <a:t>bounded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A*)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SMA*</a:t>
            </a:r>
            <a:r>
              <a:rPr sz="2500" b="1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(simplified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MA*)</a:t>
            </a:r>
            <a:endParaRPr sz="2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323066" y="6464680"/>
            <a:ext cx="2197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240"/>
                </a:lnSpc>
              </a:pPr>
              <a:t>24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54166" y="160949"/>
            <a:ext cx="7551924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Memory-bounded</a:t>
            </a:r>
            <a:r>
              <a:rPr sz="3600" spc="-95" dirty="0"/>
              <a:t> </a:t>
            </a:r>
            <a:r>
              <a:rPr sz="3600" dirty="0"/>
              <a:t>heuristic</a:t>
            </a:r>
            <a:r>
              <a:rPr sz="3600" spc="-65" dirty="0"/>
              <a:t> </a:t>
            </a:r>
            <a:r>
              <a:rPr sz="3600" dirty="0"/>
              <a:t>search</a:t>
            </a:r>
            <a:r>
              <a:rPr sz="3600" spc="-65" dirty="0"/>
              <a:t> </a:t>
            </a:r>
            <a:r>
              <a:rPr sz="3600" spc="-10" dirty="0"/>
              <a:t>(contd.)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2061527" y="1641816"/>
            <a:ext cx="8068945" cy="505523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55600" marR="33655" indent="-342900">
              <a:lnSpc>
                <a:spcPts val="2110"/>
              </a:lnSpc>
              <a:spcBef>
                <a:spcPts val="60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SMA*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proceeds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just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like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A*,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expanding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best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leaf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until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memory</a:t>
            </a:r>
            <a:r>
              <a:rPr sz="2200" spc="-25" dirty="0">
                <a:latin typeface="Calibri"/>
                <a:cs typeface="Calibri"/>
              </a:rPr>
              <a:t> is </a:t>
            </a:r>
            <a:r>
              <a:rPr sz="2200" spc="-20" dirty="0">
                <a:latin typeface="Calibri"/>
                <a:cs typeface="Calibri"/>
              </a:rPr>
              <a:t>full</a:t>
            </a:r>
            <a:endParaRPr sz="2200" dirty="0">
              <a:latin typeface="Calibri"/>
              <a:cs typeface="Calibri"/>
            </a:endParaRPr>
          </a:p>
          <a:p>
            <a:pPr marL="355600" marR="280035" indent="-342900">
              <a:lnSpc>
                <a:spcPct val="80000"/>
              </a:lnSpc>
              <a:spcBef>
                <a:spcPts val="55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At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point,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cannot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new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node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search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tree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without </a:t>
            </a:r>
            <a:r>
              <a:rPr sz="2200" dirty="0">
                <a:latin typeface="Calibri"/>
                <a:cs typeface="Calibri"/>
              </a:rPr>
              <a:t>dropping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old</a:t>
            </a:r>
            <a:r>
              <a:rPr sz="2200" spc="-25" dirty="0">
                <a:latin typeface="Calibri"/>
                <a:cs typeface="Calibri"/>
              </a:rPr>
              <a:t> one</a:t>
            </a:r>
            <a:endParaRPr sz="2200" dirty="0">
              <a:latin typeface="Calibri"/>
              <a:cs typeface="Calibri"/>
            </a:endParaRPr>
          </a:p>
          <a:p>
            <a:pPr marL="355600" marR="137795" indent="-342900">
              <a:lnSpc>
                <a:spcPct val="8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SMA*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always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drops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worst</a:t>
            </a:r>
            <a:r>
              <a:rPr sz="2200" i="1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leaf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–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4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highest </a:t>
            </a:r>
            <a:r>
              <a:rPr sz="2200" i="1" spc="-10" dirty="0">
                <a:latin typeface="Calibri"/>
                <a:cs typeface="Calibri"/>
              </a:rPr>
              <a:t>f-</a:t>
            </a:r>
            <a:r>
              <a:rPr sz="2200" spc="-10" dirty="0">
                <a:latin typeface="Calibri"/>
                <a:cs typeface="Calibri"/>
              </a:rPr>
              <a:t>values</a:t>
            </a:r>
            <a:endParaRPr sz="2200" dirty="0">
              <a:latin typeface="Calibri"/>
              <a:cs typeface="Calibri"/>
            </a:endParaRPr>
          </a:p>
          <a:p>
            <a:pPr marL="355600" marR="283845" indent="-342900">
              <a:lnSpc>
                <a:spcPct val="8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Like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RBFS,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SMA*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backs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up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value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forgotten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node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to </a:t>
            </a:r>
            <a:r>
              <a:rPr sz="2200" dirty="0">
                <a:latin typeface="Calibri"/>
                <a:cs typeface="Calibri"/>
              </a:rPr>
              <a:t>its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parent</a:t>
            </a:r>
            <a:endParaRPr sz="2200" dirty="0">
              <a:latin typeface="Calibri"/>
              <a:cs typeface="Calibri"/>
            </a:endParaRPr>
          </a:p>
          <a:p>
            <a:pPr marL="354965" indent="-342265">
              <a:lnSpc>
                <a:spcPts val="2375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In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way,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ancestor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forgotten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subtree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quality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of</a:t>
            </a:r>
            <a:endParaRPr sz="2200" dirty="0">
              <a:latin typeface="Calibri"/>
              <a:cs typeface="Calibri"/>
            </a:endParaRPr>
          </a:p>
          <a:p>
            <a:pPr marL="355600">
              <a:lnSpc>
                <a:spcPts val="2375"/>
              </a:lnSpc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best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path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subtree</a:t>
            </a:r>
            <a:endParaRPr sz="2200" dirty="0">
              <a:latin typeface="Calibri"/>
              <a:cs typeface="Calibri"/>
            </a:endParaRPr>
          </a:p>
          <a:p>
            <a:pPr marL="355600" marR="121285" indent="-342900">
              <a:lnSpc>
                <a:spcPts val="2110"/>
              </a:lnSpc>
              <a:spcBef>
                <a:spcPts val="51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With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information,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SMA*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regenerates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subtree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only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when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all </a:t>
            </a:r>
            <a:r>
              <a:rPr sz="2200" dirty="0">
                <a:latin typeface="Calibri"/>
                <a:cs typeface="Calibri"/>
              </a:rPr>
              <a:t>other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paths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have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been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shown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look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worse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path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has </a:t>
            </a:r>
            <a:r>
              <a:rPr sz="2200" spc="-10" dirty="0">
                <a:latin typeface="Calibri"/>
                <a:cs typeface="Calibri"/>
              </a:rPr>
              <a:t>forgotten</a:t>
            </a:r>
            <a:endParaRPr sz="2200" dirty="0">
              <a:latin typeface="Calibri"/>
              <a:cs typeface="Calibri"/>
            </a:endParaRPr>
          </a:p>
          <a:p>
            <a:pPr marL="355600" marR="5080" indent="-342900">
              <a:lnSpc>
                <a:spcPct val="80000"/>
              </a:lnSpc>
              <a:spcBef>
                <a:spcPts val="55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Another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way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saying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if</a:t>
            </a:r>
            <a:r>
              <a:rPr sz="2200" spc="4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descendants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node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i="1" spc="-50" dirty="0">
                <a:latin typeface="Calibri"/>
                <a:cs typeface="Calibri"/>
              </a:rPr>
              <a:t>n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forgotten,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will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way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n,</a:t>
            </a:r>
            <a:r>
              <a:rPr sz="2200" i="1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but</a:t>
            </a:r>
            <a:r>
              <a:rPr sz="2200" dirty="0">
                <a:latin typeface="Calibri"/>
                <a:cs typeface="Calibri"/>
              </a:rPr>
              <a:t> we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will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still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have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idea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how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worthwhile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anywhere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i="1" spc="-60" dirty="0">
                <a:latin typeface="Calibri"/>
                <a:cs typeface="Calibri"/>
              </a:rPr>
              <a:t>n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323066" y="6464680"/>
            <a:ext cx="2197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240"/>
                </a:lnSpc>
              </a:pPr>
              <a:t>25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90472" y="67502"/>
            <a:ext cx="6195317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Memory-bounded</a:t>
            </a:r>
            <a:r>
              <a:rPr sz="3200" spc="-110" dirty="0"/>
              <a:t> </a:t>
            </a:r>
            <a:r>
              <a:rPr sz="3200" dirty="0"/>
              <a:t>heuristic</a:t>
            </a:r>
            <a:r>
              <a:rPr sz="3200" spc="-90" dirty="0"/>
              <a:t> </a:t>
            </a:r>
            <a:r>
              <a:rPr sz="3200" dirty="0"/>
              <a:t>search</a:t>
            </a:r>
            <a:r>
              <a:rPr sz="3200" spc="-110" dirty="0"/>
              <a:t> </a:t>
            </a:r>
            <a:r>
              <a:rPr sz="3200" spc="-10" dirty="0"/>
              <a:t>(contd.)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2077148" y="1409445"/>
            <a:ext cx="8036559" cy="50552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267335" indent="-342900">
              <a:lnSpc>
                <a:spcPts val="24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dirty="0">
                <a:latin typeface="Calibri"/>
                <a:cs typeface="Calibri"/>
              </a:rPr>
              <a:t>If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all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leaf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nodes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have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same</a:t>
            </a:r>
            <a:r>
              <a:rPr sz="2500" spc="-25" dirty="0">
                <a:latin typeface="Calibri"/>
                <a:cs typeface="Calibri"/>
              </a:rPr>
              <a:t> </a:t>
            </a:r>
            <a:r>
              <a:rPr sz="2500" i="1" spc="-10" dirty="0">
                <a:latin typeface="Calibri"/>
                <a:cs typeface="Calibri"/>
              </a:rPr>
              <a:t>f-</a:t>
            </a:r>
            <a:r>
              <a:rPr sz="2500" dirty="0">
                <a:latin typeface="Calibri"/>
                <a:cs typeface="Calibri"/>
              </a:rPr>
              <a:t>value,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SMA*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expands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i="1" dirty="0">
                <a:latin typeface="Calibri"/>
                <a:cs typeface="Calibri"/>
              </a:rPr>
              <a:t>newest</a:t>
            </a:r>
            <a:r>
              <a:rPr sz="2500" i="1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best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leaf</a:t>
            </a:r>
            <a:r>
              <a:rPr sz="2500" spc="-9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deletes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i="1" dirty="0">
                <a:latin typeface="Calibri"/>
                <a:cs typeface="Calibri"/>
              </a:rPr>
              <a:t>oldest</a:t>
            </a:r>
            <a:r>
              <a:rPr sz="2500" i="1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worst</a:t>
            </a:r>
            <a:r>
              <a:rPr sz="2500" spc="-90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leaf</a:t>
            </a:r>
            <a:endParaRPr sz="2500" dirty="0">
              <a:latin typeface="Calibri"/>
              <a:cs typeface="Calibri"/>
            </a:endParaRPr>
          </a:p>
          <a:p>
            <a:pPr marL="355600" marR="5080" indent="-342900">
              <a:lnSpc>
                <a:spcPts val="24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dirty="0">
                <a:latin typeface="Calibri"/>
                <a:cs typeface="Calibri"/>
              </a:rPr>
              <a:t>These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coincide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when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there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only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one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leaf,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but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in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that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case,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current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search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tree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must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single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path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from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root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to </a:t>
            </a:r>
            <a:r>
              <a:rPr sz="2500" dirty="0">
                <a:latin typeface="Calibri"/>
                <a:cs typeface="Calibri"/>
              </a:rPr>
              <a:t>leaf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that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fills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all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memory</a:t>
            </a:r>
            <a:endParaRPr sz="2500" dirty="0">
              <a:latin typeface="Calibri"/>
              <a:cs typeface="Calibri"/>
            </a:endParaRPr>
          </a:p>
          <a:p>
            <a:pPr marL="355600" marR="51435" indent="-342900">
              <a:lnSpc>
                <a:spcPct val="80000"/>
              </a:lnSpc>
              <a:spcBef>
                <a:spcPts val="62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dirty="0">
                <a:latin typeface="Calibri"/>
                <a:cs typeface="Calibri"/>
              </a:rPr>
              <a:t>If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1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leaf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not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goal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node,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then</a:t>
            </a:r>
            <a:r>
              <a:rPr sz="2500" spc="-20" dirty="0">
                <a:latin typeface="Calibri"/>
                <a:cs typeface="Calibri"/>
              </a:rPr>
              <a:t> </a:t>
            </a:r>
            <a:r>
              <a:rPr sz="2500" i="1" dirty="0">
                <a:latin typeface="Calibri"/>
                <a:cs typeface="Calibri"/>
              </a:rPr>
              <a:t>even</a:t>
            </a:r>
            <a:r>
              <a:rPr sz="2500" i="1" spc="-25" dirty="0">
                <a:latin typeface="Calibri"/>
                <a:cs typeface="Calibri"/>
              </a:rPr>
              <a:t> </a:t>
            </a:r>
            <a:r>
              <a:rPr sz="2500" i="1" dirty="0">
                <a:latin typeface="Calibri"/>
                <a:cs typeface="Calibri"/>
              </a:rPr>
              <a:t>if</a:t>
            </a:r>
            <a:r>
              <a:rPr sz="2500" i="1" spc="-35" dirty="0">
                <a:latin typeface="Calibri"/>
                <a:cs typeface="Calibri"/>
              </a:rPr>
              <a:t> </a:t>
            </a:r>
            <a:r>
              <a:rPr sz="2500" i="1" dirty="0">
                <a:latin typeface="Calibri"/>
                <a:cs typeface="Calibri"/>
              </a:rPr>
              <a:t>it</a:t>
            </a:r>
            <a:r>
              <a:rPr sz="2500" i="1" spc="-35" dirty="0">
                <a:latin typeface="Calibri"/>
                <a:cs typeface="Calibri"/>
              </a:rPr>
              <a:t> </a:t>
            </a:r>
            <a:r>
              <a:rPr sz="2500" i="1" dirty="0">
                <a:latin typeface="Calibri"/>
                <a:cs typeface="Calibri"/>
              </a:rPr>
              <a:t>is</a:t>
            </a:r>
            <a:r>
              <a:rPr sz="2500" i="1" spc="-40" dirty="0">
                <a:latin typeface="Calibri"/>
                <a:cs typeface="Calibri"/>
              </a:rPr>
              <a:t> </a:t>
            </a:r>
            <a:r>
              <a:rPr sz="2500" i="1" dirty="0">
                <a:latin typeface="Calibri"/>
                <a:cs typeface="Calibri"/>
              </a:rPr>
              <a:t>on</a:t>
            </a:r>
            <a:r>
              <a:rPr sz="2500" i="1" spc="-25" dirty="0">
                <a:latin typeface="Calibri"/>
                <a:cs typeface="Calibri"/>
              </a:rPr>
              <a:t> </a:t>
            </a:r>
            <a:r>
              <a:rPr sz="2500" i="1" dirty="0">
                <a:latin typeface="Calibri"/>
                <a:cs typeface="Calibri"/>
              </a:rPr>
              <a:t>an</a:t>
            </a:r>
            <a:r>
              <a:rPr sz="2500" i="1" spc="-35" dirty="0">
                <a:latin typeface="Calibri"/>
                <a:cs typeface="Calibri"/>
              </a:rPr>
              <a:t> </a:t>
            </a:r>
            <a:r>
              <a:rPr sz="2500" i="1" spc="-10" dirty="0">
                <a:latin typeface="Calibri"/>
                <a:cs typeface="Calibri"/>
              </a:rPr>
              <a:t>optimal </a:t>
            </a:r>
            <a:r>
              <a:rPr sz="2500" i="1" dirty="0">
                <a:latin typeface="Calibri"/>
                <a:cs typeface="Calibri"/>
              </a:rPr>
              <a:t>solution</a:t>
            </a:r>
            <a:r>
              <a:rPr sz="2500" i="1" spc="-55" dirty="0">
                <a:latin typeface="Calibri"/>
                <a:cs typeface="Calibri"/>
              </a:rPr>
              <a:t> </a:t>
            </a:r>
            <a:r>
              <a:rPr sz="2500" i="1" dirty="0">
                <a:latin typeface="Calibri"/>
                <a:cs typeface="Calibri"/>
              </a:rPr>
              <a:t>path,</a:t>
            </a:r>
            <a:r>
              <a:rPr sz="2500" i="1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that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solution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not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reachable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with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the </a:t>
            </a:r>
            <a:r>
              <a:rPr sz="2500" spc="-10" dirty="0">
                <a:latin typeface="Calibri"/>
                <a:cs typeface="Calibri"/>
              </a:rPr>
              <a:t>available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memory</a:t>
            </a:r>
            <a:endParaRPr sz="2500" dirty="0">
              <a:latin typeface="Calibri"/>
              <a:cs typeface="Calibri"/>
            </a:endParaRPr>
          </a:p>
          <a:p>
            <a:pPr marL="355600" marR="88900" indent="-342900">
              <a:lnSpc>
                <a:spcPts val="24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spc="-20" dirty="0">
                <a:latin typeface="Calibri"/>
                <a:cs typeface="Calibri"/>
              </a:rPr>
              <a:t>Therefore,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node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can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be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discarded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exactly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as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if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it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had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no </a:t>
            </a:r>
            <a:r>
              <a:rPr sz="2500" spc="-10" dirty="0">
                <a:latin typeface="Calibri"/>
                <a:cs typeface="Calibri"/>
              </a:rPr>
              <a:t>successor</a:t>
            </a:r>
            <a:endParaRPr sz="2500" dirty="0">
              <a:latin typeface="Calibri"/>
              <a:cs typeface="Calibri"/>
            </a:endParaRPr>
          </a:p>
          <a:p>
            <a:pPr marL="355600" marR="265430" indent="-342900" algn="just">
              <a:lnSpc>
                <a:spcPct val="80000"/>
              </a:lnSpc>
              <a:spcBef>
                <a:spcPts val="620"/>
              </a:spcBef>
              <a:buFont typeface="Arial MT"/>
              <a:buChar char="•"/>
              <a:tabLst>
                <a:tab pos="355600" algn="l"/>
                <a:tab pos="356870" algn="l"/>
              </a:tabLst>
            </a:pPr>
            <a:r>
              <a:rPr sz="2500" dirty="0">
                <a:latin typeface="Calibri"/>
                <a:cs typeface="Calibri"/>
              </a:rPr>
              <a:t>	SMA*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complete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if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there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any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reachable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solution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–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that </a:t>
            </a:r>
            <a:r>
              <a:rPr sz="2500" dirty="0">
                <a:latin typeface="Calibri"/>
                <a:cs typeface="Calibri"/>
              </a:rPr>
              <a:t>is,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if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i="1" dirty="0">
                <a:latin typeface="Calibri"/>
                <a:cs typeface="Calibri"/>
              </a:rPr>
              <a:t>d,</a:t>
            </a:r>
            <a:r>
              <a:rPr sz="2500" i="1" spc="-2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depth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shallowest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goal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node,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less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than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memory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size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(expressed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in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nodes)</a:t>
            </a:r>
            <a:endParaRPr sz="2500" dirty="0">
              <a:latin typeface="Calibri"/>
              <a:cs typeface="Calibri"/>
            </a:endParaRPr>
          </a:p>
          <a:p>
            <a:pPr marL="355600" marR="72390" indent="-342900" algn="just">
              <a:lnSpc>
                <a:spcPts val="24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  <a:tab pos="356870" algn="l"/>
              </a:tabLst>
            </a:pPr>
            <a:r>
              <a:rPr sz="2500" dirty="0">
                <a:latin typeface="Calibri"/>
                <a:cs typeface="Calibri"/>
              </a:rPr>
              <a:t>	It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optimal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if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any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optimal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solution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reachable;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otherwise, </a:t>
            </a:r>
            <a:r>
              <a:rPr sz="2500" dirty="0">
                <a:latin typeface="Calibri"/>
                <a:cs typeface="Calibri"/>
              </a:rPr>
              <a:t>it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returns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best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reachable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solution</a:t>
            </a:r>
            <a:endParaRPr sz="2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323066" y="6464680"/>
            <a:ext cx="2197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240"/>
                </a:lnSpc>
              </a:pPr>
              <a:t>26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37841" y="309499"/>
            <a:ext cx="71151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Memory-bounded</a:t>
            </a:r>
            <a:r>
              <a:rPr sz="3200" spc="-110" dirty="0"/>
              <a:t> </a:t>
            </a:r>
            <a:r>
              <a:rPr sz="3200" dirty="0"/>
              <a:t>heuristic</a:t>
            </a:r>
            <a:r>
              <a:rPr sz="3200" spc="-90" dirty="0"/>
              <a:t> </a:t>
            </a:r>
            <a:r>
              <a:rPr sz="3200" dirty="0"/>
              <a:t>search</a:t>
            </a:r>
            <a:r>
              <a:rPr sz="3200" spc="-110" dirty="0"/>
              <a:t> </a:t>
            </a:r>
            <a:r>
              <a:rPr sz="3200" spc="-10" dirty="0"/>
              <a:t>(contd.)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060194" y="853567"/>
            <a:ext cx="7933690" cy="490283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spcBef>
                <a:spcPts val="695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dirty="0">
                <a:latin typeface="Calibri"/>
                <a:cs typeface="Calibri"/>
              </a:rPr>
              <a:t>In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practical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terms,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SMA*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fairly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robust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choice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for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finding </a:t>
            </a:r>
            <a:r>
              <a:rPr sz="2500" dirty="0">
                <a:latin typeface="Calibri"/>
                <a:cs typeface="Calibri"/>
              </a:rPr>
              <a:t>optimal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solutions,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particularly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when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state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space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50" dirty="0">
                <a:latin typeface="Calibri"/>
                <a:cs typeface="Calibri"/>
              </a:rPr>
              <a:t>a </a:t>
            </a:r>
            <a:r>
              <a:rPr sz="2500" dirty="0">
                <a:latin typeface="Calibri"/>
                <a:cs typeface="Calibri"/>
              </a:rPr>
              <a:t>graph,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step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costs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are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not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uniform,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node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generation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is </a:t>
            </a:r>
            <a:r>
              <a:rPr sz="2500" spc="-10" dirty="0">
                <a:latin typeface="Calibri"/>
                <a:cs typeface="Calibri"/>
              </a:rPr>
              <a:t>expensive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compared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to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overhead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maintaining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the </a:t>
            </a:r>
            <a:r>
              <a:rPr sz="2500" dirty="0">
                <a:latin typeface="Calibri"/>
                <a:cs typeface="Calibri"/>
              </a:rPr>
              <a:t>frontier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explored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set</a:t>
            </a:r>
            <a:endParaRPr sz="2500">
              <a:latin typeface="Calibri"/>
              <a:cs typeface="Calibri"/>
            </a:endParaRPr>
          </a:p>
          <a:p>
            <a:pPr marL="355600" marR="73660" indent="-342900">
              <a:lnSpc>
                <a:spcPct val="800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dirty="0">
                <a:latin typeface="Calibri"/>
                <a:cs typeface="Calibri"/>
              </a:rPr>
              <a:t>On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very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hard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problems,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spc="-35" dirty="0">
                <a:latin typeface="Calibri"/>
                <a:cs typeface="Calibri"/>
              </a:rPr>
              <a:t>however,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it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will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often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case </a:t>
            </a:r>
            <a:r>
              <a:rPr sz="2500" dirty="0">
                <a:latin typeface="Calibri"/>
                <a:cs typeface="Calibri"/>
              </a:rPr>
              <a:t>that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SMA*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forced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to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switch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back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forth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continually </a:t>
            </a:r>
            <a:r>
              <a:rPr sz="2500" dirty="0">
                <a:latin typeface="Calibri"/>
                <a:cs typeface="Calibri"/>
              </a:rPr>
              <a:t>among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many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candidate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solution</a:t>
            </a:r>
            <a:r>
              <a:rPr sz="2500" spc="-9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paths,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only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small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subset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which</a:t>
            </a:r>
            <a:r>
              <a:rPr sz="2500" spc="50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can</a:t>
            </a:r>
            <a:r>
              <a:rPr sz="2500" spc="-2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fit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in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memory</a:t>
            </a:r>
            <a:endParaRPr sz="2500">
              <a:latin typeface="Calibri"/>
              <a:cs typeface="Calibri"/>
            </a:endParaRPr>
          </a:p>
          <a:p>
            <a:pPr marL="355600" marR="105410" indent="-342900">
              <a:lnSpc>
                <a:spcPct val="800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dirty="0">
                <a:latin typeface="Calibri"/>
                <a:cs typeface="Calibri"/>
              </a:rPr>
              <a:t>Then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extra</a:t>
            </a:r>
            <a:r>
              <a:rPr sz="2500" spc="-9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time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required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for</a:t>
            </a:r>
            <a:r>
              <a:rPr sz="2500" spc="-9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repeated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regeneration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of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same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nodes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means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that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problems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that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would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be </a:t>
            </a:r>
            <a:r>
              <a:rPr sz="2500" spc="-10" dirty="0">
                <a:latin typeface="Calibri"/>
                <a:cs typeface="Calibri"/>
              </a:rPr>
              <a:t>practically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solvable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by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A*,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given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unlimited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memory, </a:t>
            </a:r>
            <a:r>
              <a:rPr sz="2500" dirty="0">
                <a:latin typeface="Calibri"/>
                <a:cs typeface="Calibri"/>
              </a:rPr>
              <a:t>become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intractable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for</a:t>
            </a:r>
            <a:r>
              <a:rPr sz="2500" spc="-90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SMA*</a:t>
            </a:r>
            <a:endParaRPr sz="2500">
              <a:latin typeface="Calibri"/>
              <a:cs typeface="Calibri"/>
            </a:endParaRPr>
          </a:p>
          <a:p>
            <a:pPr marL="355600" marR="269875" indent="-342900">
              <a:lnSpc>
                <a:spcPts val="24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dirty="0">
                <a:latin typeface="Calibri"/>
                <a:cs typeface="Calibri"/>
              </a:rPr>
              <a:t>This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means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that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i="1" dirty="0">
                <a:latin typeface="Calibri"/>
                <a:cs typeface="Calibri"/>
              </a:rPr>
              <a:t>memory</a:t>
            </a:r>
            <a:r>
              <a:rPr sz="2500" i="1" spc="-55" dirty="0">
                <a:latin typeface="Calibri"/>
                <a:cs typeface="Calibri"/>
              </a:rPr>
              <a:t> </a:t>
            </a:r>
            <a:r>
              <a:rPr sz="2500" i="1" spc="-10" dirty="0">
                <a:latin typeface="Calibri"/>
                <a:cs typeface="Calibri"/>
              </a:rPr>
              <a:t>limitations</a:t>
            </a:r>
            <a:r>
              <a:rPr sz="2500" i="1" spc="-65" dirty="0">
                <a:latin typeface="Calibri"/>
                <a:cs typeface="Calibri"/>
              </a:rPr>
              <a:t> </a:t>
            </a:r>
            <a:r>
              <a:rPr sz="2500" i="1" dirty="0">
                <a:latin typeface="Calibri"/>
                <a:cs typeface="Calibri"/>
              </a:rPr>
              <a:t>can</a:t>
            </a:r>
            <a:r>
              <a:rPr sz="2500" i="1" spc="-75" dirty="0">
                <a:latin typeface="Calibri"/>
                <a:cs typeface="Calibri"/>
              </a:rPr>
              <a:t> </a:t>
            </a:r>
            <a:r>
              <a:rPr sz="2500" i="1" dirty="0">
                <a:latin typeface="Calibri"/>
                <a:cs typeface="Calibri"/>
              </a:rPr>
              <a:t>make</a:t>
            </a:r>
            <a:r>
              <a:rPr sz="2500" i="1" spc="-60" dirty="0">
                <a:latin typeface="Calibri"/>
                <a:cs typeface="Calibri"/>
              </a:rPr>
              <a:t> </a:t>
            </a:r>
            <a:r>
              <a:rPr sz="2500" i="1" dirty="0">
                <a:latin typeface="Calibri"/>
                <a:cs typeface="Calibri"/>
              </a:rPr>
              <a:t>a</a:t>
            </a:r>
            <a:r>
              <a:rPr sz="2500" i="1" spc="-60" dirty="0">
                <a:latin typeface="Calibri"/>
                <a:cs typeface="Calibri"/>
              </a:rPr>
              <a:t> </a:t>
            </a:r>
            <a:r>
              <a:rPr sz="2500" i="1" spc="-10" dirty="0">
                <a:latin typeface="Calibri"/>
                <a:cs typeface="Calibri"/>
              </a:rPr>
              <a:t>problem intractable</a:t>
            </a:r>
            <a:r>
              <a:rPr sz="2500" i="1" spc="-30" dirty="0">
                <a:latin typeface="Calibri"/>
                <a:cs typeface="Calibri"/>
              </a:rPr>
              <a:t> </a:t>
            </a:r>
            <a:r>
              <a:rPr sz="2500" i="1" dirty="0">
                <a:latin typeface="Calibri"/>
                <a:cs typeface="Calibri"/>
              </a:rPr>
              <a:t>from</a:t>
            </a:r>
            <a:r>
              <a:rPr sz="2500" i="1" spc="-30" dirty="0">
                <a:latin typeface="Calibri"/>
                <a:cs typeface="Calibri"/>
              </a:rPr>
              <a:t> </a:t>
            </a:r>
            <a:r>
              <a:rPr sz="2500" i="1" dirty="0">
                <a:latin typeface="Calibri"/>
                <a:cs typeface="Calibri"/>
              </a:rPr>
              <a:t>the</a:t>
            </a:r>
            <a:r>
              <a:rPr sz="2500" i="1" spc="475" dirty="0">
                <a:latin typeface="Calibri"/>
                <a:cs typeface="Calibri"/>
              </a:rPr>
              <a:t> </a:t>
            </a:r>
            <a:r>
              <a:rPr sz="2500" i="1" dirty="0">
                <a:latin typeface="Calibri"/>
                <a:cs typeface="Calibri"/>
              </a:rPr>
              <a:t>point</a:t>
            </a:r>
            <a:r>
              <a:rPr sz="2500" i="1" spc="-50" dirty="0">
                <a:latin typeface="Calibri"/>
                <a:cs typeface="Calibri"/>
              </a:rPr>
              <a:t> </a:t>
            </a:r>
            <a:r>
              <a:rPr sz="2500" i="1" dirty="0">
                <a:latin typeface="Calibri"/>
                <a:cs typeface="Calibri"/>
              </a:rPr>
              <a:t>of</a:t>
            </a:r>
            <a:r>
              <a:rPr sz="2500" i="1" spc="-40" dirty="0">
                <a:latin typeface="Calibri"/>
                <a:cs typeface="Calibri"/>
              </a:rPr>
              <a:t> </a:t>
            </a:r>
            <a:r>
              <a:rPr sz="2500" i="1" dirty="0">
                <a:latin typeface="Calibri"/>
                <a:cs typeface="Calibri"/>
              </a:rPr>
              <a:t>view</a:t>
            </a:r>
            <a:r>
              <a:rPr sz="2500" i="1" spc="-50" dirty="0">
                <a:latin typeface="Calibri"/>
                <a:cs typeface="Calibri"/>
              </a:rPr>
              <a:t> </a:t>
            </a:r>
            <a:r>
              <a:rPr sz="2500" i="1" dirty="0">
                <a:latin typeface="Calibri"/>
                <a:cs typeface="Calibri"/>
              </a:rPr>
              <a:t>of</a:t>
            </a:r>
            <a:r>
              <a:rPr sz="2500" i="1" spc="-40" dirty="0">
                <a:latin typeface="Calibri"/>
                <a:cs typeface="Calibri"/>
              </a:rPr>
              <a:t> </a:t>
            </a:r>
            <a:r>
              <a:rPr sz="2500" i="1" spc="-10" dirty="0">
                <a:latin typeface="Calibri"/>
                <a:cs typeface="Calibri"/>
              </a:rPr>
              <a:t>computation</a:t>
            </a:r>
            <a:r>
              <a:rPr sz="2500" i="1" spc="-40" dirty="0">
                <a:latin typeface="Calibri"/>
                <a:cs typeface="Calibri"/>
              </a:rPr>
              <a:t> </a:t>
            </a:r>
            <a:r>
              <a:rPr sz="2500" i="1" spc="-20" dirty="0">
                <a:latin typeface="Calibri"/>
                <a:cs typeface="Calibri"/>
              </a:rPr>
              <a:t>time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904875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Hill-</a:t>
            </a:r>
            <a:r>
              <a:rPr dirty="0"/>
              <a:t>Climbing</a:t>
            </a:r>
            <a:r>
              <a:rPr spc="-140" dirty="0"/>
              <a:t> </a:t>
            </a:r>
            <a:r>
              <a:rPr spc="-10"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9941" y="1611986"/>
            <a:ext cx="1682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200" spc="-50" dirty="0">
                <a:latin typeface="Arial MT"/>
                <a:cs typeface="Arial MT"/>
              </a:rPr>
              <a:t>•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9941" y="2587138"/>
            <a:ext cx="168275" cy="286956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spcBef>
                <a:spcPts val="735"/>
              </a:spcBef>
            </a:pPr>
            <a:r>
              <a:rPr sz="3200" spc="-50" dirty="0">
                <a:latin typeface="Arial MT"/>
                <a:cs typeface="Arial MT"/>
              </a:rPr>
              <a:t>•</a:t>
            </a:r>
            <a:endParaRPr sz="3200">
              <a:latin typeface="Arial MT"/>
              <a:cs typeface="Arial MT"/>
            </a:endParaRPr>
          </a:p>
          <a:p>
            <a:pPr marL="12700">
              <a:spcBef>
                <a:spcPts val="640"/>
              </a:spcBef>
            </a:pPr>
            <a:r>
              <a:rPr sz="3200" spc="-50" dirty="0">
                <a:latin typeface="Arial MT"/>
                <a:cs typeface="Arial MT"/>
              </a:rPr>
              <a:t>•</a:t>
            </a:r>
            <a:endParaRPr sz="3200">
              <a:latin typeface="Arial MT"/>
              <a:cs typeface="Arial MT"/>
            </a:endParaRPr>
          </a:p>
          <a:p>
            <a:pPr marL="12700">
              <a:spcBef>
                <a:spcPts val="640"/>
              </a:spcBef>
            </a:pPr>
            <a:r>
              <a:rPr sz="3200" spc="-50" dirty="0">
                <a:latin typeface="Arial MT"/>
                <a:cs typeface="Arial MT"/>
              </a:rPr>
              <a:t>•</a:t>
            </a:r>
            <a:endParaRPr sz="3200">
              <a:latin typeface="Arial MT"/>
              <a:cs typeface="Arial MT"/>
            </a:endParaRPr>
          </a:p>
          <a:p>
            <a:pPr marL="12700">
              <a:spcBef>
                <a:spcPts val="640"/>
              </a:spcBef>
            </a:pPr>
            <a:r>
              <a:rPr sz="3200" spc="-50" dirty="0">
                <a:latin typeface="Arial MT"/>
                <a:cs typeface="Arial MT"/>
              </a:rPr>
              <a:t>•</a:t>
            </a:r>
            <a:endParaRPr sz="3200">
              <a:latin typeface="Arial MT"/>
              <a:cs typeface="Arial MT"/>
            </a:endParaRPr>
          </a:p>
          <a:p>
            <a:pPr marL="12700">
              <a:spcBef>
                <a:spcPts val="635"/>
              </a:spcBef>
            </a:pPr>
            <a:r>
              <a:rPr sz="3200" spc="-50" dirty="0">
                <a:latin typeface="Arial MT"/>
                <a:cs typeface="Arial MT"/>
              </a:rPr>
              <a:t>•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3017" y="1633220"/>
            <a:ext cx="7564120" cy="4332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61035">
              <a:spcBef>
                <a:spcPts val="100"/>
              </a:spcBef>
              <a:tabLst>
                <a:tab pos="306070" algn="l"/>
              </a:tabLst>
            </a:pPr>
            <a:r>
              <a:rPr sz="3200" dirty="0">
                <a:latin typeface="Calibri"/>
                <a:cs typeface="Calibri"/>
              </a:rPr>
              <a:t>Starts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initial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solution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moves towards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best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neighboring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solution.</a:t>
            </a:r>
            <a:endParaRPr sz="3200" dirty="0">
              <a:latin typeface="Calibri"/>
              <a:cs typeface="Calibri"/>
            </a:endParaRPr>
          </a:p>
          <a:p>
            <a:pPr marL="12700">
              <a:spcBef>
                <a:spcPts val="635"/>
              </a:spcBef>
              <a:tabLst>
                <a:tab pos="306070" algn="l"/>
              </a:tabLst>
            </a:pPr>
            <a:r>
              <a:rPr sz="3200" spc="-10" dirty="0">
                <a:latin typeface="Calibri"/>
                <a:cs typeface="Calibri"/>
              </a:rPr>
              <a:t>Variants:</a:t>
            </a:r>
            <a:endParaRPr sz="3200" dirty="0">
              <a:latin typeface="Calibri"/>
              <a:cs typeface="Calibri"/>
            </a:endParaRPr>
          </a:p>
          <a:p>
            <a:pPr marL="501650" lvl="1" indent="-215265">
              <a:spcBef>
                <a:spcPts val="640"/>
              </a:spcBef>
              <a:buChar char="-"/>
              <a:tabLst>
                <a:tab pos="501650" algn="l"/>
              </a:tabLst>
            </a:pPr>
            <a:r>
              <a:rPr sz="3200" dirty="0">
                <a:latin typeface="Calibri"/>
                <a:cs typeface="Calibri"/>
              </a:rPr>
              <a:t>Simple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Hill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Climbing</a:t>
            </a:r>
            <a:endParaRPr sz="3200" dirty="0">
              <a:latin typeface="Calibri"/>
              <a:cs typeface="Calibri"/>
            </a:endParaRPr>
          </a:p>
          <a:p>
            <a:pPr marL="501650" lvl="1" indent="-215265">
              <a:spcBef>
                <a:spcPts val="640"/>
              </a:spcBef>
              <a:buChar char="-"/>
              <a:tabLst>
                <a:tab pos="501650" algn="l"/>
              </a:tabLst>
            </a:pPr>
            <a:r>
              <a:rPr sz="3200" spc="-35" dirty="0">
                <a:latin typeface="Calibri"/>
                <a:cs typeface="Calibri"/>
              </a:rPr>
              <a:t>Steepest-</a:t>
            </a:r>
            <a:r>
              <a:rPr sz="3200" dirty="0">
                <a:latin typeface="Calibri"/>
                <a:cs typeface="Calibri"/>
              </a:rPr>
              <a:t>Ascent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Hill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Climbing</a:t>
            </a:r>
            <a:endParaRPr sz="3200" dirty="0">
              <a:latin typeface="Calibri"/>
              <a:cs typeface="Calibri"/>
            </a:endParaRPr>
          </a:p>
          <a:p>
            <a:pPr marL="501650" lvl="1" indent="-215265">
              <a:spcBef>
                <a:spcPts val="635"/>
              </a:spcBef>
              <a:buChar char="-"/>
              <a:tabLst>
                <a:tab pos="501650" algn="l"/>
              </a:tabLst>
            </a:pPr>
            <a:r>
              <a:rPr sz="3200" spc="-10" dirty="0">
                <a:latin typeface="Calibri"/>
                <a:cs typeface="Calibri"/>
              </a:rPr>
              <a:t>Stochastic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Hill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Climbing</a:t>
            </a:r>
            <a:endParaRPr sz="3200" dirty="0">
              <a:latin typeface="Calibri"/>
              <a:cs typeface="Calibri"/>
            </a:endParaRPr>
          </a:p>
          <a:p>
            <a:pPr marL="12700" marR="5080">
              <a:spcBef>
                <a:spcPts val="640"/>
              </a:spcBef>
              <a:tabLst>
                <a:tab pos="306070" algn="l"/>
              </a:tabLst>
            </a:pPr>
            <a:r>
              <a:rPr sz="3200" dirty="0">
                <a:latin typeface="Calibri"/>
                <a:cs typeface="Calibri"/>
              </a:rPr>
              <a:t>Can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get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stuck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local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maxima,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plateaus,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and </a:t>
            </a:r>
            <a:r>
              <a:rPr sz="3200" spc="-10" dirty="0">
                <a:latin typeface="Calibri"/>
                <a:cs typeface="Calibri"/>
              </a:rPr>
              <a:t>ridges.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8303" y="521893"/>
            <a:ext cx="72555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b="1" spc="190" dirty="0">
                <a:solidFill>
                  <a:srgbClr val="263138"/>
                </a:solidFill>
                <a:latin typeface="Trebuchet MS"/>
                <a:cs typeface="Trebuchet MS"/>
              </a:rPr>
              <a:t>State-</a:t>
            </a:r>
            <a:r>
              <a:rPr b="1" spc="225" dirty="0">
                <a:solidFill>
                  <a:srgbClr val="263138"/>
                </a:solidFill>
                <a:latin typeface="Trebuchet MS"/>
                <a:cs typeface="Trebuchet MS"/>
              </a:rPr>
              <a:t>Space</a:t>
            </a:r>
            <a:r>
              <a:rPr b="1" spc="9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240" dirty="0">
                <a:solidFill>
                  <a:srgbClr val="263138"/>
                </a:solidFill>
                <a:latin typeface="Trebuchet MS"/>
                <a:cs typeface="Trebuchet MS"/>
              </a:rPr>
              <a:t>Diagram</a:t>
            </a:r>
            <a:r>
              <a:rPr b="1" spc="9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140" dirty="0">
                <a:solidFill>
                  <a:srgbClr val="263138"/>
                </a:solidFill>
                <a:latin typeface="Trebuchet MS"/>
                <a:cs typeface="Trebuchet MS"/>
              </a:rPr>
              <a:t>in</a:t>
            </a:r>
            <a:r>
              <a:rPr b="1" spc="10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125" dirty="0">
                <a:solidFill>
                  <a:srgbClr val="263138"/>
                </a:solidFill>
                <a:latin typeface="Trebuchet MS"/>
                <a:cs typeface="Trebuchet MS"/>
              </a:rPr>
              <a:t>Hill</a:t>
            </a:r>
            <a:r>
              <a:rPr b="1" spc="9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175" dirty="0">
                <a:solidFill>
                  <a:srgbClr val="263138"/>
                </a:solidFill>
                <a:latin typeface="Trebuchet MS"/>
                <a:cs typeface="Trebuchet MS"/>
              </a:rPr>
              <a:t>Climbing:</a:t>
            </a:r>
            <a:r>
              <a:rPr b="1" spc="9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204" dirty="0">
                <a:solidFill>
                  <a:srgbClr val="263138"/>
                </a:solidFill>
                <a:latin typeface="Trebuchet MS"/>
                <a:cs typeface="Trebuchet MS"/>
              </a:rPr>
              <a:t>Key</a:t>
            </a:r>
            <a:r>
              <a:rPr b="1" spc="10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195" dirty="0">
                <a:solidFill>
                  <a:srgbClr val="263138"/>
                </a:solidFill>
                <a:latin typeface="Trebuchet MS"/>
                <a:cs typeface="Trebuchet MS"/>
              </a:rPr>
              <a:t>Concepts</a:t>
            </a:r>
            <a:r>
              <a:rPr b="1" spc="9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204" dirty="0">
                <a:solidFill>
                  <a:srgbClr val="263138"/>
                </a:solidFill>
                <a:latin typeface="Trebuchet MS"/>
                <a:cs typeface="Trebuchet MS"/>
              </a:rPr>
              <a:t>and </a:t>
            </a:r>
            <a:r>
              <a:rPr b="1" spc="220" dirty="0">
                <a:solidFill>
                  <a:srgbClr val="263138"/>
                </a:solidFill>
                <a:latin typeface="Trebuchet MS"/>
                <a:cs typeface="Trebuchet MS"/>
              </a:rPr>
              <a:t>Regions</a:t>
            </a:r>
            <a:endParaRPr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0595" y="1430998"/>
            <a:ext cx="7238517" cy="397836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54338" y="687501"/>
            <a:ext cx="7555230" cy="578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88925" indent="244475" algn="just">
              <a:spcBef>
                <a:spcPts val="100"/>
              </a:spcBef>
              <a:buClr>
                <a:srgbClr val="263138"/>
              </a:buClr>
              <a:buSzPct val="94444"/>
              <a:buFont typeface="Trebuchet MS"/>
              <a:buAutoNum type="arabicPeriod"/>
              <a:tabLst>
                <a:tab pos="257175" algn="l"/>
              </a:tabLst>
            </a:pPr>
            <a:r>
              <a:rPr b="1" spc="160" dirty="0">
                <a:solidFill>
                  <a:srgbClr val="263138"/>
                </a:solidFill>
                <a:latin typeface="Trebuchet MS"/>
                <a:cs typeface="Trebuchet MS"/>
              </a:rPr>
              <a:t>Local</a:t>
            </a:r>
            <a:r>
              <a:rPr b="1" spc="8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210" dirty="0">
                <a:solidFill>
                  <a:srgbClr val="263138"/>
                </a:solidFill>
                <a:latin typeface="Trebuchet MS"/>
                <a:cs typeface="Trebuchet MS"/>
              </a:rPr>
              <a:t>Maximum</a:t>
            </a:r>
            <a:r>
              <a:rPr spc="210" dirty="0">
                <a:solidFill>
                  <a:srgbClr val="263138"/>
                </a:solidFill>
                <a:latin typeface="Trebuchet MS"/>
                <a:cs typeface="Trebuchet MS"/>
              </a:rPr>
              <a:t>: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55" dirty="0">
                <a:solidFill>
                  <a:srgbClr val="263138"/>
                </a:solidFill>
                <a:latin typeface="Trebuchet MS"/>
                <a:cs typeface="Trebuchet MS"/>
              </a:rPr>
              <a:t>A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local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65" dirty="0">
                <a:solidFill>
                  <a:srgbClr val="263138"/>
                </a:solidFill>
                <a:latin typeface="Trebuchet MS"/>
                <a:cs typeface="Trebuchet MS"/>
              </a:rPr>
              <a:t>maximum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is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50" dirty="0">
                <a:solidFill>
                  <a:srgbClr val="263138"/>
                </a:solidFill>
                <a:latin typeface="Trebuchet MS"/>
                <a:cs typeface="Trebuchet MS"/>
              </a:rPr>
              <a:t>a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state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better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5" dirty="0">
                <a:solidFill>
                  <a:srgbClr val="263138"/>
                </a:solidFill>
                <a:latin typeface="Trebuchet MS"/>
                <a:cs typeface="Trebuchet MS"/>
              </a:rPr>
              <a:t>than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its </a:t>
            </a:r>
            <a:r>
              <a:rPr spc="120" dirty="0">
                <a:solidFill>
                  <a:srgbClr val="263138"/>
                </a:solidFill>
                <a:latin typeface="Trebuchet MS"/>
                <a:cs typeface="Trebuchet MS"/>
              </a:rPr>
              <a:t>neighbors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0" dirty="0">
                <a:solidFill>
                  <a:srgbClr val="263138"/>
                </a:solidFill>
                <a:latin typeface="Trebuchet MS"/>
                <a:cs typeface="Trebuchet MS"/>
              </a:rPr>
              <a:t>but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not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0" dirty="0">
                <a:solidFill>
                  <a:srgbClr val="263138"/>
                </a:solidFill>
                <a:latin typeface="Trebuchet MS"/>
                <a:cs typeface="Trebuchet MS"/>
              </a:rPr>
              <a:t>best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overall.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While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its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objective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function </a:t>
            </a:r>
            <a:r>
              <a:rPr spc="105" dirty="0">
                <a:solidFill>
                  <a:srgbClr val="263138"/>
                </a:solidFill>
                <a:latin typeface="Trebuchet MS"/>
                <a:cs typeface="Trebuchet MS"/>
              </a:rPr>
              <a:t>value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is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5" dirty="0">
                <a:solidFill>
                  <a:srgbClr val="263138"/>
                </a:solidFill>
                <a:latin typeface="Trebuchet MS"/>
                <a:cs typeface="Trebuchet MS"/>
              </a:rPr>
              <a:t>higher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5" dirty="0">
                <a:solidFill>
                  <a:srgbClr val="263138"/>
                </a:solidFill>
                <a:latin typeface="Trebuchet MS"/>
                <a:cs typeface="Trebuchet MS"/>
              </a:rPr>
              <a:t>than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20" dirty="0">
                <a:solidFill>
                  <a:srgbClr val="263138"/>
                </a:solidFill>
                <a:latin typeface="Trebuchet MS"/>
                <a:cs typeface="Trebuchet MS"/>
              </a:rPr>
              <a:t>nearby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75" dirty="0">
                <a:solidFill>
                  <a:srgbClr val="263138"/>
                </a:solidFill>
                <a:latin typeface="Trebuchet MS"/>
                <a:cs typeface="Trebuchet MS"/>
              </a:rPr>
              <a:t>states,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50" dirty="0">
                <a:solidFill>
                  <a:srgbClr val="263138"/>
                </a:solidFill>
                <a:latin typeface="Trebuchet MS"/>
                <a:cs typeface="Trebuchet MS"/>
              </a:rPr>
              <a:t>a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global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60" dirty="0">
                <a:solidFill>
                  <a:srgbClr val="263138"/>
                </a:solidFill>
                <a:latin typeface="Trebuchet MS"/>
                <a:cs typeface="Trebuchet MS"/>
              </a:rPr>
              <a:t>maximum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85" dirty="0">
                <a:solidFill>
                  <a:srgbClr val="263138"/>
                </a:solidFill>
                <a:latin typeface="Trebuchet MS"/>
                <a:cs typeface="Trebuchet MS"/>
              </a:rPr>
              <a:t>may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rgbClr val="263138"/>
                </a:solidFill>
                <a:latin typeface="Trebuchet MS"/>
                <a:cs typeface="Trebuchet MS"/>
              </a:rPr>
              <a:t>still 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exist.</a:t>
            </a:r>
            <a:endParaRPr>
              <a:latin typeface="Trebuchet MS"/>
              <a:cs typeface="Trebuchet MS"/>
            </a:endParaRPr>
          </a:p>
          <a:p>
            <a:pPr marL="12700" marR="235585" indent="244475">
              <a:buSzPct val="94444"/>
              <a:buAutoNum type="arabicPeriod"/>
              <a:tabLst>
                <a:tab pos="257175" algn="l"/>
              </a:tabLst>
            </a:pPr>
            <a:r>
              <a:rPr b="1" spc="185" dirty="0">
                <a:solidFill>
                  <a:srgbClr val="263138"/>
                </a:solidFill>
                <a:latin typeface="Trebuchet MS"/>
                <a:cs typeface="Trebuchet MS"/>
              </a:rPr>
              <a:t>Global</a:t>
            </a:r>
            <a:r>
              <a:rPr b="1" spc="8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210" dirty="0">
                <a:solidFill>
                  <a:srgbClr val="263138"/>
                </a:solidFill>
                <a:latin typeface="Trebuchet MS"/>
                <a:cs typeface="Trebuchet MS"/>
              </a:rPr>
              <a:t>Maximum</a:t>
            </a:r>
            <a:r>
              <a:rPr spc="210" dirty="0">
                <a:solidFill>
                  <a:srgbClr val="263138"/>
                </a:solidFill>
                <a:latin typeface="Trebuchet MS"/>
                <a:cs typeface="Trebuchet MS"/>
              </a:rPr>
              <a:t>: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global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65" dirty="0">
                <a:solidFill>
                  <a:srgbClr val="263138"/>
                </a:solidFill>
                <a:latin typeface="Trebuchet MS"/>
                <a:cs typeface="Trebuchet MS"/>
              </a:rPr>
              <a:t>maximum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is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0" dirty="0">
                <a:solidFill>
                  <a:srgbClr val="263138"/>
                </a:solidFill>
                <a:latin typeface="Trebuchet MS"/>
                <a:cs typeface="Trebuchet MS"/>
              </a:rPr>
              <a:t>best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state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in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state-</a:t>
            </a:r>
            <a:r>
              <a:rPr spc="114" dirty="0">
                <a:solidFill>
                  <a:srgbClr val="263138"/>
                </a:solidFill>
                <a:latin typeface="Trebuchet MS"/>
                <a:cs typeface="Trebuchet MS"/>
              </a:rPr>
              <a:t>space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0" dirty="0">
                <a:solidFill>
                  <a:srgbClr val="263138"/>
                </a:solidFill>
                <a:latin typeface="Trebuchet MS"/>
                <a:cs typeface="Trebuchet MS"/>
              </a:rPr>
              <a:t>diagram,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where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objective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70" dirty="0">
                <a:solidFill>
                  <a:srgbClr val="263138"/>
                </a:solidFill>
                <a:latin typeface="Trebuchet MS"/>
                <a:cs typeface="Trebuchet MS"/>
              </a:rPr>
              <a:t>function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0" dirty="0">
                <a:solidFill>
                  <a:srgbClr val="263138"/>
                </a:solidFill>
                <a:latin typeface="Trebuchet MS"/>
                <a:cs typeface="Trebuchet MS"/>
              </a:rPr>
              <a:t>achieves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its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0" dirty="0">
                <a:solidFill>
                  <a:srgbClr val="263138"/>
                </a:solidFill>
                <a:latin typeface="Trebuchet MS"/>
                <a:cs typeface="Trebuchet MS"/>
              </a:rPr>
              <a:t>highest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70" dirty="0">
                <a:solidFill>
                  <a:srgbClr val="263138"/>
                </a:solidFill>
                <a:latin typeface="Trebuchet MS"/>
                <a:cs typeface="Trebuchet MS"/>
              </a:rPr>
              <a:t>value.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This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is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optimal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solution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algorithm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seeks.</a:t>
            </a:r>
            <a:endParaRPr>
              <a:latin typeface="Trebuchet MS"/>
              <a:cs typeface="Trebuchet MS"/>
            </a:endParaRPr>
          </a:p>
          <a:p>
            <a:pPr marL="12700" marR="245110" indent="244475">
              <a:buSzPct val="94444"/>
              <a:buAutoNum type="arabicPeriod"/>
              <a:tabLst>
                <a:tab pos="257175" algn="l"/>
              </a:tabLst>
            </a:pPr>
            <a:r>
              <a:rPr b="1" spc="160" dirty="0">
                <a:solidFill>
                  <a:srgbClr val="263138"/>
                </a:solidFill>
                <a:latin typeface="Trebuchet MS"/>
                <a:cs typeface="Trebuchet MS"/>
              </a:rPr>
              <a:t>Plateau/Flat</a:t>
            </a:r>
            <a:r>
              <a:rPr b="1" spc="10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160" dirty="0">
                <a:solidFill>
                  <a:srgbClr val="263138"/>
                </a:solidFill>
                <a:latin typeface="Trebuchet MS"/>
                <a:cs typeface="Trebuchet MS"/>
              </a:rPr>
              <a:t>Local</a:t>
            </a:r>
            <a:r>
              <a:rPr b="1" spc="9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215" dirty="0">
                <a:solidFill>
                  <a:srgbClr val="263138"/>
                </a:solidFill>
                <a:latin typeface="Trebuchet MS"/>
                <a:cs typeface="Trebuchet MS"/>
              </a:rPr>
              <a:t>Maximum</a:t>
            </a:r>
            <a:r>
              <a:rPr spc="215" dirty="0">
                <a:solidFill>
                  <a:srgbClr val="263138"/>
                </a:solidFill>
                <a:latin typeface="Trebuchet MS"/>
                <a:cs typeface="Trebuchet MS"/>
              </a:rPr>
              <a:t>: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55" dirty="0">
                <a:solidFill>
                  <a:srgbClr val="263138"/>
                </a:solidFill>
                <a:latin typeface="Trebuchet MS"/>
                <a:cs typeface="Trebuchet MS"/>
              </a:rPr>
              <a:t>A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0" dirty="0">
                <a:solidFill>
                  <a:srgbClr val="263138"/>
                </a:solidFill>
                <a:latin typeface="Trebuchet MS"/>
                <a:cs typeface="Trebuchet MS"/>
              </a:rPr>
              <a:t>plateau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is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50" dirty="0">
                <a:solidFill>
                  <a:srgbClr val="263138"/>
                </a:solidFill>
                <a:latin typeface="Trebuchet MS"/>
                <a:cs typeface="Trebuchet MS"/>
              </a:rPr>
              <a:t>a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flat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0" dirty="0">
                <a:solidFill>
                  <a:srgbClr val="263138"/>
                </a:solidFill>
                <a:latin typeface="Trebuchet MS"/>
                <a:cs typeface="Trebuchet MS"/>
              </a:rPr>
              <a:t>region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where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0" dirty="0">
                <a:solidFill>
                  <a:srgbClr val="263138"/>
                </a:solidFill>
                <a:latin typeface="Trebuchet MS"/>
                <a:cs typeface="Trebuchet MS"/>
              </a:rPr>
              <a:t>neighboring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5" dirty="0">
                <a:solidFill>
                  <a:srgbClr val="263138"/>
                </a:solidFill>
                <a:latin typeface="Trebuchet MS"/>
                <a:cs typeface="Trebuchet MS"/>
              </a:rPr>
              <a:t>states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45" dirty="0">
                <a:solidFill>
                  <a:srgbClr val="263138"/>
                </a:solidFill>
                <a:latin typeface="Trebuchet MS"/>
                <a:cs typeface="Trebuchet MS"/>
              </a:rPr>
              <a:t>have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75" dirty="0">
                <a:solidFill>
                  <a:srgbClr val="263138"/>
                </a:solidFill>
                <a:latin typeface="Trebuchet MS"/>
                <a:cs typeface="Trebuchet MS"/>
              </a:rPr>
              <a:t>same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objective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function </a:t>
            </a:r>
            <a:r>
              <a:rPr spc="70" dirty="0">
                <a:solidFill>
                  <a:srgbClr val="263138"/>
                </a:solidFill>
                <a:latin typeface="Trebuchet MS"/>
                <a:cs typeface="Trebuchet MS"/>
              </a:rPr>
              <a:t>value,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40" dirty="0">
                <a:solidFill>
                  <a:srgbClr val="263138"/>
                </a:solidFill>
                <a:latin typeface="Trebuchet MS"/>
                <a:cs typeface="Trebuchet MS"/>
              </a:rPr>
              <a:t>making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it</a:t>
            </a:r>
            <a:r>
              <a:rPr spc="7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difficult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for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algorithm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to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decide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40" dirty="0">
                <a:solidFill>
                  <a:srgbClr val="263138"/>
                </a:solidFill>
                <a:latin typeface="Trebuchet MS"/>
                <a:cs typeface="Trebuchet MS"/>
              </a:rPr>
              <a:t>on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best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direction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to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0" dirty="0">
                <a:solidFill>
                  <a:srgbClr val="263138"/>
                </a:solidFill>
                <a:latin typeface="Trebuchet MS"/>
                <a:cs typeface="Trebuchet MS"/>
              </a:rPr>
              <a:t>move.</a:t>
            </a:r>
            <a:endParaRPr>
              <a:latin typeface="Trebuchet MS"/>
              <a:cs typeface="Trebuchet MS"/>
            </a:endParaRPr>
          </a:p>
          <a:p>
            <a:pPr marL="12700" marR="220979" indent="244475">
              <a:buSzPct val="94444"/>
              <a:buAutoNum type="arabicPeriod"/>
              <a:tabLst>
                <a:tab pos="257175" algn="l"/>
              </a:tabLst>
            </a:pPr>
            <a:r>
              <a:rPr b="1" spc="175" dirty="0">
                <a:solidFill>
                  <a:srgbClr val="263138"/>
                </a:solidFill>
                <a:latin typeface="Trebuchet MS"/>
                <a:cs typeface="Trebuchet MS"/>
              </a:rPr>
              <a:t>Ridge</a:t>
            </a:r>
            <a:r>
              <a:rPr spc="175" dirty="0">
                <a:solidFill>
                  <a:srgbClr val="263138"/>
                </a:solidFill>
                <a:latin typeface="Trebuchet MS"/>
                <a:cs typeface="Trebuchet MS"/>
              </a:rPr>
              <a:t>: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55" dirty="0">
                <a:solidFill>
                  <a:srgbClr val="263138"/>
                </a:solidFill>
                <a:latin typeface="Trebuchet MS"/>
                <a:cs typeface="Trebuchet MS"/>
              </a:rPr>
              <a:t>A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0" dirty="0">
                <a:solidFill>
                  <a:srgbClr val="263138"/>
                </a:solidFill>
                <a:latin typeface="Trebuchet MS"/>
                <a:cs typeface="Trebuchet MS"/>
              </a:rPr>
              <a:t>ridge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is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50" dirty="0">
                <a:solidFill>
                  <a:srgbClr val="263138"/>
                </a:solidFill>
                <a:latin typeface="Trebuchet MS"/>
                <a:cs typeface="Trebuchet MS"/>
              </a:rPr>
              <a:t>a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5" dirty="0">
                <a:solidFill>
                  <a:srgbClr val="263138"/>
                </a:solidFill>
                <a:latin typeface="Trebuchet MS"/>
                <a:cs typeface="Trebuchet MS"/>
              </a:rPr>
              <a:t>higher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region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with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50" dirty="0">
                <a:solidFill>
                  <a:srgbClr val="263138"/>
                </a:solidFill>
                <a:latin typeface="Trebuchet MS"/>
                <a:cs typeface="Trebuchet MS"/>
              </a:rPr>
              <a:t>a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75" dirty="0">
                <a:solidFill>
                  <a:srgbClr val="263138"/>
                </a:solidFill>
                <a:latin typeface="Trebuchet MS"/>
                <a:cs typeface="Trebuchet MS"/>
              </a:rPr>
              <a:t>slope,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which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20" dirty="0">
                <a:solidFill>
                  <a:srgbClr val="263138"/>
                </a:solidFill>
                <a:latin typeface="Trebuchet MS"/>
                <a:cs typeface="Trebuchet MS"/>
              </a:rPr>
              <a:t>can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70" dirty="0">
                <a:solidFill>
                  <a:srgbClr val="263138"/>
                </a:solidFill>
                <a:latin typeface="Trebuchet MS"/>
                <a:cs typeface="Trebuchet MS"/>
              </a:rPr>
              <a:t>look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like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50" dirty="0">
                <a:solidFill>
                  <a:srgbClr val="263138"/>
                </a:solidFill>
                <a:latin typeface="Trebuchet MS"/>
                <a:cs typeface="Trebuchet MS"/>
              </a:rPr>
              <a:t>a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peak.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This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85" dirty="0">
                <a:solidFill>
                  <a:srgbClr val="263138"/>
                </a:solidFill>
                <a:latin typeface="Trebuchet MS"/>
                <a:cs typeface="Trebuchet MS"/>
              </a:rPr>
              <a:t>may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40" dirty="0">
                <a:solidFill>
                  <a:srgbClr val="263138"/>
                </a:solidFill>
                <a:latin typeface="Trebuchet MS"/>
                <a:cs typeface="Trebuchet MS"/>
              </a:rPr>
              <a:t>cause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algorithm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to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4" dirty="0">
                <a:solidFill>
                  <a:srgbClr val="263138"/>
                </a:solidFill>
                <a:latin typeface="Trebuchet MS"/>
                <a:cs typeface="Trebuchet MS"/>
              </a:rPr>
              <a:t>stop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prematurely, </a:t>
            </a:r>
            <a:r>
              <a:rPr spc="140" dirty="0">
                <a:solidFill>
                  <a:srgbClr val="263138"/>
                </a:solidFill>
                <a:latin typeface="Trebuchet MS"/>
                <a:cs typeface="Trebuchet MS"/>
              </a:rPr>
              <a:t>missing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better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0" dirty="0">
                <a:solidFill>
                  <a:srgbClr val="263138"/>
                </a:solidFill>
                <a:latin typeface="Trebuchet MS"/>
                <a:cs typeface="Trebuchet MS"/>
              </a:rPr>
              <a:t>solutions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nearby.</a:t>
            </a:r>
            <a:endParaRPr>
              <a:latin typeface="Trebuchet MS"/>
              <a:cs typeface="Trebuchet MS"/>
            </a:endParaRPr>
          </a:p>
          <a:p>
            <a:pPr marL="12700" marR="553720" indent="244475">
              <a:buSzPct val="94444"/>
              <a:buAutoNum type="arabicPeriod"/>
              <a:tabLst>
                <a:tab pos="257175" algn="l"/>
              </a:tabLst>
            </a:pPr>
            <a:r>
              <a:rPr b="1" spc="165" dirty="0">
                <a:solidFill>
                  <a:srgbClr val="263138"/>
                </a:solidFill>
                <a:latin typeface="Trebuchet MS"/>
                <a:cs typeface="Trebuchet MS"/>
              </a:rPr>
              <a:t>Current</a:t>
            </a:r>
            <a:r>
              <a:rPr b="1" spc="9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170" dirty="0">
                <a:solidFill>
                  <a:srgbClr val="263138"/>
                </a:solidFill>
                <a:latin typeface="Trebuchet MS"/>
                <a:cs typeface="Trebuchet MS"/>
              </a:rPr>
              <a:t>State</a:t>
            </a:r>
            <a:r>
              <a:rPr spc="170" dirty="0">
                <a:solidFill>
                  <a:srgbClr val="263138"/>
                </a:solidFill>
                <a:latin typeface="Trebuchet MS"/>
                <a:cs typeface="Trebuchet MS"/>
              </a:rPr>
              <a:t>: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current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state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70" dirty="0">
                <a:solidFill>
                  <a:srgbClr val="263138"/>
                </a:solidFill>
                <a:latin typeface="Trebuchet MS"/>
                <a:cs typeface="Trebuchet MS"/>
              </a:rPr>
              <a:t>refers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to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algorithm’s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position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in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state-</a:t>
            </a:r>
            <a:r>
              <a:rPr spc="114" dirty="0">
                <a:solidFill>
                  <a:srgbClr val="263138"/>
                </a:solidFill>
                <a:latin typeface="Trebuchet MS"/>
                <a:cs typeface="Trebuchet MS"/>
              </a:rPr>
              <a:t>space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30" dirty="0">
                <a:solidFill>
                  <a:srgbClr val="263138"/>
                </a:solidFill>
                <a:latin typeface="Trebuchet MS"/>
                <a:cs typeface="Trebuchet MS"/>
              </a:rPr>
              <a:t>diagram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0" dirty="0">
                <a:solidFill>
                  <a:srgbClr val="263138"/>
                </a:solidFill>
                <a:latin typeface="Trebuchet MS"/>
                <a:cs typeface="Trebuchet MS"/>
              </a:rPr>
              <a:t>during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its </a:t>
            </a:r>
            <a:r>
              <a:rPr spc="110" dirty="0">
                <a:solidFill>
                  <a:srgbClr val="263138"/>
                </a:solidFill>
                <a:latin typeface="Trebuchet MS"/>
                <a:cs typeface="Trebuchet MS"/>
              </a:rPr>
              <a:t>search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for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the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optimal</a:t>
            </a:r>
            <a:r>
              <a:rPr spc="3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solution.</a:t>
            </a:r>
            <a:endParaRPr>
              <a:latin typeface="Trebuchet MS"/>
              <a:cs typeface="Trebuchet MS"/>
            </a:endParaRPr>
          </a:p>
          <a:p>
            <a:pPr marL="12700" marR="5080" indent="244475">
              <a:buSzPct val="94444"/>
              <a:buAutoNum type="arabicPeriod"/>
              <a:tabLst>
                <a:tab pos="257175" algn="l"/>
              </a:tabLst>
            </a:pPr>
            <a:r>
              <a:rPr b="1" spc="170" dirty="0">
                <a:solidFill>
                  <a:srgbClr val="263138"/>
                </a:solidFill>
                <a:latin typeface="Trebuchet MS"/>
                <a:cs typeface="Trebuchet MS"/>
              </a:rPr>
              <a:t>Shoulder</a:t>
            </a:r>
            <a:r>
              <a:rPr spc="170" dirty="0">
                <a:solidFill>
                  <a:srgbClr val="263138"/>
                </a:solidFill>
                <a:latin typeface="Trebuchet MS"/>
                <a:cs typeface="Trebuchet MS"/>
              </a:rPr>
              <a:t>: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55" dirty="0">
                <a:solidFill>
                  <a:srgbClr val="263138"/>
                </a:solidFill>
                <a:latin typeface="Trebuchet MS"/>
                <a:cs typeface="Trebuchet MS"/>
              </a:rPr>
              <a:t>A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5" dirty="0">
                <a:solidFill>
                  <a:srgbClr val="263138"/>
                </a:solidFill>
                <a:latin typeface="Trebuchet MS"/>
                <a:cs typeface="Trebuchet MS"/>
              </a:rPr>
              <a:t>shoulder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is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50" dirty="0">
                <a:solidFill>
                  <a:srgbClr val="263138"/>
                </a:solidFill>
                <a:latin typeface="Trebuchet MS"/>
                <a:cs typeface="Trebuchet MS"/>
              </a:rPr>
              <a:t>a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0" dirty="0">
                <a:solidFill>
                  <a:srgbClr val="263138"/>
                </a:solidFill>
                <a:latin typeface="Trebuchet MS"/>
                <a:cs typeface="Trebuchet MS"/>
              </a:rPr>
              <a:t>plateau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with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50" dirty="0">
                <a:solidFill>
                  <a:srgbClr val="263138"/>
                </a:solidFill>
                <a:latin typeface="Trebuchet MS"/>
                <a:cs typeface="Trebuchet MS"/>
              </a:rPr>
              <a:t>an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uphill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edge,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allowing the</a:t>
            </a:r>
            <a:r>
              <a:rPr spc="2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algorithm</a:t>
            </a:r>
            <a:r>
              <a:rPr spc="2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to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65" dirty="0">
                <a:solidFill>
                  <a:srgbClr val="263138"/>
                </a:solidFill>
                <a:latin typeface="Trebuchet MS"/>
                <a:cs typeface="Trebuchet MS"/>
              </a:rPr>
              <a:t>move</a:t>
            </a:r>
            <a:r>
              <a:rPr spc="2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0" dirty="0">
                <a:solidFill>
                  <a:srgbClr val="263138"/>
                </a:solidFill>
                <a:latin typeface="Trebuchet MS"/>
                <a:cs typeface="Trebuchet MS"/>
              </a:rPr>
              <a:t>toward</a:t>
            </a:r>
            <a:r>
              <a:rPr spc="2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better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0" dirty="0">
                <a:solidFill>
                  <a:srgbClr val="263138"/>
                </a:solidFill>
                <a:latin typeface="Trebuchet MS"/>
                <a:cs typeface="Trebuchet MS"/>
              </a:rPr>
              <a:t>solutions</a:t>
            </a:r>
            <a:r>
              <a:rPr spc="3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if</a:t>
            </a:r>
            <a:r>
              <a:rPr spc="3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it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continues </a:t>
            </a:r>
            <a:r>
              <a:rPr spc="114" dirty="0">
                <a:solidFill>
                  <a:srgbClr val="263138"/>
                </a:solidFill>
                <a:latin typeface="Trebuchet MS"/>
                <a:cs typeface="Trebuchet MS"/>
              </a:rPr>
              <a:t>searching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35" dirty="0">
                <a:solidFill>
                  <a:srgbClr val="263138"/>
                </a:solidFill>
                <a:latin typeface="Trebuchet MS"/>
                <a:cs typeface="Trebuchet MS"/>
              </a:rPr>
              <a:t>beyond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plateau.</a:t>
            </a:r>
            <a:endParaRPr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58505" y="482337"/>
            <a:ext cx="7835265" cy="61324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915" indent="-323215">
              <a:spcBef>
                <a:spcPts val="100"/>
              </a:spcBef>
              <a:buClr>
                <a:srgbClr val="263138"/>
              </a:buClr>
              <a:buFont typeface="Trebuchet MS"/>
              <a:buAutoNum type="arabicPeriod"/>
              <a:tabLst>
                <a:tab pos="335915" algn="l"/>
              </a:tabLst>
            </a:pPr>
            <a:r>
              <a:rPr b="1" spc="200" dirty="0">
                <a:solidFill>
                  <a:srgbClr val="263138"/>
                </a:solidFill>
                <a:latin typeface="Trebuchet MS"/>
                <a:cs typeface="Trebuchet MS"/>
              </a:rPr>
              <a:t>Simple</a:t>
            </a:r>
            <a:r>
              <a:rPr b="1" spc="9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125" dirty="0">
                <a:solidFill>
                  <a:srgbClr val="263138"/>
                </a:solidFill>
                <a:latin typeface="Trebuchet MS"/>
                <a:cs typeface="Trebuchet MS"/>
              </a:rPr>
              <a:t>Hill</a:t>
            </a:r>
            <a:r>
              <a:rPr b="1" spc="9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195" dirty="0">
                <a:solidFill>
                  <a:srgbClr val="263138"/>
                </a:solidFill>
                <a:latin typeface="Trebuchet MS"/>
                <a:cs typeface="Trebuchet MS"/>
              </a:rPr>
              <a:t>Climbing</a:t>
            </a:r>
            <a:r>
              <a:rPr b="1" spc="9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185" dirty="0">
                <a:solidFill>
                  <a:srgbClr val="263138"/>
                </a:solidFill>
                <a:latin typeface="Trebuchet MS"/>
                <a:cs typeface="Trebuchet MS"/>
              </a:rPr>
              <a:t>Algorithm</a:t>
            </a:r>
            <a:endParaRPr dirty="0">
              <a:latin typeface="Trebuchet MS"/>
              <a:cs typeface="Trebuchet MS"/>
            </a:endParaRPr>
          </a:p>
          <a:p>
            <a:pPr marL="12700" marR="244475"/>
            <a:r>
              <a:rPr spc="114" dirty="0">
                <a:solidFill>
                  <a:srgbClr val="263138"/>
                </a:solidFill>
                <a:latin typeface="Trebuchet MS"/>
                <a:cs typeface="Trebuchet MS"/>
              </a:rPr>
              <a:t>Simple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Hill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5" dirty="0">
                <a:solidFill>
                  <a:srgbClr val="263138"/>
                </a:solidFill>
                <a:latin typeface="Trebuchet MS"/>
                <a:cs typeface="Trebuchet MS"/>
              </a:rPr>
              <a:t>Climbing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is</a:t>
            </a:r>
            <a:r>
              <a:rPr spc="7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50" dirty="0">
                <a:solidFill>
                  <a:srgbClr val="263138"/>
                </a:solidFill>
                <a:latin typeface="Trebuchet MS"/>
                <a:cs typeface="Trebuchet MS"/>
              </a:rPr>
              <a:t>a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straightforward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variant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of</a:t>
            </a:r>
            <a:r>
              <a:rPr spc="7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hill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climbing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where</a:t>
            </a:r>
            <a:r>
              <a:rPr spc="3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75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algorithm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0" dirty="0">
                <a:solidFill>
                  <a:srgbClr val="263138"/>
                </a:solidFill>
                <a:latin typeface="Trebuchet MS"/>
                <a:cs typeface="Trebuchet MS"/>
              </a:rPr>
              <a:t>evaluates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20" dirty="0">
                <a:solidFill>
                  <a:srgbClr val="263138"/>
                </a:solidFill>
                <a:latin typeface="Trebuchet MS"/>
                <a:cs typeface="Trebuchet MS"/>
              </a:rPr>
              <a:t>each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4" dirty="0">
                <a:solidFill>
                  <a:srgbClr val="263138"/>
                </a:solidFill>
                <a:latin typeface="Trebuchet MS"/>
                <a:cs typeface="Trebuchet MS"/>
              </a:rPr>
              <a:t>neighboring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30" dirty="0">
                <a:solidFill>
                  <a:srgbClr val="263138"/>
                </a:solidFill>
                <a:latin typeface="Trebuchet MS"/>
                <a:cs typeface="Trebuchet MS"/>
              </a:rPr>
              <a:t>node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25" dirty="0">
                <a:solidFill>
                  <a:srgbClr val="263138"/>
                </a:solidFill>
                <a:latin typeface="Trebuchet MS"/>
                <a:cs typeface="Trebuchet MS"/>
              </a:rPr>
              <a:t>one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55" dirty="0">
                <a:solidFill>
                  <a:srgbClr val="263138"/>
                </a:solidFill>
                <a:latin typeface="Trebuchet MS"/>
                <a:cs typeface="Trebuchet MS"/>
              </a:rPr>
              <a:t>by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0" dirty="0">
                <a:solidFill>
                  <a:srgbClr val="263138"/>
                </a:solidFill>
                <a:latin typeface="Trebuchet MS"/>
                <a:cs typeface="Trebuchet MS"/>
              </a:rPr>
              <a:t>one </a:t>
            </a:r>
            <a:r>
              <a:rPr spc="140" dirty="0">
                <a:solidFill>
                  <a:srgbClr val="263138"/>
                </a:solidFill>
                <a:latin typeface="Trebuchet MS"/>
                <a:cs typeface="Trebuchet MS"/>
              </a:rPr>
              <a:t>and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selects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first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30" dirty="0">
                <a:solidFill>
                  <a:srgbClr val="263138"/>
                </a:solidFill>
                <a:latin typeface="Trebuchet MS"/>
                <a:cs typeface="Trebuchet MS"/>
              </a:rPr>
              <a:t>node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that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offers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50" dirty="0">
                <a:solidFill>
                  <a:srgbClr val="263138"/>
                </a:solidFill>
                <a:latin typeface="Trebuchet MS"/>
                <a:cs typeface="Trebuchet MS"/>
              </a:rPr>
              <a:t>an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0" dirty="0">
                <a:solidFill>
                  <a:srgbClr val="263138"/>
                </a:solidFill>
                <a:latin typeface="Trebuchet MS"/>
                <a:cs typeface="Trebuchet MS"/>
              </a:rPr>
              <a:t>improvement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4" dirty="0">
                <a:solidFill>
                  <a:srgbClr val="263138"/>
                </a:solidFill>
                <a:latin typeface="Trebuchet MS"/>
                <a:cs typeface="Trebuchet MS"/>
              </a:rPr>
              <a:t>over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the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current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one.</a:t>
            </a:r>
            <a:endParaRPr dirty="0">
              <a:latin typeface="Trebuchet MS"/>
              <a:cs typeface="Trebuchet MS"/>
            </a:endParaRPr>
          </a:p>
          <a:p>
            <a:pPr>
              <a:spcBef>
                <a:spcPts val="70"/>
              </a:spcBef>
            </a:pPr>
            <a:endParaRPr dirty="0">
              <a:latin typeface="Trebuchet MS"/>
              <a:cs typeface="Trebuchet MS"/>
            </a:endParaRPr>
          </a:p>
          <a:p>
            <a:pPr marL="12700"/>
            <a:r>
              <a:rPr b="1" spc="195" dirty="0">
                <a:solidFill>
                  <a:srgbClr val="263138"/>
                </a:solidFill>
                <a:latin typeface="Trebuchet MS"/>
                <a:cs typeface="Trebuchet MS"/>
              </a:rPr>
              <a:t>Algorithm</a:t>
            </a:r>
            <a:r>
              <a:rPr b="1" spc="8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140" dirty="0">
                <a:solidFill>
                  <a:srgbClr val="263138"/>
                </a:solidFill>
                <a:latin typeface="Trebuchet MS"/>
                <a:cs typeface="Trebuchet MS"/>
              </a:rPr>
              <a:t>for</a:t>
            </a:r>
            <a:r>
              <a:rPr b="1" spc="9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200" dirty="0">
                <a:solidFill>
                  <a:srgbClr val="263138"/>
                </a:solidFill>
                <a:latin typeface="Trebuchet MS"/>
                <a:cs typeface="Trebuchet MS"/>
              </a:rPr>
              <a:t>Simple</a:t>
            </a:r>
            <a:r>
              <a:rPr b="1" spc="9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125" dirty="0">
                <a:solidFill>
                  <a:srgbClr val="263138"/>
                </a:solidFill>
                <a:latin typeface="Trebuchet MS"/>
                <a:cs typeface="Trebuchet MS"/>
              </a:rPr>
              <a:t>Hill</a:t>
            </a:r>
            <a:r>
              <a:rPr b="1" spc="8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185" dirty="0">
                <a:solidFill>
                  <a:srgbClr val="263138"/>
                </a:solidFill>
                <a:latin typeface="Trebuchet MS"/>
                <a:cs typeface="Trebuchet MS"/>
              </a:rPr>
              <a:t>Climbing</a:t>
            </a:r>
            <a:endParaRPr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dirty="0">
              <a:latin typeface="Trebuchet MS"/>
              <a:cs typeface="Trebuchet MS"/>
            </a:endParaRPr>
          </a:p>
          <a:p>
            <a:pPr>
              <a:spcBef>
                <a:spcPts val="135"/>
              </a:spcBef>
            </a:pPr>
            <a:endParaRPr dirty="0">
              <a:latin typeface="Trebuchet MS"/>
              <a:cs typeface="Trebuchet MS"/>
            </a:endParaRPr>
          </a:p>
          <a:p>
            <a:pPr marL="229235" indent="-216535">
              <a:spcBef>
                <a:spcPts val="5"/>
              </a:spcBef>
              <a:buSzPct val="94444"/>
              <a:buAutoNum type="arabicPeriod"/>
              <a:tabLst>
                <a:tab pos="229235" algn="l"/>
              </a:tabLst>
            </a:pP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Start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at </a:t>
            </a:r>
            <a:r>
              <a:rPr spc="140" dirty="0">
                <a:solidFill>
                  <a:srgbClr val="263138"/>
                </a:solidFill>
                <a:latin typeface="Trebuchet MS"/>
                <a:cs typeface="Trebuchet MS"/>
              </a:rPr>
              <a:t>random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40" dirty="0">
                <a:solidFill>
                  <a:srgbClr val="263138"/>
                </a:solidFill>
                <a:latin typeface="Trebuchet MS"/>
                <a:cs typeface="Trebuchet MS"/>
              </a:rPr>
              <a:t>and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40" dirty="0">
                <a:solidFill>
                  <a:srgbClr val="263138"/>
                </a:solidFill>
                <a:latin typeface="Trebuchet MS"/>
                <a:cs typeface="Trebuchet MS"/>
              </a:rPr>
              <a:t>make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it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initial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75" dirty="0">
                <a:solidFill>
                  <a:srgbClr val="263138"/>
                </a:solidFill>
                <a:latin typeface="Trebuchet MS"/>
                <a:cs typeface="Trebuchet MS"/>
              </a:rPr>
              <a:t>state</a:t>
            </a:r>
            <a:endParaRPr dirty="0">
              <a:latin typeface="Trebuchet MS"/>
              <a:cs typeface="Trebuchet MS"/>
            </a:endParaRPr>
          </a:p>
          <a:p>
            <a:pPr marL="229235" indent="-216535">
              <a:buSzPct val="94444"/>
              <a:buAutoNum type="arabicPeriod"/>
              <a:tabLst>
                <a:tab pos="229235" algn="l"/>
              </a:tabLst>
            </a:pPr>
            <a:r>
              <a:rPr spc="105" dirty="0">
                <a:solidFill>
                  <a:srgbClr val="263138"/>
                </a:solidFill>
                <a:latin typeface="Trebuchet MS"/>
                <a:cs typeface="Trebuchet MS"/>
              </a:rPr>
              <a:t>Evaluate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initial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state.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If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it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is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50" dirty="0">
                <a:solidFill>
                  <a:srgbClr val="263138"/>
                </a:solidFill>
                <a:latin typeface="Trebuchet MS"/>
                <a:cs typeface="Trebuchet MS"/>
              </a:rPr>
              <a:t>a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4" dirty="0">
                <a:solidFill>
                  <a:srgbClr val="263138"/>
                </a:solidFill>
                <a:latin typeface="Trebuchet MS"/>
                <a:cs typeface="Trebuchet MS"/>
              </a:rPr>
              <a:t>goal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state,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return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5" dirty="0">
                <a:solidFill>
                  <a:srgbClr val="263138"/>
                </a:solidFill>
                <a:latin typeface="Trebuchet MS"/>
                <a:cs typeface="Trebuchet MS"/>
              </a:rPr>
              <a:t>success.</a:t>
            </a:r>
            <a:endParaRPr dirty="0">
              <a:latin typeface="Trebuchet MS"/>
              <a:cs typeface="Trebuchet MS"/>
            </a:endParaRPr>
          </a:p>
          <a:p>
            <a:pPr marL="229235" indent="-216535">
              <a:buSzPct val="94444"/>
              <a:buAutoNum type="arabicPeriod"/>
              <a:tabLst>
                <a:tab pos="229235" algn="l"/>
              </a:tabLst>
            </a:pP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Else</a:t>
            </a:r>
            <a:endParaRPr dirty="0">
              <a:latin typeface="Trebuchet MS"/>
              <a:cs typeface="Trebuchet MS"/>
            </a:endParaRPr>
          </a:p>
          <a:p>
            <a:pPr marL="229235" indent="-216535">
              <a:buSzPct val="94444"/>
              <a:buAutoNum type="arabicPeriod"/>
              <a:tabLst>
                <a:tab pos="229235" algn="l"/>
              </a:tabLst>
            </a:pPr>
            <a:r>
              <a:rPr spc="150" dirty="0">
                <a:solidFill>
                  <a:srgbClr val="263138"/>
                </a:solidFill>
                <a:latin typeface="Trebuchet MS"/>
                <a:cs typeface="Trebuchet MS"/>
              </a:rPr>
              <a:t>Make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7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initial</a:t>
            </a:r>
            <a:r>
              <a:rPr spc="7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state</a:t>
            </a:r>
            <a:r>
              <a:rPr spc="7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7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current</a:t>
            </a:r>
            <a:r>
              <a:rPr spc="7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70" dirty="0">
                <a:solidFill>
                  <a:srgbClr val="263138"/>
                </a:solidFill>
                <a:latin typeface="Trebuchet MS"/>
                <a:cs typeface="Trebuchet MS"/>
              </a:rPr>
              <a:t>state</a:t>
            </a:r>
            <a:endParaRPr dirty="0">
              <a:latin typeface="Trebuchet MS"/>
              <a:cs typeface="Trebuchet MS"/>
            </a:endParaRPr>
          </a:p>
          <a:p>
            <a:pPr marL="12700" marR="415925" indent="216535">
              <a:buSzPct val="94444"/>
              <a:buAutoNum type="arabicPeriod"/>
              <a:tabLst>
                <a:tab pos="229235" algn="l"/>
              </a:tabLst>
            </a:pPr>
            <a:r>
              <a:rPr spc="110" dirty="0">
                <a:solidFill>
                  <a:srgbClr val="263138"/>
                </a:solidFill>
                <a:latin typeface="Trebuchet MS"/>
                <a:cs typeface="Trebuchet MS"/>
              </a:rPr>
              <a:t>Loop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until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50" dirty="0">
                <a:solidFill>
                  <a:srgbClr val="263138"/>
                </a:solidFill>
                <a:latin typeface="Trebuchet MS"/>
                <a:cs typeface="Trebuchet MS"/>
              </a:rPr>
              <a:t>a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solution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0" dirty="0">
                <a:solidFill>
                  <a:srgbClr val="263138"/>
                </a:solidFill>
                <a:latin typeface="Trebuchet MS"/>
                <a:cs typeface="Trebuchet MS"/>
              </a:rPr>
              <a:t>(global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50" dirty="0">
                <a:solidFill>
                  <a:srgbClr val="263138"/>
                </a:solidFill>
                <a:latin typeface="Trebuchet MS"/>
                <a:cs typeface="Trebuchet MS"/>
              </a:rPr>
              <a:t>maxima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)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is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0" dirty="0">
                <a:solidFill>
                  <a:srgbClr val="263138"/>
                </a:solidFill>
                <a:latin typeface="Trebuchet MS"/>
                <a:cs typeface="Trebuchet MS"/>
              </a:rPr>
              <a:t>found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or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30" dirty="0">
                <a:solidFill>
                  <a:srgbClr val="263138"/>
                </a:solidFill>
                <a:latin typeface="Trebuchet MS"/>
                <a:cs typeface="Trebuchet MS"/>
              </a:rPr>
              <a:t>no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40" dirty="0">
                <a:solidFill>
                  <a:srgbClr val="263138"/>
                </a:solidFill>
                <a:latin typeface="Trebuchet MS"/>
                <a:cs typeface="Trebuchet MS"/>
              </a:rPr>
              <a:t>change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in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current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state</a:t>
            </a:r>
            <a:endParaRPr dirty="0">
              <a:latin typeface="Trebuchet MS"/>
              <a:cs typeface="Trebuchet MS"/>
            </a:endParaRPr>
          </a:p>
          <a:p>
            <a:pPr marL="810260" marR="691515" lvl="1" indent="-340995">
              <a:buAutoNum type="alphaLcPeriod"/>
              <a:tabLst>
                <a:tab pos="812800" algn="l"/>
              </a:tabLst>
            </a:pPr>
            <a:r>
              <a:rPr spc="90" dirty="0">
                <a:solidFill>
                  <a:srgbClr val="263138"/>
                </a:solidFill>
                <a:latin typeface="Trebuchet MS"/>
                <a:cs typeface="Trebuchet MS"/>
              </a:rPr>
              <a:t>Select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50" dirty="0">
                <a:solidFill>
                  <a:srgbClr val="263138"/>
                </a:solidFill>
                <a:latin typeface="Trebuchet MS"/>
                <a:cs typeface="Trebuchet MS"/>
              </a:rPr>
              <a:t>a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25" dirty="0">
                <a:solidFill>
                  <a:srgbClr val="263138"/>
                </a:solidFill>
                <a:latin typeface="Trebuchet MS"/>
                <a:cs typeface="Trebuchet MS"/>
              </a:rPr>
              <a:t>new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state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that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65" dirty="0">
                <a:solidFill>
                  <a:srgbClr val="263138"/>
                </a:solidFill>
                <a:latin typeface="Trebuchet MS"/>
                <a:cs typeface="Trebuchet MS"/>
              </a:rPr>
              <a:t>has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0" dirty="0">
                <a:solidFill>
                  <a:srgbClr val="263138"/>
                </a:solidFill>
                <a:latin typeface="Trebuchet MS"/>
                <a:cs typeface="Trebuchet MS"/>
              </a:rPr>
              <a:t>not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0" dirty="0">
                <a:solidFill>
                  <a:srgbClr val="263138"/>
                </a:solidFill>
                <a:latin typeface="Trebuchet MS"/>
                <a:cs typeface="Trebuchet MS"/>
              </a:rPr>
              <a:t>yet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25" dirty="0">
                <a:solidFill>
                  <a:srgbClr val="263138"/>
                </a:solidFill>
                <a:latin typeface="Trebuchet MS"/>
                <a:cs typeface="Trebuchet MS"/>
              </a:rPr>
              <a:t>been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applied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to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the 	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current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state.</a:t>
            </a:r>
            <a:endParaRPr dirty="0">
              <a:latin typeface="Trebuchet MS"/>
              <a:cs typeface="Trebuchet MS"/>
            </a:endParaRPr>
          </a:p>
          <a:p>
            <a:pPr marL="810260" lvl="1" indent="-340360">
              <a:buAutoNum type="alphaLcPeriod"/>
              <a:tabLst>
                <a:tab pos="810260" algn="l"/>
              </a:tabLst>
            </a:pPr>
            <a:r>
              <a:rPr spc="105" dirty="0">
                <a:solidFill>
                  <a:srgbClr val="263138"/>
                </a:solidFill>
                <a:latin typeface="Trebuchet MS"/>
                <a:cs typeface="Trebuchet MS"/>
              </a:rPr>
              <a:t>Evaluate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25" dirty="0">
                <a:solidFill>
                  <a:srgbClr val="263138"/>
                </a:solidFill>
                <a:latin typeface="Trebuchet MS"/>
                <a:cs typeface="Trebuchet MS"/>
              </a:rPr>
              <a:t>new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state.</a:t>
            </a:r>
            <a:endParaRPr dirty="0">
              <a:latin typeface="Trebuchet MS"/>
              <a:cs typeface="Trebuchet MS"/>
            </a:endParaRPr>
          </a:p>
          <a:p>
            <a:pPr marL="810895" lvl="1" indent="-340995">
              <a:buAutoNum type="alphaLcPeriod"/>
              <a:tabLst>
                <a:tab pos="810895" algn="l"/>
              </a:tabLst>
            </a:pP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If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30" dirty="0">
                <a:solidFill>
                  <a:srgbClr val="263138"/>
                </a:solidFill>
                <a:latin typeface="Trebuchet MS"/>
                <a:cs typeface="Trebuchet MS"/>
              </a:rPr>
              <a:t>new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state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is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75" dirty="0">
                <a:solidFill>
                  <a:srgbClr val="263138"/>
                </a:solidFill>
                <a:latin typeface="Trebuchet MS"/>
                <a:cs typeface="Trebuchet MS"/>
              </a:rPr>
              <a:t>goal,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return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5" dirty="0">
                <a:solidFill>
                  <a:srgbClr val="263138"/>
                </a:solidFill>
                <a:latin typeface="Trebuchet MS"/>
                <a:cs typeface="Trebuchet MS"/>
              </a:rPr>
              <a:t>success.</a:t>
            </a:r>
            <a:endParaRPr dirty="0">
              <a:latin typeface="Trebuchet MS"/>
              <a:cs typeface="Trebuchet MS"/>
            </a:endParaRPr>
          </a:p>
          <a:p>
            <a:pPr marL="809625" marR="5080" lvl="1" indent="-340360">
              <a:buAutoNum type="alphaLcPeriod"/>
              <a:tabLst>
                <a:tab pos="812800" algn="l"/>
              </a:tabLst>
            </a:pP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If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3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30" dirty="0">
                <a:solidFill>
                  <a:srgbClr val="263138"/>
                </a:solidFill>
                <a:latin typeface="Trebuchet MS"/>
                <a:cs typeface="Trebuchet MS"/>
              </a:rPr>
              <a:t>new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state</a:t>
            </a:r>
            <a:r>
              <a:rPr spc="3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20" dirty="0">
                <a:solidFill>
                  <a:srgbClr val="263138"/>
                </a:solidFill>
                <a:latin typeface="Trebuchet MS"/>
                <a:cs typeface="Trebuchet MS"/>
              </a:rPr>
              <a:t>improves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35" dirty="0">
                <a:solidFill>
                  <a:srgbClr val="263138"/>
                </a:solidFill>
                <a:latin typeface="Trebuchet MS"/>
                <a:cs typeface="Trebuchet MS"/>
              </a:rPr>
              <a:t>upon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3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current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state,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40" dirty="0">
                <a:solidFill>
                  <a:srgbClr val="263138"/>
                </a:solidFill>
                <a:latin typeface="Trebuchet MS"/>
                <a:cs typeface="Trebuchet MS"/>
              </a:rPr>
              <a:t>make</a:t>
            </a:r>
            <a:r>
              <a:rPr spc="3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it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the 	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current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state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40" dirty="0">
                <a:solidFill>
                  <a:srgbClr val="263138"/>
                </a:solidFill>
                <a:latin typeface="Trebuchet MS"/>
                <a:cs typeface="Trebuchet MS"/>
              </a:rPr>
              <a:t>and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continue.</a:t>
            </a:r>
            <a:endParaRPr dirty="0">
              <a:latin typeface="Trebuchet MS"/>
              <a:cs typeface="Trebuchet MS"/>
            </a:endParaRPr>
          </a:p>
          <a:p>
            <a:pPr marL="810260" lvl="1" indent="-340360">
              <a:buAutoNum type="alphaLcPeriod"/>
              <a:tabLst>
                <a:tab pos="810260" algn="l"/>
              </a:tabLst>
            </a:pP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If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it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doesn’t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improve,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0" dirty="0">
                <a:solidFill>
                  <a:srgbClr val="263138"/>
                </a:solidFill>
                <a:latin typeface="Trebuchet MS"/>
                <a:cs typeface="Trebuchet MS"/>
              </a:rPr>
              <a:t>continue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4" dirty="0">
                <a:solidFill>
                  <a:srgbClr val="263138"/>
                </a:solidFill>
                <a:latin typeface="Trebuchet MS"/>
                <a:cs typeface="Trebuchet MS"/>
              </a:rPr>
              <a:t>searching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0" dirty="0">
                <a:solidFill>
                  <a:srgbClr val="263138"/>
                </a:solidFill>
                <a:latin typeface="Trebuchet MS"/>
                <a:cs typeface="Trebuchet MS"/>
              </a:rPr>
              <a:t>neighboring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states.</a:t>
            </a:r>
            <a:endParaRPr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01697" y="818185"/>
            <a:ext cx="7654290" cy="58554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105" dirty="0">
                <a:solidFill>
                  <a:srgbClr val="263138"/>
                </a:solidFill>
                <a:latin typeface="Trebuchet MS"/>
                <a:cs typeface="Trebuchet MS"/>
              </a:rPr>
              <a:t>2.</a:t>
            </a:r>
            <a:r>
              <a:rPr b="1" spc="10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195" dirty="0">
                <a:solidFill>
                  <a:srgbClr val="263138"/>
                </a:solidFill>
                <a:latin typeface="Trebuchet MS"/>
                <a:cs typeface="Trebuchet MS"/>
              </a:rPr>
              <a:t>Steepest-Ascent</a:t>
            </a:r>
            <a:r>
              <a:rPr b="1" spc="10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125" dirty="0">
                <a:solidFill>
                  <a:srgbClr val="263138"/>
                </a:solidFill>
                <a:latin typeface="Trebuchet MS"/>
                <a:cs typeface="Trebuchet MS"/>
              </a:rPr>
              <a:t>Hill</a:t>
            </a:r>
            <a:r>
              <a:rPr b="1" spc="9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185" dirty="0">
                <a:solidFill>
                  <a:srgbClr val="263138"/>
                </a:solidFill>
                <a:latin typeface="Trebuchet MS"/>
                <a:cs typeface="Trebuchet MS"/>
              </a:rPr>
              <a:t>Climbing</a:t>
            </a:r>
            <a:endParaRPr>
              <a:latin typeface="Trebuchet MS"/>
              <a:cs typeface="Trebuchet MS"/>
            </a:endParaRPr>
          </a:p>
          <a:p>
            <a:pPr marL="12700" marR="5080"/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Steepest-</a:t>
            </a:r>
            <a:r>
              <a:rPr spc="114" dirty="0">
                <a:solidFill>
                  <a:srgbClr val="263138"/>
                </a:solidFill>
                <a:latin typeface="Trebuchet MS"/>
                <a:cs typeface="Trebuchet MS"/>
              </a:rPr>
              <a:t>Ascent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Hill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5" dirty="0">
                <a:solidFill>
                  <a:srgbClr val="263138"/>
                </a:solidFill>
                <a:latin typeface="Trebuchet MS"/>
                <a:cs typeface="Trebuchet MS"/>
              </a:rPr>
              <a:t>Climbing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is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50" dirty="0">
                <a:solidFill>
                  <a:srgbClr val="263138"/>
                </a:solidFill>
                <a:latin typeface="Trebuchet MS"/>
                <a:cs typeface="Trebuchet MS"/>
              </a:rPr>
              <a:t>an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25" dirty="0">
                <a:solidFill>
                  <a:srgbClr val="263138"/>
                </a:solidFill>
                <a:latin typeface="Trebuchet MS"/>
                <a:cs typeface="Trebuchet MS"/>
              </a:rPr>
              <a:t>enhanced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0" dirty="0">
                <a:solidFill>
                  <a:srgbClr val="263138"/>
                </a:solidFill>
                <a:latin typeface="Trebuchet MS"/>
                <a:cs typeface="Trebuchet MS"/>
              </a:rPr>
              <a:t>version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of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5" dirty="0">
                <a:solidFill>
                  <a:srgbClr val="263138"/>
                </a:solidFill>
                <a:latin typeface="Trebuchet MS"/>
                <a:cs typeface="Trebuchet MS"/>
              </a:rPr>
              <a:t>simple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-20" dirty="0">
                <a:solidFill>
                  <a:srgbClr val="263138"/>
                </a:solidFill>
                <a:latin typeface="Trebuchet MS"/>
                <a:cs typeface="Trebuchet MS"/>
              </a:rPr>
              <a:t>hill </a:t>
            </a:r>
            <a:r>
              <a:rPr spc="75" dirty="0">
                <a:solidFill>
                  <a:srgbClr val="263138"/>
                </a:solidFill>
                <a:latin typeface="Trebuchet MS"/>
                <a:cs typeface="Trebuchet MS"/>
              </a:rPr>
              <a:t>climbing.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5" dirty="0">
                <a:solidFill>
                  <a:srgbClr val="263138"/>
                </a:solidFill>
                <a:latin typeface="Trebuchet MS"/>
                <a:cs typeface="Trebuchet MS"/>
              </a:rPr>
              <a:t>Instead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of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50" dirty="0">
                <a:solidFill>
                  <a:srgbClr val="263138"/>
                </a:solidFill>
                <a:latin typeface="Trebuchet MS"/>
                <a:cs typeface="Trebuchet MS"/>
              </a:rPr>
              <a:t>moving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to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first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4" dirty="0">
                <a:solidFill>
                  <a:srgbClr val="263138"/>
                </a:solidFill>
                <a:latin typeface="Trebuchet MS"/>
                <a:cs typeface="Trebuchet MS"/>
              </a:rPr>
              <a:t>neighboring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30" dirty="0">
                <a:solidFill>
                  <a:srgbClr val="263138"/>
                </a:solidFill>
                <a:latin typeface="Trebuchet MS"/>
                <a:cs typeface="Trebuchet MS"/>
              </a:rPr>
              <a:t>node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that </a:t>
            </a:r>
            <a:r>
              <a:rPr spc="120" dirty="0">
                <a:solidFill>
                  <a:srgbClr val="263138"/>
                </a:solidFill>
                <a:latin typeface="Trebuchet MS"/>
                <a:cs typeface="Trebuchet MS"/>
              </a:rPr>
              <a:t>improves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state,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it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0" dirty="0">
                <a:solidFill>
                  <a:srgbClr val="263138"/>
                </a:solidFill>
                <a:latin typeface="Trebuchet MS"/>
                <a:cs typeface="Trebuchet MS"/>
              </a:rPr>
              <a:t>evaluates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all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20" dirty="0">
                <a:solidFill>
                  <a:srgbClr val="263138"/>
                </a:solidFill>
                <a:latin typeface="Trebuchet MS"/>
                <a:cs typeface="Trebuchet MS"/>
              </a:rPr>
              <a:t>neighbors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40" dirty="0">
                <a:solidFill>
                  <a:srgbClr val="263138"/>
                </a:solidFill>
                <a:latin typeface="Trebuchet MS"/>
                <a:cs typeface="Trebuchet MS"/>
              </a:rPr>
              <a:t>and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70" dirty="0">
                <a:solidFill>
                  <a:srgbClr val="263138"/>
                </a:solidFill>
                <a:latin typeface="Trebuchet MS"/>
                <a:cs typeface="Trebuchet MS"/>
              </a:rPr>
              <a:t>moves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to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the </a:t>
            </a:r>
            <a:r>
              <a:rPr spc="130" dirty="0">
                <a:solidFill>
                  <a:srgbClr val="263138"/>
                </a:solidFill>
                <a:latin typeface="Trebuchet MS"/>
                <a:cs typeface="Trebuchet MS"/>
              </a:rPr>
              <a:t>one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offering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0" dirty="0">
                <a:solidFill>
                  <a:srgbClr val="263138"/>
                </a:solidFill>
                <a:latin typeface="Trebuchet MS"/>
                <a:cs typeface="Trebuchet MS"/>
              </a:rPr>
              <a:t>highest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0" dirty="0">
                <a:solidFill>
                  <a:srgbClr val="263138"/>
                </a:solidFill>
                <a:latin typeface="Trebuchet MS"/>
                <a:cs typeface="Trebuchet MS"/>
              </a:rPr>
              <a:t>improvement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(steepest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ascent).</a:t>
            </a:r>
            <a:endParaRPr>
              <a:latin typeface="Trebuchet MS"/>
              <a:cs typeface="Trebuchet MS"/>
            </a:endParaRPr>
          </a:p>
          <a:p>
            <a:pPr>
              <a:spcBef>
                <a:spcPts val="70"/>
              </a:spcBef>
            </a:pPr>
            <a:endParaRPr>
              <a:latin typeface="Trebuchet MS"/>
              <a:cs typeface="Trebuchet MS"/>
            </a:endParaRPr>
          </a:p>
          <a:p>
            <a:pPr marL="12700"/>
            <a:r>
              <a:rPr b="1" spc="195" dirty="0">
                <a:solidFill>
                  <a:srgbClr val="263138"/>
                </a:solidFill>
                <a:latin typeface="Trebuchet MS"/>
                <a:cs typeface="Trebuchet MS"/>
              </a:rPr>
              <a:t>Algorithm</a:t>
            </a:r>
            <a:r>
              <a:rPr b="1" spc="8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140" dirty="0">
                <a:solidFill>
                  <a:srgbClr val="263138"/>
                </a:solidFill>
                <a:latin typeface="Trebuchet MS"/>
                <a:cs typeface="Trebuchet MS"/>
              </a:rPr>
              <a:t>for</a:t>
            </a:r>
            <a:r>
              <a:rPr b="1" spc="9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195" dirty="0">
                <a:solidFill>
                  <a:srgbClr val="263138"/>
                </a:solidFill>
                <a:latin typeface="Trebuchet MS"/>
                <a:cs typeface="Trebuchet MS"/>
              </a:rPr>
              <a:t>Steepest-</a:t>
            </a:r>
            <a:r>
              <a:rPr b="1" spc="200" dirty="0">
                <a:solidFill>
                  <a:srgbClr val="263138"/>
                </a:solidFill>
                <a:latin typeface="Trebuchet MS"/>
                <a:cs typeface="Trebuchet MS"/>
              </a:rPr>
              <a:t>Ascent</a:t>
            </a:r>
            <a:r>
              <a:rPr b="1" spc="9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125" dirty="0">
                <a:solidFill>
                  <a:srgbClr val="263138"/>
                </a:solidFill>
                <a:latin typeface="Trebuchet MS"/>
                <a:cs typeface="Trebuchet MS"/>
              </a:rPr>
              <a:t>Hill</a:t>
            </a:r>
            <a:r>
              <a:rPr b="1" spc="8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185" dirty="0">
                <a:solidFill>
                  <a:srgbClr val="263138"/>
                </a:solidFill>
                <a:latin typeface="Trebuchet MS"/>
                <a:cs typeface="Trebuchet MS"/>
              </a:rPr>
              <a:t>Climbing</a:t>
            </a:r>
            <a:endParaRPr>
              <a:latin typeface="Trebuchet MS"/>
              <a:cs typeface="Trebuchet MS"/>
            </a:endParaRPr>
          </a:p>
          <a:p>
            <a:pPr>
              <a:spcBef>
                <a:spcPts val="65"/>
              </a:spcBef>
            </a:pPr>
            <a:endParaRPr>
              <a:latin typeface="Trebuchet MS"/>
              <a:cs typeface="Trebuchet MS"/>
            </a:endParaRPr>
          </a:p>
          <a:p>
            <a:pPr marL="229235" indent="-216535">
              <a:spcBef>
                <a:spcPts val="5"/>
              </a:spcBef>
              <a:buSzPct val="94444"/>
              <a:buAutoNum type="arabicPeriod"/>
              <a:tabLst>
                <a:tab pos="229235" algn="l"/>
              </a:tabLst>
            </a:pPr>
            <a:r>
              <a:rPr spc="105" dirty="0">
                <a:solidFill>
                  <a:srgbClr val="263138"/>
                </a:solidFill>
                <a:latin typeface="Trebuchet MS"/>
                <a:cs typeface="Trebuchet MS"/>
              </a:rPr>
              <a:t>Evaluate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initial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state.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If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it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is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50" dirty="0">
                <a:solidFill>
                  <a:srgbClr val="263138"/>
                </a:solidFill>
                <a:latin typeface="Trebuchet MS"/>
                <a:cs typeface="Trebuchet MS"/>
              </a:rPr>
              <a:t>a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4" dirty="0">
                <a:solidFill>
                  <a:srgbClr val="263138"/>
                </a:solidFill>
                <a:latin typeface="Trebuchet MS"/>
                <a:cs typeface="Trebuchet MS"/>
              </a:rPr>
              <a:t>goal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state,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return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5" dirty="0">
                <a:solidFill>
                  <a:srgbClr val="263138"/>
                </a:solidFill>
                <a:latin typeface="Trebuchet MS"/>
                <a:cs typeface="Trebuchet MS"/>
              </a:rPr>
              <a:t>success.</a:t>
            </a:r>
            <a:endParaRPr>
              <a:latin typeface="Trebuchet MS"/>
              <a:cs typeface="Trebuchet MS"/>
            </a:endParaRPr>
          </a:p>
          <a:p>
            <a:pPr marL="229235" indent="-216535">
              <a:buSzPct val="94444"/>
              <a:buAutoNum type="arabicPeriod"/>
              <a:tabLst>
                <a:tab pos="229235" algn="l"/>
              </a:tabLst>
            </a:pPr>
            <a:r>
              <a:rPr spc="150" dirty="0">
                <a:solidFill>
                  <a:srgbClr val="263138"/>
                </a:solidFill>
                <a:latin typeface="Trebuchet MS"/>
                <a:cs typeface="Trebuchet MS"/>
              </a:rPr>
              <a:t>Make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7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initial</a:t>
            </a:r>
            <a:r>
              <a:rPr spc="7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state</a:t>
            </a:r>
            <a:r>
              <a:rPr spc="7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7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current</a:t>
            </a:r>
            <a:r>
              <a:rPr spc="7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state.</a:t>
            </a:r>
            <a:endParaRPr>
              <a:latin typeface="Trebuchet MS"/>
              <a:cs typeface="Trebuchet MS"/>
            </a:endParaRPr>
          </a:p>
          <a:p>
            <a:pPr marL="12700" marR="330200" indent="216535">
              <a:buSzPct val="94444"/>
              <a:buAutoNum type="arabicPeriod"/>
              <a:tabLst>
                <a:tab pos="229235" algn="l"/>
              </a:tabLst>
            </a:pP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Repeat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until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solution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is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5" dirty="0">
                <a:solidFill>
                  <a:srgbClr val="263138"/>
                </a:solidFill>
                <a:latin typeface="Trebuchet MS"/>
                <a:cs typeface="Trebuchet MS"/>
              </a:rPr>
              <a:t>found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or</a:t>
            </a:r>
            <a:r>
              <a:rPr spc="7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current </a:t>
            </a:r>
            <a:r>
              <a:rPr spc="90" dirty="0">
                <a:solidFill>
                  <a:srgbClr val="263138"/>
                </a:solidFill>
                <a:latin typeface="Trebuchet MS"/>
                <a:cs typeface="Trebuchet MS"/>
              </a:rPr>
              <a:t>state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5" dirty="0">
                <a:solidFill>
                  <a:srgbClr val="263138"/>
                </a:solidFill>
                <a:latin typeface="Trebuchet MS"/>
                <a:cs typeface="Trebuchet MS"/>
              </a:rPr>
              <a:t>remains </a:t>
            </a:r>
            <a:r>
              <a:rPr spc="110" dirty="0">
                <a:solidFill>
                  <a:srgbClr val="263138"/>
                </a:solidFill>
                <a:latin typeface="Trebuchet MS"/>
                <a:cs typeface="Trebuchet MS"/>
              </a:rPr>
              <a:t>unchanged:</a:t>
            </a:r>
            <a:endParaRPr>
              <a:latin typeface="Trebuchet MS"/>
              <a:cs typeface="Trebuchet MS"/>
            </a:endParaRPr>
          </a:p>
          <a:p>
            <a:pPr marL="810260" marR="193675" lvl="1" indent="-340995">
              <a:buAutoNum type="alphaLcPeriod"/>
              <a:tabLst>
                <a:tab pos="812800" algn="l"/>
              </a:tabLst>
            </a:pPr>
            <a:r>
              <a:rPr spc="90" dirty="0">
                <a:solidFill>
                  <a:srgbClr val="263138"/>
                </a:solidFill>
                <a:latin typeface="Trebuchet MS"/>
                <a:cs typeface="Trebuchet MS"/>
              </a:rPr>
              <a:t>Select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50" dirty="0">
                <a:solidFill>
                  <a:srgbClr val="263138"/>
                </a:solidFill>
                <a:latin typeface="Trebuchet MS"/>
                <a:cs typeface="Trebuchet MS"/>
              </a:rPr>
              <a:t>a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25" dirty="0">
                <a:solidFill>
                  <a:srgbClr val="263138"/>
                </a:solidFill>
                <a:latin typeface="Trebuchet MS"/>
                <a:cs typeface="Trebuchet MS"/>
              </a:rPr>
              <a:t>new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state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that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hasn’t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25" dirty="0">
                <a:solidFill>
                  <a:srgbClr val="263138"/>
                </a:solidFill>
                <a:latin typeface="Trebuchet MS"/>
                <a:cs typeface="Trebuchet MS"/>
              </a:rPr>
              <a:t>been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0" dirty="0">
                <a:solidFill>
                  <a:srgbClr val="263138"/>
                </a:solidFill>
                <a:latin typeface="Trebuchet MS"/>
                <a:cs typeface="Trebuchet MS"/>
              </a:rPr>
              <a:t>applied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to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current 	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state.</a:t>
            </a:r>
            <a:endParaRPr>
              <a:latin typeface="Trebuchet MS"/>
              <a:cs typeface="Trebuchet MS"/>
            </a:endParaRPr>
          </a:p>
          <a:p>
            <a:pPr marL="809625" marR="1393190" lvl="1" indent="-340360">
              <a:buAutoNum type="alphaLcPeriod"/>
              <a:tabLst>
                <a:tab pos="812800" algn="l"/>
              </a:tabLst>
            </a:pP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Initialize</a:t>
            </a:r>
            <a:r>
              <a:rPr spc="9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50" dirty="0">
                <a:solidFill>
                  <a:srgbClr val="263138"/>
                </a:solidFill>
                <a:latin typeface="Trebuchet MS"/>
                <a:cs typeface="Trebuchet MS"/>
              </a:rPr>
              <a:t>a</a:t>
            </a:r>
            <a:r>
              <a:rPr spc="10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70" dirty="0">
                <a:solidFill>
                  <a:srgbClr val="263138"/>
                </a:solidFill>
                <a:latin typeface="Trebuchet MS"/>
                <a:cs typeface="Trebuchet MS"/>
              </a:rPr>
              <a:t>‘best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state’</a:t>
            </a:r>
            <a:r>
              <a:rPr spc="10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0" dirty="0">
                <a:solidFill>
                  <a:srgbClr val="263138"/>
                </a:solidFill>
                <a:latin typeface="Trebuchet MS"/>
                <a:cs typeface="Trebuchet MS"/>
              </a:rPr>
              <a:t>variable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40" dirty="0">
                <a:solidFill>
                  <a:srgbClr val="263138"/>
                </a:solidFill>
                <a:latin typeface="Trebuchet MS"/>
                <a:cs typeface="Trebuchet MS"/>
              </a:rPr>
              <a:t>and</a:t>
            </a:r>
            <a:r>
              <a:rPr spc="9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0" dirty="0">
                <a:solidFill>
                  <a:srgbClr val="263138"/>
                </a:solidFill>
                <a:latin typeface="Trebuchet MS"/>
                <a:cs typeface="Trebuchet MS"/>
              </a:rPr>
              <a:t>evaluate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-25" dirty="0">
                <a:solidFill>
                  <a:srgbClr val="263138"/>
                </a:solidFill>
                <a:latin typeface="Trebuchet MS"/>
                <a:cs typeface="Trebuchet MS"/>
              </a:rPr>
              <a:t>all 	</a:t>
            </a:r>
            <a:r>
              <a:rPr spc="110" dirty="0">
                <a:solidFill>
                  <a:srgbClr val="263138"/>
                </a:solidFill>
                <a:latin typeface="Trebuchet MS"/>
                <a:cs typeface="Trebuchet MS"/>
              </a:rPr>
              <a:t>neighboring</a:t>
            </a:r>
            <a:r>
              <a:rPr spc="7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states.</a:t>
            </a:r>
            <a:endParaRPr>
              <a:latin typeface="Trebuchet MS"/>
              <a:cs typeface="Trebuchet MS"/>
            </a:endParaRPr>
          </a:p>
          <a:p>
            <a:pPr marL="810895" lvl="1" indent="-340995">
              <a:buAutoNum type="alphaLcPeriod"/>
              <a:tabLst>
                <a:tab pos="810895" algn="l"/>
              </a:tabLst>
            </a:pP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If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50" dirty="0">
                <a:solidFill>
                  <a:srgbClr val="263138"/>
                </a:solidFill>
                <a:latin typeface="Trebuchet MS"/>
                <a:cs typeface="Trebuchet MS"/>
              </a:rPr>
              <a:t>a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better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state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is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70" dirty="0">
                <a:solidFill>
                  <a:srgbClr val="263138"/>
                </a:solidFill>
                <a:latin typeface="Trebuchet MS"/>
                <a:cs typeface="Trebuchet MS"/>
              </a:rPr>
              <a:t>found,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5" dirty="0">
                <a:solidFill>
                  <a:srgbClr val="263138"/>
                </a:solidFill>
                <a:latin typeface="Trebuchet MS"/>
                <a:cs typeface="Trebuchet MS"/>
              </a:rPr>
              <a:t>update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0" dirty="0">
                <a:solidFill>
                  <a:srgbClr val="263138"/>
                </a:solidFill>
                <a:latin typeface="Trebuchet MS"/>
                <a:cs typeface="Trebuchet MS"/>
              </a:rPr>
              <a:t>best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state.</a:t>
            </a:r>
            <a:endParaRPr>
              <a:latin typeface="Trebuchet MS"/>
              <a:cs typeface="Trebuchet MS"/>
            </a:endParaRPr>
          </a:p>
          <a:p>
            <a:pPr marL="810260" lvl="1" indent="-340360">
              <a:buAutoNum type="alphaLcPeriod"/>
              <a:tabLst>
                <a:tab pos="810260" algn="l"/>
              </a:tabLst>
            </a:pP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If</a:t>
            </a:r>
            <a:r>
              <a:rPr spc="2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3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0" dirty="0">
                <a:solidFill>
                  <a:srgbClr val="263138"/>
                </a:solidFill>
                <a:latin typeface="Trebuchet MS"/>
                <a:cs typeface="Trebuchet MS"/>
              </a:rPr>
              <a:t>best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state</a:t>
            </a:r>
            <a:r>
              <a:rPr spc="3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is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3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75" dirty="0">
                <a:solidFill>
                  <a:srgbClr val="263138"/>
                </a:solidFill>
                <a:latin typeface="Trebuchet MS"/>
                <a:cs typeface="Trebuchet MS"/>
              </a:rPr>
              <a:t>goal,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return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5" dirty="0">
                <a:solidFill>
                  <a:srgbClr val="263138"/>
                </a:solidFill>
                <a:latin typeface="Trebuchet MS"/>
                <a:cs typeface="Trebuchet MS"/>
              </a:rPr>
              <a:t>success.</a:t>
            </a:r>
            <a:endParaRPr>
              <a:latin typeface="Trebuchet MS"/>
              <a:cs typeface="Trebuchet MS"/>
            </a:endParaRPr>
          </a:p>
          <a:p>
            <a:pPr marL="809625" marR="248920" lvl="1" indent="-340360">
              <a:buAutoNum type="alphaLcPeriod"/>
              <a:tabLst>
                <a:tab pos="812800" algn="l"/>
              </a:tabLst>
            </a:pP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If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0" dirty="0">
                <a:solidFill>
                  <a:srgbClr val="263138"/>
                </a:solidFill>
                <a:latin typeface="Trebuchet MS"/>
                <a:cs typeface="Trebuchet MS"/>
              </a:rPr>
              <a:t>best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state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20" dirty="0">
                <a:solidFill>
                  <a:srgbClr val="263138"/>
                </a:solidFill>
                <a:latin typeface="Trebuchet MS"/>
                <a:cs typeface="Trebuchet MS"/>
              </a:rPr>
              <a:t>improves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35" dirty="0">
                <a:solidFill>
                  <a:srgbClr val="263138"/>
                </a:solidFill>
                <a:latin typeface="Trebuchet MS"/>
                <a:cs typeface="Trebuchet MS"/>
              </a:rPr>
              <a:t>upon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current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state,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40" dirty="0">
                <a:solidFill>
                  <a:srgbClr val="263138"/>
                </a:solidFill>
                <a:latin typeface="Trebuchet MS"/>
                <a:cs typeface="Trebuchet MS"/>
              </a:rPr>
              <a:t>make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-25" dirty="0">
                <a:solidFill>
                  <a:srgbClr val="263138"/>
                </a:solidFill>
                <a:latin typeface="Trebuchet MS"/>
                <a:cs typeface="Trebuchet MS"/>
              </a:rPr>
              <a:t>it 	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3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25" dirty="0">
                <a:solidFill>
                  <a:srgbClr val="263138"/>
                </a:solidFill>
                <a:latin typeface="Trebuchet MS"/>
                <a:cs typeface="Trebuchet MS"/>
              </a:rPr>
              <a:t>new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current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0" dirty="0">
                <a:solidFill>
                  <a:srgbClr val="263138"/>
                </a:solidFill>
                <a:latin typeface="Trebuchet MS"/>
                <a:cs typeface="Trebuchet MS"/>
              </a:rPr>
              <a:t>state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40" dirty="0">
                <a:solidFill>
                  <a:srgbClr val="263138"/>
                </a:solidFill>
                <a:latin typeface="Trebuchet MS"/>
                <a:cs typeface="Trebuchet MS"/>
              </a:rPr>
              <a:t>and</a:t>
            </a:r>
            <a:r>
              <a:rPr spc="3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repeat.</a:t>
            </a:r>
            <a:endParaRPr>
              <a:latin typeface="Trebuchet MS"/>
              <a:cs typeface="Trebuchet MS"/>
            </a:endParaRPr>
          </a:p>
          <a:p>
            <a:pPr marL="229235" indent="-216535">
              <a:buSzPct val="94444"/>
              <a:buAutoNum type="arabicPeriod"/>
              <a:tabLst>
                <a:tab pos="229235" algn="l"/>
              </a:tabLst>
            </a:pPr>
            <a:r>
              <a:rPr spc="75" dirty="0">
                <a:solidFill>
                  <a:srgbClr val="263138"/>
                </a:solidFill>
                <a:latin typeface="Trebuchet MS"/>
                <a:cs typeface="Trebuchet MS"/>
              </a:rPr>
              <a:t>Exit</a:t>
            </a:r>
            <a:r>
              <a:rPr spc="3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3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75" dirty="0">
                <a:solidFill>
                  <a:srgbClr val="263138"/>
                </a:solidFill>
                <a:latin typeface="Trebuchet MS"/>
                <a:cs typeface="Trebuchet MS"/>
              </a:rPr>
              <a:t>function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if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30" dirty="0">
                <a:solidFill>
                  <a:srgbClr val="263138"/>
                </a:solidFill>
                <a:latin typeface="Trebuchet MS"/>
                <a:cs typeface="Trebuchet MS"/>
              </a:rPr>
              <a:t>no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better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state</a:t>
            </a:r>
            <a:r>
              <a:rPr spc="3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is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found.</a:t>
            </a:r>
            <a:endParaRPr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86344" y="499579"/>
            <a:ext cx="8373109" cy="4963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915" indent="-323215" algn="just">
              <a:spcBef>
                <a:spcPts val="100"/>
              </a:spcBef>
              <a:buClr>
                <a:srgbClr val="263138"/>
              </a:buClr>
              <a:buFont typeface="Trebuchet MS"/>
              <a:buAutoNum type="arabicPeriod" startAt="3"/>
              <a:tabLst>
                <a:tab pos="335915" algn="l"/>
              </a:tabLst>
            </a:pPr>
            <a:r>
              <a:rPr b="1" spc="190" dirty="0">
                <a:solidFill>
                  <a:srgbClr val="263138"/>
                </a:solidFill>
                <a:latin typeface="Trebuchet MS"/>
                <a:cs typeface="Trebuchet MS"/>
              </a:rPr>
              <a:t>Stochastic</a:t>
            </a:r>
            <a:r>
              <a:rPr b="1" spc="10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125" dirty="0">
                <a:solidFill>
                  <a:srgbClr val="263138"/>
                </a:solidFill>
                <a:latin typeface="Trebuchet MS"/>
                <a:cs typeface="Trebuchet MS"/>
              </a:rPr>
              <a:t>Hill</a:t>
            </a:r>
            <a:r>
              <a:rPr b="1" spc="10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185" dirty="0">
                <a:solidFill>
                  <a:srgbClr val="263138"/>
                </a:solidFill>
                <a:latin typeface="Trebuchet MS"/>
                <a:cs typeface="Trebuchet MS"/>
              </a:rPr>
              <a:t>Climbing</a:t>
            </a:r>
            <a:endParaRPr>
              <a:latin typeface="Trebuchet MS"/>
              <a:cs typeface="Trebuchet MS"/>
            </a:endParaRPr>
          </a:p>
          <a:p>
            <a:pPr marL="12700" marR="53340" algn="just"/>
            <a:r>
              <a:rPr spc="105" dirty="0">
                <a:solidFill>
                  <a:srgbClr val="263138"/>
                </a:solidFill>
                <a:latin typeface="Trebuchet MS"/>
                <a:cs typeface="Trebuchet MS"/>
              </a:rPr>
              <a:t>Stochastic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Hill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5" dirty="0">
                <a:solidFill>
                  <a:srgbClr val="263138"/>
                </a:solidFill>
                <a:latin typeface="Trebuchet MS"/>
                <a:cs typeface="Trebuchet MS"/>
              </a:rPr>
              <a:t>Climbing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0" dirty="0">
                <a:solidFill>
                  <a:srgbClr val="263138"/>
                </a:solidFill>
                <a:latin typeface="Trebuchet MS"/>
                <a:cs typeface="Trebuchet MS"/>
              </a:rPr>
              <a:t>introduces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45" dirty="0">
                <a:solidFill>
                  <a:srgbClr val="263138"/>
                </a:solidFill>
                <a:latin typeface="Trebuchet MS"/>
                <a:cs typeface="Trebuchet MS"/>
              </a:rPr>
              <a:t>randomness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into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0" dirty="0">
                <a:solidFill>
                  <a:srgbClr val="263138"/>
                </a:solidFill>
                <a:latin typeface="Trebuchet MS"/>
                <a:cs typeface="Trebuchet MS"/>
              </a:rPr>
              <a:t>search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process. </a:t>
            </a:r>
            <a:r>
              <a:rPr spc="110" dirty="0">
                <a:solidFill>
                  <a:srgbClr val="263138"/>
                </a:solidFill>
                <a:latin typeface="Trebuchet MS"/>
                <a:cs typeface="Trebuchet MS"/>
              </a:rPr>
              <a:t>Instead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of</a:t>
            </a:r>
            <a:r>
              <a:rPr spc="7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0" dirty="0">
                <a:solidFill>
                  <a:srgbClr val="263138"/>
                </a:solidFill>
                <a:latin typeface="Trebuchet MS"/>
                <a:cs typeface="Trebuchet MS"/>
              </a:rPr>
              <a:t>evaluating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all</a:t>
            </a:r>
            <a:r>
              <a:rPr spc="7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20" dirty="0">
                <a:solidFill>
                  <a:srgbClr val="263138"/>
                </a:solidFill>
                <a:latin typeface="Trebuchet MS"/>
                <a:cs typeface="Trebuchet MS"/>
              </a:rPr>
              <a:t>neighbors</a:t>
            </a:r>
            <a:r>
              <a:rPr spc="7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or</a:t>
            </a:r>
            <a:r>
              <a:rPr spc="7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0" dirty="0">
                <a:solidFill>
                  <a:srgbClr val="263138"/>
                </a:solidFill>
                <a:latin typeface="Trebuchet MS"/>
                <a:cs typeface="Trebuchet MS"/>
              </a:rPr>
              <a:t>selecting</a:t>
            </a:r>
            <a:r>
              <a:rPr spc="7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first</a:t>
            </a:r>
            <a:r>
              <a:rPr spc="7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improvement,</a:t>
            </a:r>
            <a:r>
              <a:rPr spc="7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-25" dirty="0">
                <a:solidFill>
                  <a:srgbClr val="263138"/>
                </a:solidFill>
                <a:latin typeface="Trebuchet MS"/>
                <a:cs typeface="Trebuchet MS"/>
              </a:rPr>
              <a:t>it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selects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50" dirty="0">
                <a:solidFill>
                  <a:srgbClr val="263138"/>
                </a:solidFill>
                <a:latin typeface="Trebuchet MS"/>
                <a:cs typeface="Trebuchet MS"/>
              </a:rPr>
              <a:t>a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35" dirty="0">
                <a:solidFill>
                  <a:srgbClr val="263138"/>
                </a:solidFill>
                <a:latin typeface="Trebuchet MS"/>
                <a:cs typeface="Trebuchet MS"/>
              </a:rPr>
              <a:t>random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0" dirty="0">
                <a:solidFill>
                  <a:srgbClr val="263138"/>
                </a:solidFill>
                <a:latin typeface="Trebuchet MS"/>
                <a:cs typeface="Trebuchet MS"/>
              </a:rPr>
              <a:t>neighboring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30" dirty="0">
                <a:solidFill>
                  <a:srgbClr val="263138"/>
                </a:solidFill>
                <a:latin typeface="Trebuchet MS"/>
                <a:cs typeface="Trebuchet MS"/>
              </a:rPr>
              <a:t>node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40" dirty="0">
                <a:solidFill>
                  <a:srgbClr val="263138"/>
                </a:solidFill>
                <a:latin typeface="Trebuchet MS"/>
                <a:cs typeface="Trebuchet MS"/>
              </a:rPr>
              <a:t>and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0" dirty="0">
                <a:solidFill>
                  <a:srgbClr val="263138"/>
                </a:solidFill>
                <a:latin typeface="Trebuchet MS"/>
                <a:cs typeface="Trebuchet MS"/>
              </a:rPr>
              <a:t>decides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0" dirty="0">
                <a:solidFill>
                  <a:srgbClr val="263138"/>
                </a:solidFill>
                <a:latin typeface="Trebuchet MS"/>
                <a:cs typeface="Trebuchet MS"/>
              </a:rPr>
              <a:t>whether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to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60" dirty="0">
                <a:solidFill>
                  <a:srgbClr val="263138"/>
                </a:solidFill>
                <a:latin typeface="Trebuchet MS"/>
                <a:cs typeface="Trebuchet MS"/>
              </a:rPr>
              <a:t>move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35" dirty="0">
                <a:solidFill>
                  <a:srgbClr val="263138"/>
                </a:solidFill>
                <a:latin typeface="Trebuchet MS"/>
                <a:cs typeface="Trebuchet MS"/>
              </a:rPr>
              <a:t>based </a:t>
            </a:r>
            <a:r>
              <a:rPr spc="140" dirty="0">
                <a:solidFill>
                  <a:srgbClr val="263138"/>
                </a:solidFill>
                <a:latin typeface="Trebuchet MS"/>
                <a:cs typeface="Trebuchet MS"/>
              </a:rPr>
              <a:t>on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its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0" dirty="0">
                <a:solidFill>
                  <a:srgbClr val="263138"/>
                </a:solidFill>
                <a:latin typeface="Trebuchet MS"/>
                <a:cs typeface="Trebuchet MS"/>
              </a:rPr>
              <a:t>improvement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4" dirty="0">
                <a:solidFill>
                  <a:srgbClr val="263138"/>
                </a:solidFill>
                <a:latin typeface="Trebuchet MS"/>
                <a:cs typeface="Trebuchet MS"/>
              </a:rPr>
              <a:t>over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current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state.</a:t>
            </a:r>
            <a:endParaRPr>
              <a:latin typeface="Trebuchet MS"/>
              <a:cs typeface="Trebuchet MS"/>
            </a:endParaRPr>
          </a:p>
          <a:p>
            <a:pPr>
              <a:spcBef>
                <a:spcPts val="70"/>
              </a:spcBef>
            </a:pPr>
            <a:endParaRPr>
              <a:latin typeface="Trebuchet MS"/>
              <a:cs typeface="Trebuchet MS"/>
            </a:endParaRPr>
          </a:p>
          <a:p>
            <a:pPr marL="12700"/>
            <a:r>
              <a:rPr b="1" spc="195" dirty="0">
                <a:solidFill>
                  <a:srgbClr val="263138"/>
                </a:solidFill>
                <a:latin typeface="Trebuchet MS"/>
                <a:cs typeface="Trebuchet MS"/>
              </a:rPr>
              <a:t>Algorithm</a:t>
            </a:r>
            <a:r>
              <a:rPr b="1" spc="8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140" dirty="0">
                <a:solidFill>
                  <a:srgbClr val="263138"/>
                </a:solidFill>
                <a:latin typeface="Trebuchet MS"/>
                <a:cs typeface="Trebuchet MS"/>
              </a:rPr>
              <a:t>for</a:t>
            </a:r>
            <a:r>
              <a:rPr b="1" spc="8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195" dirty="0">
                <a:solidFill>
                  <a:srgbClr val="263138"/>
                </a:solidFill>
                <a:latin typeface="Trebuchet MS"/>
                <a:cs typeface="Trebuchet MS"/>
              </a:rPr>
              <a:t>Stochastic</a:t>
            </a:r>
            <a:r>
              <a:rPr b="1" spc="9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125" dirty="0">
                <a:solidFill>
                  <a:srgbClr val="263138"/>
                </a:solidFill>
                <a:latin typeface="Trebuchet MS"/>
                <a:cs typeface="Trebuchet MS"/>
              </a:rPr>
              <a:t>Hill</a:t>
            </a:r>
            <a:r>
              <a:rPr b="1" spc="8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b="1" spc="155" dirty="0">
                <a:solidFill>
                  <a:srgbClr val="263138"/>
                </a:solidFill>
                <a:latin typeface="Trebuchet MS"/>
                <a:cs typeface="Trebuchet MS"/>
              </a:rPr>
              <a:t>Climbing</a:t>
            </a:r>
            <a:r>
              <a:rPr spc="155" dirty="0">
                <a:solidFill>
                  <a:srgbClr val="263138"/>
                </a:solidFill>
                <a:latin typeface="Trebuchet MS"/>
                <a:cs typeface="Trebuchet MS"/>
              </a:rPr>
              <a:t>:</a:t>
            </a:r>
            <a:endParaRPr>
              <a:latin typeface="Trebuchet MS"/>
              <a:cs typeface="Trebuchet MS"/>
            </a:endParaRPr>
          </a:p>
          <a:p>
            <a:pPr marL="229235" lvl="1" indent="-216535">
              <a:buSzPct val="94444"/>
              <a:buAutoNum type="arabicPeriod"/>
              <a:tabLst>
                <a:tab pos="229235" algn="l"/>
              </a:tabLst>
            </a:pPr>
            <a:r>
              <a:rPr spc="105" dirty="0">
                <a:solidFill>
                  <a:srgbClr val="263138"/>
                </a:solidFill>
                <a:latin typeface="Trebuchet MS"/>
                <a:cs typeface="Trebuchet MS"/>
              </a:rPr>
              <a:t>Evaluate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initial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state.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If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it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is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50" dirty="0">
                <a:solidFill>
                  <a:srgbClr val="263138"/>
                </a:solidFill>
                <a:latin typeface="Trebuchet MS"/>
                <a:cs typeface="Trebuchet MS"/>
              </a:rPr>
              <a:t>a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4" dirty="0">
                <a:solidFill>
                  <a:srgbClr val="263138"/>
                </a:solidFill>
                <a:latin typeface="Trebuchet MS"/>
                <a:cs typeface="Trebuchet MS"/>
              </a:rPr>
              <a:t>goal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state,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return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5" dirty="0">
                <a:solidFill>
                  <a:srgbClr val="263138"/>
                </a:solidFill>
                <a:latin typeface="Trebuchet MS"/>
                <a:cs typeface="Trebuchet MS"/>
              </a:rPr>
              <a:t>success.</a:t>
            </a:r>
            <a:endParaRPr>
              <a:latin typeface="Trebuchet MS"/>
              <a:cs typeface="Trebuchet MS"/>
            </a:endParaRPr>
          </a:p>
          <a:p>
            <a:pPr marL="229235" lvl="1" indent="-216535">
              <a:buSzPct val="94444"/>
              <a:buAutoNum type="arabicPeriod"/>
              <a:tabLst>
                <a:tab pos="229235" algn="l"/>
              </a:tabLst>
            </a:pPr>
            <a:r>
              <a:rPr spc="150" dirty="0">
                <a:solidFill>
                  <a:srgbClr val="263138"/>
                </a:solidFill>
                <a:latin typeface="Trebuchet MS"/>
                <a:cs typeface="Trebuchet MS"/>
              </a:rPr>
              <a:t>Make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7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initial</a:t>
            </a:r>
            <a:r>
              <a:rPr spc="7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state</a:t>
            </a:r>
            <a:r>
              <a:rPr spc="7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7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current</a:t>
            </a:r>
            <a:r>
              <a:rPr spc="7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state.</a:t>
            </a:r>
            <a:endParaRPr>
              <a:latin typeface="Trebuchet MS"/>
              <a:cs typeface="Trebuchet MS"/>
            </a:endParaRPr>
          </a:p>
          <a:p>
            <a:pPr marL="229235" lvl="1" indent="-216535">
              <a:buSzPct val="94444"/>
              <a:buAutoNum type="arabicPeriod"/>
              <a:tabLst>
                <a:tab pos="229235" algn="l"/>
              </a:tabLst>
            </a:pP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Repeat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until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50" dirty="0">
                <a:solidFill>
                  <a:srgbClr val="263138"/>
                </a:solidFill>
                <a:latin typeface="Trebuchet MS"/>
                <a:cs typeface="Trebuchet MS"/>
              </a:rPr>
              <a:t>a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solution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is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5" dirty="0">
                <a:solidFill>
                  <a:srgbClr val="263138"/>
                </a:solidFill>
                <a:latin typeface="Trebuchet MS"/>
                <a:cs typeface="Trebuchet MS"/>
              </a:rPr>
              <a:t>found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or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current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0" dirty="0">
                <a:solidFill>
                  <a:srgbClr val="263138"/>
                </a:solidFill>
                <a:latin typeface="Trebuchet MS"/>
                <a:cs typeface="Trebuchet MS"/>
              </a:rPr>
              <a:t>state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45" dirty="0">
                <a:solidFill>
                  <a:srgbClr val="263138"/>
                </a:solidFill>
                <a:latin typeface="Trebuchet MS"/>
                <a:cs typeface="Trebuchet MS"/>
              </a:rPr>
              <a:t>does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not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5" dirty="0">
                <a:solidFill>
                  <a:srgbClr val="263138"/>
                </a:solidFill>
                <a:latin typeface="Trebuchet MS"/>
                <a:cs typeface="Trebuchet MS"/>
              </a:rPr>
              <a:t>change:</a:t>
            </a:r>
            <a:endParaRPr>
              <a:latin typeface="Trebuchet MS"/>
              <a:cs typeface="Trebuchet MS"/>
            </a:endParaRPr>
          </a:p>
          <a:p>
            <a:pPr marL="810260" marR="5080" lvl="2" indent="-340995">
              <a:buAutoNum type="alphaLcPeriod"/>
              <a:tabLst>
                <a:tab pos="812800" algn="l"/>
              </a:tabLst>
            </a:pPr>
            <a:r>
              <a:rPr spc="114" dirty="0">
                <a:solidFill>
                  <a:srgbClr val="263138"/>
                </a:solidFill>
                <a:latin typeface="Trebuchet MS"/>
                <a:cs typeface="Trebuchet MS"/>
              </a:rPr>
              <a:t>Apply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35" dirty="0">
                <a:solidFill>
                  <a:srgbClr val="263138"/>
                </a:solidFill>
                <a:latin typeface="Trebuchet MS"/>
                <a:cs typeface="Trebuchet MS"/>
              </a:rPr>
              <a:t>successor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75" dirty="0">
                <a:solidFill>
                  <a:srgbClr val="263138"/>
                </a:solidFill>
                <a:latin typeface="Trebuchet MS"/>
                <a:cs typeface="Trebuchet MS"/>
              </a:rPr>
              <a:t>function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to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current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state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40" dirty="0">
                <a:solidFill>
                  <a:srgbClr val="263138"/>
                </a:solidFill>
                <a:latin typeface="Trebuchet MS"/>
                <a:cs typeface="Trebuchet MS"/>
              </a:rPr>
              <a:t>and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0" dirty="0">
                <a:solidFill>
                  <a:srgbClr val="263138"/>
                </a:solidFill>
                <a:latin typeface="Trebuchet MS"/>
                <a:cs typeface="Trebuchet MS"/>
              </a:rPr>
              <a:t>generate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-25" dirty="0">
                <a:solidFill>
                  <a:srgbClr val="263138"/>
                </a:solidFill>
                <a:latin typeface="Trebuchet MS"/>
                <a:cs typeface="Trebuchet MS"/>
              </a:rPr>
              <a:t>all 	</a:t>
            </a:r>
            <a:r>
              <a:rPr spc="110" dirty="0">
                <a:solidFill>
                  <a:srgbClr val="263138"/>
                </a:solidFill>
                <a:latin typeface="Trebuchet MS"/>
                <a:cs typeface="Trebuchet MS"/>
              </a:rPr>
              <a:t>neighboring</a:t>
            </a:r>
            <a:r>
              <a:rPr spc="7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states.</a:t>
            </a:r>
            <a:endParaRPr>
              <a:latin typeface="Trebuchet MS"/>
              <a:cs typeface="Trebuchet MS"/>
            </a:endParaRPr>
          </a:p>
          <a:p>
            <a:pPr marL="809625" marR="815975" lvl="2" indent="-340360">
              <a:buAutoNum type="alphaLcPeriod"/>
              <a:tabLst>
                <a:tab pos="812800" algn="l"/>
              </a:tabLst>
            </a:pPr>
            <a:r>
              <a:rPr spc="145" dirty="0">
                <a:solidFill>
                  <a:srgbClr val="263138"/>
                </a:solidFill>
                <a:latin typeface="Trebuchet MS"/>
                <a:cs typeface="Trebuchet MS"/>
              </a:rPr>
              <a:t>Choose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50" dirty="0">
                <a:solidFill>
                  <a:srgbClr val="263138"/>
                </a:solidFill>
                <a:latin typeface="Trebuchet MS"/>
                <a:cs typeface="Trebuchet MS"/>
              </a:rPr>
              <a:t>a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35" dirty="0">
                <a:solidFill>
                  <a:srgbClr val="263138"/>
                </a:solidFill>
                <a:latin typeface="Trebuchet MS"/>
                <a:cs typeface="Trebuchet MS"/>
              </a:rPr>
              <a:t>random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0" dirty="0">
                <a:solidFill>
                  <a:srgbClr val="263138"/>
                </a:solidFill>
                <a:latin typeface="Trebuchet MS"/>
                <a:cs typeface="Trebuchet MS"/>
              </a:rPr>
              <a:t>neighboring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0" dirty="0">
                <a:solidFill>
                  <a:srgbClr val="263138"/>
                </a:solidFill>
                <a:latin typeface="Trebuchet MS"/>
                <a:cs typeface="Trebuchet MS"/>
              </a:rPr>
              <a:t>state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45" dirty="0">
                <a:solidFill>
                  <a:srgbClr val="263138"/>
                </a:solidFill>
                <a:latin typeface="Trebuchet MS"/>
                <a:cs typeface="Trebuchet MS"/>
              </a:rPr>
              <a:t>based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40" dirty="0">
                <a:solidFill>
                  <a:srgbClr val="263138"/>
                </a:solidFill>
                <a:latin typeface="Trebuchet MS"/>
                <a:cs typeface="Trebuchet MS"/>
              </a:rPr>
              <a:t>on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50" dirty="0">
                <a:solidFill>
                  <a:srgbClr val="263138"/>
                </a:solidFill>
                <a:latin typeface="Trebuchet MS"/>
                <a:cs typeface="Trebuchet MS"/>
              </a:rPr>
              <a:t>a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probability 	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function.</a:t>
            </a:r>
            <a:endParaRPr>
              <a:latin typeface="Trebuchet MS"/>
              <a:cs typeface="Trebuchet MS"/>
            </a:endParaRPr>
          </a:p>
          <a:p>
            <a:pPr marL="810260" marR="353695" lvl="2" indent="-340995">
              <a:buAutoNum type="alphaLcPeriod"/>
              <a:tabLst>
                <a:tab pos="812800" algn="l"/>
              </a:tabLst>
            </a:pP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If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3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35" dirty="0">
                <a:solidFill>
                  <a:srgbClr val="263138"/>
                </a:solidFill>
                <a:latin typeface="Trebuchet MS"/>
                <a:cs typeface="Trebuchet MS"/>
              </a:rPr>
              <a:t>chosen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state</a:t>
            </a:r>
            <a:r>
              <a:rPr spc="3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is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better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0" dirty="0">
                <a:solidFill>
                  <a:srgbClr val="263138"/>
                </a:solidFill>
                <a:latin typeface="Trebuchet MS"/>
                <a:cs typeface="Trebuchet MS"/>
              </a:rPr>
              <a:t>than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3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current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state,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40" dirty="0">
                <a:solidFill>
                  <a:srgbClr val="263138"/>
                </a:solidFill>
                <a:latin typeface="Trebuchet MS"/>
                <a:cs typeface="Trebuchet MS"/>
              </a:rPr>
              <a:t>make</a:t>
            </a:r>
            <a:r>
              <a:rPr spc="3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it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50" dirty="0">
                <a:solidFill>
                  <a:srgbClr val="263138"/>
                </a:solidFill>
                <a:latin typeface="Trebuchet MS"/>
                <a:cs typeface="Trebuchet MS"/>
              </a:rPr>
              <a:t>the 	</a:t>
            </a:r>
            <a:r>
              <a:rPr spc="125" dirty="0">
                <a:solidFill>
                  <a:srgbClr val="263138"/>
                </a:solidFill>
                <a:latin typeface="Trebuchet MS"/>
                <a:cs typeface="Trebuchet MS"/>
              </a:rPr>
              <a:t>new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current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45" dirty="0">
                <a:solidFill>
                  <a:srgbClr val="263138"/>
                </a:solidFill>
                <a:latin typeface="Trebuchet MS"/>
                <a:cs typeface="Trebuchet MS"/>
              </a:rPr>
              <a:t>state.</a:t>
            </a:r>
            <a:endParaRPr>
              <a:latin typeface="Trebuchet MS"/>
              <a:cs typeface="Trebuchet MS"/>
            </a:endParaRPr>
          </a:p>
          <a:p>
            <a:pPr marL="810260" lvl="2" indent="-340360">
              <a:buAutoNum type="alphaLcPeriod"/>
              <a:tabLst>
                <a:tab pos="810260" algn="l"/>
              </a:tabLst>
            </a:pP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If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3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0" dirty="0">
                <a:solidFill>
                  <a:srgbClr val="263138"/>
                </a:solidFill>
                <a:latin typeface="Trebuchet MS"/>
                <a:cs typeface="Trebuchet MS"/>
              </a:rPr>
              <a:t>selected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0" dirty="0">
                <a:solidFill>
                  <a:srgbClr val="263138"/>
                </a:solidFill>
                <a:latin typeface="Trebuchet MS"/>
                <a:cs typeface="Trebuchet MS"/>
              </a:rPr>
              <a:t>neighbor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is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3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14" dirty="0">
                <a:solidFill>
                  <a:srgbClr val="263138"/>
                </a:solidFill>
                <a:latin typeface="Trebuchet MS"/>
                <a:cs typeface="Trebuchet MS"/>
              </a:rPr>
              <a:t>goal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55" dirty="0">
                <a:solidFill>
                  <a:srgbClr val="263138"/>
                </a:solidFill>
                <a:latin typeface="Trebuchet MS"/>
                <a:cs typeface="Trebuchet MS"/>
              </a:rPr>
              <a:t>state,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63138"/>
                </a:solidFill>
                <a:latin typeface="Trebuchet MS"/>
                <a:cs typeface="Trebuchet MS"/>
              </a:rPr>
              <a:t>return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05" dirty="0">
                <a:solidFill>
                  <a:srgbClr val="263138"/>
                </a:solidFill>
                <a:latin typeface="Trebuchet MS"/>
                <a:cs typeface="Trebuchet MS"/>
              </a:rPr>
              <a:t>success.</a:t>
            </a:r>
            <a:endParaRPr>
              <a:latin typeface="Trebuchet MS"/>
              <a:cs typeface="Trebuchet MS"/>
            </a:endParaRPr>
          </a:p>
          <a:p>
            <a:pPr marL="229235" lvl="1" indent="-216535">
              <a:buSzPct val="94444"/>
              <a:buAutoNum type="arabicPeriod"/>
              <a:tabLst>
                <a:tab pos="229235" algn="l"/>
              </a:tabLst>
            </a:pPr>
            <a:r>
              <a:rPr spc="75" dirty="0">
                <a:solidFill>
                  <a:srgbClr val="263138"/>
                </a:solidFill>
                <a:latin typeface="Trebuchet MS"/>
                <a:cs typeface="Trebuchet MS"/>
              </a:rPr>
              <a:t>Exit</a:t>
            </a:r>
            <a:r>
              <a:rPr spc="3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0" dirty="0">
                <a:solidFill>
                  <a:srgbClr val="263138"/>
                </a:solidFill>
                <a:latin typeface="Trebuchet MS"/>
                <a:cs typeface="Trebuchet MS"/>
              </a:rPr>
              <a:t>the</a:t>
            </a:r>
            <a:r>
              <a:rPr spc="3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75" dirty="0">
                <a:solidFill>
                  <a:srgbClr val="263138"/>
                </a:solidFill>
                <a:latin typeface="Trebuchet MS"/>
                <a:cs typeface="Trebuchet MS"/>
              </a:rPr>
              <a:t>function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63138"/>
                </a:solidFill>
                <a:latin typeface="Trebuchet MS"/>
                <a:cs typeface="Trebuchet MS"/>
              </a:rPr>
              <a:t>if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130" dirty="0">
                <a:solidFill>
                  <a:srgbClr val="263138"/>
                </a:solidFill>
                <a:latin typeface="Trebuchet MS"/>
                <a:cs typeface="Trebuchet MS"/>
              </a:rPr>
              <a:t>no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better</a:t>
            </a:r>
            <a:r>
              <a:rPr spc="4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263138"/>
                </a:solidFill>
                <a:latin typeface="Trebuchet MS"/>
                <a:cs typeface="Trebuchet MS"/>
              </a:rPr>
              <a:t>state</a:t>
            </a:r>
            <a:r>
              <a:rPr spc="30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95" dirty="0">
                <a:solidFill>
                  <a:srgbClr val="263138"/>
                </a:solidFill>
                <a:latin typeface="Trebuchet MS"/>
                <a:cs typeface="Trebuchet MS"/>
              </a:rPr>
              <a:t>is</a:t>
            </a:r>
            <a:r>
              <a:rPr spc="35" dirty="0">
                <a:solidFill>
                  <a:srgbClr val="263138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63138"/>
                </a:solidFill>
                <a:latin typeface="Trebuchet MS"/>
                <a:cs typeface="Trebuchet MS"/>
              </a:rPr>
              <a:t>found.</a:t>
            </a:r>
            <a:endParaRPr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77456" y="682940"/>
            <a:ext cx="9600344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Simulated</a:t>
            </a:r>
            <a:r>
              <a:rPr spc="-195" dirty="0"/>
              <a:t> </a:t>
            </a:r>
            <a:r>
              <a:rPr dirty="0"/>
              <a:t>Annealing</a:t>
            </a:r>
            <a:r>
              <a:rPr spc="-185" dirty="0"/>
              <a:t> </a:t>
            </a:r>
            <a:r>
              <a:rPr spc="-10"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9941" y="1530916"/>
            <a:ext cx="168275" cy="116332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spcBef>
                <a:spcPts val="735"/>
              </a:spcBef>
            </a:pPr>
            <a:r>
              <a:rPr sz="3200" spc="-50" dirty="0">
                <a:latin typeface="Arial MT"/>
                <a:cs typeface="Arial MT"/>
              </a:rPr>
              <a:t>•</a:t>
            </a:r>
            <a:endParaRPr sz="3200">
              <a:latin typeface="Arial MT"/>
              <a:cs typeface="Arial MT"/>
            </a:endParaRPr>
          </a:p>
          <a:p>
            <a:pPr marL="12700">
              <a:spcBef>
                <a:spcPts val="640"/>
              </a:spcBef>
            </a:pPr>
            <a:r>
              <a:rPr sz="3200" spc="-50" dirty="0">
                <a:latin typeface="Arial MT"/>
                <a:cs typeface="Arial MT"/>
              </a:rPr>
              <a:t>•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9941" y="3237027"/>
            <a:ext cx="1682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200" spc="-50" dirty="0">
                <a:latin typeface="Arial MT"/>
                <a:cs typeface="Arial MT"/>
              </a:rPr>
              <a:t>•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59941" y="4293261"/>
            <a:ext cx="1682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200" spc="-50" dirty="0">
                <a:latin typeface="Arial MT"/>
                <a:cs typeface="Arial MT"/>
              </a:rPr>
              <a:t>•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03018" y="1552138"/>
            <a:ext cx="6608445" cy="376301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spcBef>
                <a:spcPts val="735"/>
              </a:spcBef>
              <a:tabLst>
                <a:tab pos="306070" algn="l"/>
              </a:tabLst>
            </a:pPr>
            <a:r>
              <a:rPr sz="3200" dirty="0">
                <a:latin typeface="Calibri"/>
                <a:cs typeface="Calibri"/>
              </a:rPr>
              <a:t>Inspired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annealing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metallurgy.</a:t>
            </a:r>
            <a:endParaRPr sz="3200" dirty="0">
              <a:latin typeface="Calibri"/>
              <a:cs typeface="Calibri"/>
            </a:endParaRPr>
          </a:p>
          <a:p>
            <a:pPr marL="12700" marR="450850">
              <a:spcBef>
                <a:spcPts val="640"/>
              </a:spcBef>
              <a:tabLst>
                <a:tab pos="306070" algn="l"/>
              </a:tabLst>
            </a:pPr>
            <a:r>
              <a:rPr sz="3200" dirty="0">
                <a:latin typeface="Calibri"/>
                <a:cs typeface="Calibri"/>
              </a:rPr>
              <a:t>Uses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temperature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parameter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that </a:t>
            </a:r>
            <a:r>
              <a:rPr sz="3200" dirty="0">
                <a:latin typeface="Calibri"/>
                <a:cs typeface="Calibri"/>
              </a:rPr>
              <a:t>decreases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over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time.</a:t>
            </a:r>
            <a:endParaRPr sz="3200" dirty="0">
              <a:latin typeface="Calibri"/>
              <a:cs typeface="Calibri"/>
            </a:endParaRPr>
          </a:p>
          <a:p>
            <a:pPr marL="12700" marR="5080">
              <a:spcBef>
                <a:spcPts val="640"/>
              </a:spcBef>
              <a:tabLst>
                <a:tab pos="306070" algn="l"/>
              </a:tabLst>
            </a:pPr>
            <a:r>
              <a:rPr sz="3200" dirty="0">
                <a:latin typeface="Calibri"/>
                <a:cs typeface="Calibri"/>
              </a:rPr>
              <a:t>Sometimes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accepts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worse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solutions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 </a:t>
            </a:r>
            <a:r>
              <a:rPr sz="3200" dirty="0">
                <a:latin typeface="Calibri"/>
                <a:cs typeface="Calibri"/>
              </a:rPr>
              <a:t>escape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local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maxima.</a:t>
            </a:r>
            <a:endParaRPr sz="3200" dirty="0">
              <a:latin typeface="Calibri"/>
              <a:cs typeface="Calibri"/>
            </a:endParaRPr>
          </a:p>
          <a:p>
            <a:pPr marL="12700" marR="882650">
              <a:spcBef>
                <a:spcPts val="635"/>
              </a:spcBef>
              <a:tabLst>
                <a:tab pos="306070" algn="l"/>
              </a:tabLst>
            </a:pPr>
            <a:r>
              <a:rPr sz="3200" dirty="0">
                <a:latin typeface="Calibri"/>
                <a:cs typeface="Calibri"/>
              </a:rPr>
              <a:t>Cooling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schedule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determines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spc="-20" dirty="0">
                <a:latin typeface="Calibri"/>
                <a:cs typeface="Calibri"/>
              </a:rPr>
              <a:t>temperature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drop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rate.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92688"/>
            <a:ext cx="10515600" cy="670439"/>
          </a:xfrm>
          <a:prstGeom prst="rect">
            <a:avLst/>
          </a:prstGeom>
        </p:spPr>
        <p:txBody>
          <a:bodyPr vert="horz" wrap="square" lIns="0" tIns="298195" rIns="0" bIns="0" rtlCol="0" anchor="ctr">
            <a:spAutoFit/>
          </a:bodyPr>
          <a:lstStyle/>
          <a:p>
            <a:pPr marL="57023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Steps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Implement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Simple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SA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Algorithm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78381" y="1454290"/>
            <a:ext cx="7357109" cy="4294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 indent="-200025">
              <a:spcBef>
                <a:spcPts val="100"/>
              </a:spcBef>
              <a:buSzPct val="95000"/>
              <a:buAutoNum type="arabicPeriod"/>
              <a:tabLst>
                <a:tab pos="208915" algn="l"/>
              </a:tabLst>
            </a:pPr>
            <a:r>
              <a:rPr sz="2000" b="1" dirty="0">
                <a:latin typeface="Calibri"/>
                <a:cs typeface="Calibri"/>
              </a:rPr>
              <a:t>Initialize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solution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Start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random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solution.</a:t>
            </a:r>
            <a:endParaRPr sz="2000">
              <a:latin typeface="Calibri"/>
              <a:cs typeface="Calibri"/>
            </a:endParaRPr>
          </a:p>
          <a:p>
            <a:pPr marL="12700" marR="506095" indent="-3810">
              <a:buSzPct val="95000"/>
              <a:buAutoNum type="arabicPeriod"/>
              <a:tabLst>
                <a:tab pos="208915" algn="l"/>
              </a:tabLst>
            </a:pPr>
            <a:r>
              <a:rPr sz="2000" b="1" dirty="0">
                <a:latin typeface="Calibri"/>
                <a:cs typeface="Calibri"/>
              </a:rPr>
              <a:t>	Define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objective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(cost)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function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evaluates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how </a:t>
            </a:r>
            <a:r>
              <a:rPr sz="2000" dirty="0">
                <a:latin typeface="Calibri"/>
                <a:cs typeface="Calibri"/>
              </a:rPr>
              <a:t>good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solution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is.</a:t>
            </a:r>
            <a:endParaRPr sz="2000">
              <a:latin typeface="Calibri"/>
              <a:cs typeface="Calibri"/>
            </a:endParaRPr>
          </a:p>
          <a:p>
            <a:pPr marL="208915" indent="-200025">
              <a:spcBef>
                <a:spcPts val="5"/>
              </a:spcBef>
              <a:buSzPct val="95000"/>
              <a:buAutoNum type="arabicPeriod"/>
              <a:tabLst>
                <a:tab pos="208915" algn="l"/>
              </a:tabLst>
            </a:pPr>
            <a:r>
              <a:rPr sz="2000" b="1" dirty="0">
                <a:latin typeface="Calibri"/>
                <a:cs typeface="Calibri"/>
              </a:rPr>
              <a:t>Set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initial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temperature</a:t>
            </a:r>
            <a:r>
              <a:rPr sz="2000" spc="-10" dirty="0">
                <a:latin typeface="Calibri"/>
                <a:cs typeface="Calibri"/>
              </a:rPr>
              <a:t>: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high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temperature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allows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exploration.</a:t>
            </a:r>
            <a:endParaRPr sz="2000">
              <a:latin typeface="Calibri"/>
              <a:cs typeface="Calibri"/>
            </a:endParaRPr>
          </a:p>
          <a:p>
            <a:pPr marL="208915" indent="-200025">
              <a:buSzPct val="95000"/>
              <a:buAutoNum type="arabicPeriod"/>
              <a:tabLst>
                <a:tab pos="208915" algn="l"/>
              </a:tabLst>
            </a:pPr>
            <a:r>
              <a:rPr sz="2000" b="1" spc="-10" dirty="0">
                <a:latin typeface="Calibri"/>
                <a:cs typeface="Calibri"/>
              </a:rPr>
              <a:t>Iterate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process</a:t>
            </a:r>
            <a:r>
              <a:rPr sz="2000" spc="-10" dirty="0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753110" lvl="1" indent="-283845">
              <a:buAutoNum type="arabicPeriod"/>
              <a:tabLst>
                <a:tab pos="753110" algn="l"/>
              </a:tabLst>
            </a:pPr>
            <a:r>
              <a:rPr sz="2000" spc="-10" dirty="0">
                <a:latin typeface="Calibri"/>
                <a:cs typeface="Calibri"/>
              </a:rPr>
              <a:t>Generate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neighboring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solution.</a:t>
            </a:r>
            <a:endParaRPr sz="2000">
              <a:latin typeface="Calibri"/>
              <a:cs typeface="Calibri"/>
            </a:endParaRPr>
          </a:p>
          <a:p>
            <a:pPr marL="753110" marR="115570" lvl="1" indent="-283845">
              <a:buAutoNum type="arabicPeriod"/>
              <a:tabLst>
                <a:tab pos="755650" algn="l"/>
              </a:tabLst>
            </a:pPr>
            <a:r>
              <a:rPr sz="2000" spc="-10" dirty="0">
                <a:latin typeface="Calibri"/>
                <a:cs typeface="Calibri"/>
              </a:rPr>
              <a:t>Calculate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energy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(cost)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difference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current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	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solution.</a:t>
            </a:r>
            <a:endParaRPr sz="2000">
              <a:latin typeface="Calibri"/>
              <a:cs typeface="Calibri"/>
            </a:endParaRPr>
          </a:p>
          <a:p>
            <a:pPr marL="753110" lvl="1" indent="-283845">
              <a:buAutoNum type="arabicPeriod"/>
              <a:tabLst>
                <a:tab pos="753110" algn="l"/>
              </a:tabLst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solution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better, </a:t>
            </a:r>
            <a:r>
              <a:rPr sz="2000" dirty="0">
                <a:latin typeface="Calibri"/>
                <a:cs typeface="Calibri"/>
              </a:rPr>
              <a:t>accept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it.</a:t>
            </a:r>
            <a:endParaRPr sz="2000">
              <a:latin typeface="Calibri"/>
              <a:cs typeface="Calibri"/>
            </a:endParaRPr>
          </a:p>
          <a:p>
            <a:pPr marL="753110" marR="214629" lvl="1" indent="-283845">
              <a:spcBef>
                <a:spcPts val="5"/>
              </a:spcBef>
              <a:buAutoNum type="arabicPeriod"/>
              <a:tabLst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solution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worse,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accept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probability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based 	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temperature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allow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escaping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local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optima).</a:t>
            </a:r>
            <a:endParaRPr sz="2000">
              <a:latin typeface="Calibri"/>
              <a:cs typeface="Calibri"/>
            </a:endParaRPr>
          </a:p>
          <a:p>
            <a:pPr marL="753110" lvl="1" indent="-283845">
              <a:buAutoNum type="arabicPeriod"/>
              <a:tabLst>
                <a:tab pos="753110" algn="l"/>
              </a:tabLst>
            </a:pPr>
            <a:r>
              <a:rPr sz="2000" spc="-10" dirty="0">
                <a:latin typeface="Calibri"/>
                <a:cs typeface="Calibri"/>
              </a:rPr>
              <a:t>Gradually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decrease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temperature.</a:t>
            </a:r>
            <a:endParaRPr sz="2000">
              <a:latin typeface="Calibri"/>
              <a:cs typeface="Calibri"/>
            </a:endParaRPr>
          </a:p>
          <a:p>
            <a:pPr marL="12700" marR="439420" indent="-3810">
              <a:buSzPct val="95000"/>
              <a:buAutoNum type="arabicPeriod"/>
              <a:tabLst>
                <a:tab pos="208915" algn="l"/>
              </a:tabLst>
            </a:pPr>
            <a:r>
              <a:rPr sz="2000" b="1" dirty="0">
                <a:latin typeface="Calibri"/>
                <a:cs typeface="Calibri"/>
              </a:rPr>
              <a:t>	Repeat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until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termination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Stop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temperature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low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dirty="0">
                <a:latin typeface="Calibri"/>
                <a:cs typeface="Calibri"/>
              </a:rPr>
              <a:t>stopping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criterion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met.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7717" y="519480"/>
            <a:ext cx="7238517" cy="558684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82246" y="312066"/>
            <a:ext cx="7366571" cy="55912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50" dirty="0"/>
              <a:t>Comparison:</a:t>
            </a:r>
            <a:r>
              <a:rPr sz="3550" spc="-50" dirty="0"/>
              <a:t> </a:t>
            </a:r>
            <a:r>
              <a:rPr sz="3550" spc="-10" dirty="0"/>
              <a:t>Hill-</a:t>
            </a:r>
            <a:r>
              <a:rPr sz="3550" dirty="0"/>
              <a:t>Climbing</a:t>
            </a:r>
            <a:r>
              <a:rPr sz="3550" spc="-45" dirty="0"/>
              <a:t> </a:t>
            </a:r>
            <a:r>
              <a:rPr sz="3550" dirty="0"/>
              <a:t>vs.</a:t>
            </a:r>
            <a:r>
              <a:rPr sz="3550" spc="-45" dirty="0"/>
              <a:t> </a:t>
            </a:r>
            <a:r>
              <a:rPr sz="3550" spc="-10" dirty="0"/>
              <a:t>Simulated</a:t>
            </a:r>
            <a:endParaRPr sz="3550" dirty="0"/>
          </a:p>
        </p:txBody>
      </p:sp>
      <p:sp>
        <p:nvSpPr>
          <p:cNvPr id="3" name="object 3"/>
          <p:cNvSpPr txBox="1"/>
          <p:nvPr/>
        </p:nvSpPr>
        <p:spPr>
          <a:xfrm>
            <a:off x="5166386" y="850582"/>
            <a:ext cx="1856739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550" spc="-10" dirty="0">
                <a:latin typeface="Calibri"/>
                <a:cs typeface="Calibri"/>
              </a:rPr>
              <a:t>Annealing</a:t>
            </a:r>
            <a:endParaRPr sz="355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379477"/>
              </p:ext>
            </p:extLst>
          </p:nvPr>
        </p:nvGraphicFramePr>
        <p:xfrm>
          <a:off x="1975802" y="1798001"/>
          <a:ext cx="8229600" cy="2836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>
                        <a:lnSpc>
                          <a:spcPts val="2075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Feature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0BC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075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Hill-Climbing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0BC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075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Simulated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Annealing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815">
                <a:tc>
                  <a:txBody>
                    <a:bodyPr/>
                    <a:lstStyle/>
                    <a:p>
                      <a:pPr marL="91440">
                        <a:lnSpc>
                          <a:spcPts val="2075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Approach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470534">
                        <a:lnSpc>
                          <a:spcPts val="181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Greedy,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moves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towards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best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solution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415290">
                        <a:lnSpc>
                          <a:spcPts val="181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Accepts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worse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solutions occasionally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ts val="2075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Exploration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07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Limited,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may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get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stuck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07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escape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local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maxima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ts val="2075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Speed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075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Fast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075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Slower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815">
                <a:tc>
                  <a:txBody>
                    <a:bodyPr/>
                    <a:lstStyle/>
                    <a:p>
                      <a:pPr marL="91440">
                        <a:lnSpc>
                          <a:spcPts val="207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Best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For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802640">
                        <a:lnSpc>
                          <a:spcPts val="181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Simple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optimization problems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07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Complex</a:t>
                      </a:r>
                      <a:r>
                        <a:rPr sz="18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search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spaces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815">
                <a:tc>
                  <a:txBody>
                    <a:bodyPr/>
                    <a:lstStyle/>
                    <a:p>
                      <a:pPr marL="91440">
                        <a:lnSpc>
                          <a:spcPts val="2075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Real-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World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Use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075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Pathfinding,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game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390525">
                        <a:lnSpc>
                          <a:spcPts val="181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Traveling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Salesman,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VLSI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design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4251</Words>
  <Application>Microsoft Office PowerPoint</Application>
  <PresentationFormat>Widescreen</PresentationFormat>
  <Paragraphs>308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PowerPoint Presentation</vt:lpstr>
      <vt:lpstr>Informed search - Introduction</vt:lpstr>
      <vt:lpstr>PowerPoint Presentation</vt:lpstr>
      <vt:lpstr>Greedy best-first search</vt:lpstr>
      <vt:lpstr>PowerPoint Presentation</vt:lpstr>
      <vt:lpstr>PowerPoint Presentation</vt:lpstr>
      <vt:lpstr>Greedy best-first search (contd.)</vt:lpstr>
      <vt:lpstr>Greedy best-first search (contd.)</vt:lpstr>
      <vt:lpstr>A* algorithm</vt:lpstr>
      <vt:lpstr>A* algorithm (contd.)</vt:lpstr>
      <vt:lpstr>A* algorithm (contd.)</vt:lpstr>
      <vt:lpstr>A* algorithm (contd.)</vt:lpstr>
      <vt:lpstr>A* algorithm(contd.)</vt:lpstr>
      <vt:lpstr>PowerPoint Presentation</vt:lpstr>
      <vt:lpstr>PowerPoint Presentation</vt:lpstr>
      <vt:lpstr>PowerPoint Presentation</vt:lpstr>
      <vt:lpstr>A* algorithm (contd.)</vt:lpstr>
      <vt:lpstr>Memory bounded heuristic search</vt:lpstr>
      <vt:lpstr>Memory-bounded heuristic search (contd.)</vt:lpstr>
      <vt:lpstr>PowerPoint Presentation</vt:lpstr>
      <vt:lpstr>PowerPoint Presentation</vt:lpstr>
      <vt:lpstr>Memory-bounded heuristic search (contd.)</vt:lpstr>
      <vt:lpstr>Memory-bounded heuristic search (contd.)</vt:lpstr>
      <vt:lpstr>Memory-bounded heuristic search (contd.)</vt:lpstr>
      <vt:lpstr>Memory-bounded heuristic search (contd.)</vt:lpstr>
      <vt:lpstr>Memory-bounded heuristic search (contd.)</vt:lpstr>
      <vt:lpstr>Hill-Climbing 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Simulated Annealing Search</vt:lpstr>
      <vt:lpstr>Steps to Implement a Simple SA Algorithm</vt:lpstr>
      <vt:lpstr>PowerPoint Presentation</vt:lpstr>
      <vt:lpstr>Comparison: Hill-Climbing vs. Simulated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Reena Krishnamurthy</dc:creator>
  <cp:lastModifiedBy>Reena Krishnamurthy</cp:lastModifiedBy>
  <cp:revision>4</cp:revision>
  <dcterms:created xsi:type="dcterms:W3CDTF">2026-07-30T09:08:20Z</dcterms:created>
  <dcterms:modified xsi:type="dcterms:W3CDTF">2026-09-07T03:43:03Z</dcterms:modified>
</cp:coreProperties>
</file>