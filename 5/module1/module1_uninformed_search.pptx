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na Krishnamurthy" userId="1db0f0104c7eb4fb" providerId="LiveId" clId="{258021A7-DE5D-45D9-A33B-FA7205F27C24}"/>
    <pc:docChg chg="custSel modSld">
      <pc:chgData name="Reena Krishnamurthy" userId="1db0f0104c7eb4fb" providerId="LiveId" clId="{258021A7-DE5D-45D9-A33B-FA7205F27C24}" dt="2026-07-30T09:11:53.656" v="5" actId="1076"/>
      <pc:docMkLst>
        <pc:docMk/>
      </pc:docMkLst>
      <pc:sldChg chg="delSp modSp mod modClrScheme chgLayout">
        <pc:chgData name="Reena Krishnamurthy" userId="1db0f0104c7eb4fb" providerId="LiveId" clId="{258021A7-DE5D-45D9-A33B-FA7205F27C24}" dt="2026-07-30T09:11:53.656" v="5" actId="1076"/>
        <pc:sldMkLst>
          <pc:docMk/>
          <pc:sldMk cId="4055948782" sldId="256"/>
        </pc:sldMkLst>
        <pc:spChg chg="mod ord">
          <ac:chgData name="Reena Krishnamurthy" userId="1db0f0104c7eb4fb" providerId="LiveId" clId="{258021A7-DE5D-45D9-A33B-FA7205F27C24}" dt="2026-07-30T09:11:53.656" v="5" actId="1076"/>
          <ac:spMkLst>
            <pc:docMk/>
            <pc:sldMk cId="4055948782" sldId="256"/>
            <ac:spMk id="2" creationId="{BFF49988-EFF1-8364-9DAC-924BBEA7957A}"/>
          </ac:spMkLst>
        </pc:spChg>
        <pc:spChg chg="del">
          <ac:chgData name="Reena Krishnamurthy" userId="1db0f0104c7eb4fb" providerId="LiveId" clId="{258021A7-DE5D-45D9-A33B-FA7205F27C24}" dt="2026-07-30T09:11:36.616" v="0" actId="700"/>
          <ac:spMkLst>
            <pc:docMk/>
            <pc:sldMk cId="4055948782" sldId="256"/>
            <ac:spMk id="3" creationId="{4B9E8060-E91D-9B70-9BE0-0183B58873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804A-778C-A12C-6F9B-2E4130097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060F8-7FD6-8BD2-F8D3-F17B4C5DE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9C6C1-E07F-E4FF-AF6A-9B2679B7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94389-37FA-5A51-FB0E-E7BDDFA9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D73E-6E78-86B2-A00C-AA08467E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87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0A65-6FC6-CD4D-7B22-D0CA1D45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F8CC-055B-A8BD-5248-DB5CB711D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9D446-7780-CDC2-7C18-4FC1054C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44C95-2861-83C2-2057-79EC0B70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37C7-8499-2931-D628-B5A96DAC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image2.png">
            <a:extLst>
              <a:ext uri="{FF2B5EF4-FFF2-40B4-BE49-F238E27FC236}">
                <a16:creationId xmlns:a16="http://schemas.microsoft.com/office/drawing/2014/main" id="{822D1257-CA00-83C5-157C-2320739A6BF3}"/>
              </a:ext>
            </a:extLst>
          </p:cNvPr>
          <p:cNvPicPr/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911225" y="501649"/>
            <a:ext cx="2292350" cy="898525"/>
          </a:xfrm>
          <a:prstGeom prst="rect">
            <a:avLst/>
          </a:prstGeom>
          <a:ln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111525-D525-40CE-C8C8-4D9DCC0357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642936"/>
            <a:ext cx="736600" cy="615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6845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0D22-3A24-56C0-FB5F-81CED7C4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EAD82-1B3D-CE28-4B5B-B4FEA37C6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B897A-C85F-8721-38EC-87B7ECC6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5027A-490B-96D6-91AB-6777F447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821E6-7BB6-50AF-03BE-A7322591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68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D701-C4B9-A5CC-8104-E417293B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7E6DF-8053-704F-70EC-DCCA99B0D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D893C-ACE4-AE6B-76FB-8E3D0776B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8D379-B764-617D-D4A4-21C183D1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87A8-2A6F-A4A3-4D18-49CBE1A1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24A3C-3FF9-4277-98CE-CD9B87A7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80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2A31-EC13-6337-5728-D3420FC2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EDB3-DDDE-D0BD-B31A-497DFC9C5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42F48-9CAD-121D-496E-D745ADBA4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8A191-BBDE-864D-8925-64F55AEEF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E9D41-FB31-BB42-8DC2-1AA6F9BC9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4EFD1-5E20-F9A2-9024-DC1385F1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9F89B-5670-8B6A-9C00-FBA3EF48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28219-4C8D-6690-CCB8-2F3E539D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05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5A47-0B51-8743-7895-25EA196E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4F444-C203-4F5C-E881-ACC0079F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8871F-B2E1-EB40-DE9D-851F750F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0AFE2-F29D-18D5-3794-4C382F55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55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44089-6D19-4D10-49E5-9DE250E42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BB71B-5D97-43EE-9B3A-08C0DE3F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5C9A8-E206-F0E5-32FF-28E5F492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8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6A5F-F90B-1BB6-7B80-6E3078FC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D26A4-1408-EA85-C63A-A6540DE9A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E5259-1D79-0B16-0968-5A93BCDA8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B8127-03E7-AE94-DF38-8BE76624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3B6D8-6AB5-FE05-9597-17832651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4202A-7A02-4DD7-0335-BD0EFA9E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3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3B3C-4C5C-F456-6027-3FF44BDF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EB362-8A8C-D1C3-B482-8923433A3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69390-D0F1-DE40-6B47-3ACCF48E4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0C811-7581-3652-E760-A46D06632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6B0EB-4DE4-6EF2-5275-A9E0693D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0CD40-151E-4F51-95F6-66279D90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77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D767-A99D-34DC-5C1E-1AD9162F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36500-907D-19D7-B8E8-3C7026B73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72020-74C9-C44A-1918-044B3616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1FE7F-B08D-7CF3-9A9F-838DCC14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05017-422C-A518-300C-2B06FA6E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83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339C9A-6251-B700-AFE9-888F2B5C9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BB060-48F4-916E-F1ED-BE40AFC89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ADA4A-D52E-678C-0759-415FB07F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6799E-43DA-8829-0980-3EB11839A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4D46F-E73D-4AD9-D023-A8B86E92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98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F647-3C3A-2065-C70A-A3EF2486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A07A8-75C4-B24A-CD95-64F7799AB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EC5BC-39A2-AC0C-0DD5-DC78B7C43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B4FA4-A04B-4D26-9BDC-B78603142C5E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AB4DA-F15E-B7E1-E9FC-949F78BBA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32CF1-5C79-B673-241D-D273BAE01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D242F-6766-488A-A736-8AC89A85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1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9988-EFF1-8364-9DAC-924BBEA7957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020601" y="1204556"/>
            <a:ext cx="7109717" cy="3151686"/>
          </a:xfrm>
        </p:spPr>
        <p:txBody>
          <a:bodyPr>
            <a:normAutofit/>
          </a:bodyPr>
          <a:lstStyle/>
          <a:p>
            <a:r>
              <a:rPr lang="en-IN" dirty="0">
                <a:latin typeface="Calibri"/>
                <a:cs typeface="Calibri"/>
              </a:rPr>
              <a:t>Uninformed</a:t>
            </a:r>
            <a:r>
              <a:rPr lang="en-IN" spc="-70" dirty="0">
                <a:latin typeface="Calibri"/>
                <a:cs typeface="Calibri"/>
              </a:rPr>
              <a:t> </a:t>
            </a:r>
            <a:r>
              <a:rPr lang="en-IN" spc="-10" dirty="0">
                <a:latin typeface="Calibri"/>
                <a:cs typeface="Calibri"/>
              </a:rPr>
              <a:t>search strategies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948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4988" y="668605"/>
            <a:ext cx="660628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dirty="0">
                <a:latin typeface="Microsoft Sans Serif"/>
                <a:cs typeface="Microsoft Sans Serif"/>
              </a:rPr>
              <a:t>  </a:t>
            </a:r>
            <a:r>
              <a:rPr sz="3200" dirty="0">
                <a:latin typeface="Microsoft Sans Serif"/>
                <a:cs typeface="Microsoft Sans Serif"/>
              </a:rPr>
              <a:t>Uninformed</a:t>
            </a:r>
            <a:r>
              <a:rPr sz="3200" spc="-5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search</a:t>
            </a:r>
            <a:r>
              <a:rPr sz="3200" spc="-5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-</a:t>
            </a:r>
            <a:r>
              <a:rPr sz="3200" spc="-5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8480" y="1643526"/>
            <a:ext cx="807974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ts val="3190"/>
              </a:lnSpc>
              <a:spcBef>
                <a:spcPts val="95"/>
              </a:spcBef>
              <a:buChar char="•"/>
              <a:tabLst>
                <a:tab pos="469265" algn="l"/>
              </a:tabLst>
            </a:pPr>
            <a:r>
              <a:rPr sz="2800" dirty="0">
                <a:latin typeface="Microsoft Sans Serif"/>
                <a:cs typeface="Microsoft Sans Serif"/>
              </a:rPr>
              <a:t>Also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called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Arial"/>
                <a:cs typeface="Arial"/>
              </a:rPr>
              <a:t>blind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  <a:p>
            <a:pPr marL="469900" marR="5080" indent="-457200">
              <a:lnSpc>
                <a:spcPts val="3020"/>
              </a:lnSpc>
              <a:spcBef>
                <a:spcPts val="215"/>
              </a:spcBef>
              <a:buChar char="•"/>
              <a:tabLst>
                <a:tab pos="469900" algn="l"/>
              </a:tabLst>
            </a:pPr>
            <a:r>
              <a:rPr sz="2800" dirty="0">
                <a:latin typeface="Microsoft Sans Serif"/>
                <a:cs typeface="Microsoft Sans Serif"/>
              </a:rPr>
              <a:t>This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means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strategies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that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have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no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additional </a:t>
            </a:r>
            <a:r>
              <a:rPr sz="2800" dirty="0">
                <a:latin typeface="Microsoft Sans Serif"/>
                <a:cs typeface="Microsoft Sans Serif"/>
              </a:rPr>
              <a:t>information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about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states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beyond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that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provided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in </a:t>
            </a:r>
            <a:r>
              <a:rPr sz="2800" dirty="0">
                <a:latin typeface="Microsoft Sans Serif"/>
                <a:cs typeface="Microsoft Sans Serif"/>
              </a:rPr>
              <a:t>the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problem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definition</a:t>
            </a:r>
            <a:endParaRPr sz="2800">
              <a:latin typeface="Microsoft Sans Serif"/>
              <a:cs typeface="Microsoft Sans Serif"/>
            </a:endParaRPr>
          </a:p>
          <a:p>
            <a:pPr marL="469900" marR="838200" indent="-457200">
              <a:lnSpc>
                <a:spcPts val="3020"/>
              </a:lnSpc>
              <a:spcBef>
                <a:spcPts val="15"/>
              </a:spcBef>
              <a:buChar char="•"/>
              <a:tabLst>
                <a:tab pos="469900" algn="l"/>
              </a:tabLst>
            </a:pPr>
            <a:r>
              <a:rPr sz="2800" dirty="0">
                <a:latin typeface="Microsoft Sans Serif"/>
                <a:cs typeface="Microsoft Sans Serif"/>
              </a:rPr>
              <a:t>All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they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can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do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generate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successors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and </a:t>
            </a:r>
            <a:r>
              <a:rPr sz="2800" dirty="0">
                <a:latin typeface="Microsoft Sans Serif"/>
                <a:cs typeface="Microsoft Sans Serif"/>
              </a:rPr>
              <a:t>distinguish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goal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from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non-</a:t>
            </a:r>
            <a:r>
              <a:rPr sz="2800" dirty="0">
                <a:latin typeface="Microsoft Sans Serif"/>
                <a:cs typeface="Microsoft Sans Serif"/>
              </a:rPr>
              <a:t>goal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state</a:t>
            </a:r>
            <a:endParaRPr sz="2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815"/>
              </a:lnSpc>
              <a:buChar char="•"/>
              <a:tabLst>
                <a:tab pos="469265" algn="l"/>
              </a:tabLst>
            </a:pPr>
            <a:r>
              <a:rPr sz="2800" dirty="0">
                <a:latin typeface="Microsoft Sans Serif"/>
                <a:cs typeface="Microsoft Sans Serif"/>
              </a:rPr>
              <a:t>All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search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strategies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distinguished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by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the</a:t>
            </a:r>
            <a:endParaRPr sz="2800">
              <a:latin typeface="Microsoft Sans Serif"/>
              <a:cs typeface="Microsoft Sans Serif"/>
            </a:endParaRPr>
          </a:p>
          <a:p>
            <a:pPr marL="469900">
              <a:lnSpc>
                <a:spcPts val="3025"/>
              </a:lnSpc>
            </a:pPr>
            <a:r>
              <a:rPr sz="2800" i="1" dirty="0">
                <a:latin typeface="Arial"/>
                <a:cs typeface="Arial"/>
              </a:rPr>
              <a:t>order</a:t>
            </a:r>
            <a:r>
              <a:rPr sz="2800" i="1" spc="-55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which nodes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-10" dirty="0">
                <a:latin typeface="Microsoft Sans Serif"/>
                <a:cs typeface="Microsoft Sans Serif"/>
              </a:rPr>
              <a:t> expanded</a:t>
            </a:r>
            <a:endParaRPr sz="2800">
              <a:latin typeface="Microsoft Sans Serif"/>
              <a:cs typeface="Microsoft Sans Serif"/>
            </a:endParaRPr>
          </a:p>
          <a:p>
            <a:pPr marL="469900" marR="101600" indent="-457200">
              <a:lnSpc>
                <a:spcPts val="3020"/>
              </a:lnSpc>
              <a:spcBef>
                <a:spcPts val="215"/>
              </a:spcBef>
              <a:buChar char="•"/>
              <a:tabLst>
                <a:tab pos="469900" algn="l"/>
              </a:tabLst>
            </a:pPr>
            <a:r>
              <a:rPr sz="2800" dirty="0">
                <a:latin typeface="Microsoft Sans Serif"/>
                <a:cs typeface="Microsoft Sans Serif"/>
              </a:rPr>
              <a:t>Strategies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that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know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whether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one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“non-goal” </a:t>
            </a:r>
            <a:r>
              <a:rPr sz="2800" dirty="0">
                <a:latin typeface="Microsoft Sans Serif"/>
                <a:cs typeface="Microsoft Sans Serif"/>
              </a:rPr>
              <a:t>state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better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than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another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called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b="1" spc="-10" dirty="0">
                <a:latin typeface="Arial"/>
                <a:cs typeface="Arial"/>
              </a:rPr>
              <a:t>informed </a:t>
            </a:r>
            <a:r>
              <a:rPr sz="2800" b="1" dirty="0">
                <a:latin typeface="Arial"/>
                <a:cs typeface="Arial"/>
              </a:rPr>
              <a:t>search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or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Arial"/>
                <a:cs typeface="Arial"/>
              </a:rPr>
              <a:t>heuristic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search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strategies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668" y="569261"/>
            <a:ext cx="6489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Microsoft Sans Serif"/>
                <a:cs typeface="Microsoft Sans Serif"/>
              </a:rPr>
              <a:t>Breadth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first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search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(BFS)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83819" y="1689434"/>
            <a:ext cx="824230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3565" indent="-570865">
              <a:lnSpc>
                <a:spcPts val="2039"/>
              </a:lnSpc>
              <a:spcBef>
                <a:spcPts val="105"/>
              </a:spcBef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BFS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simple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strategy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which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root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expanded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first,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then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all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successors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root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 are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expanded,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their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successors,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 so </a:t>
            </a:r>
            <a:r>
              <a:rPr sz="2000" spc="-25" dirty="0">
                <a:latin typeface="Microsoft Sans Serif"/>
                <a:cs typeface="Microsoft Sans Serif"/>
              </a:rPr>
              <a:t>on</a:t>
            </a:r>
            <a:endParaRPr sz="20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68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general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all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expanded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given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depth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search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tree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before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any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next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level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expanded</a:t>
            </a:r>
            <a:endParaRPr sz="20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68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BFS is an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instance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general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graph-search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algorithm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which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i="1" dirty="0">
                <a:latin typeface="Arial"/>
                <a:cs typeface="Arial"/>
              </a:rPr>
              <a:t>shallowest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unexpanded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chosen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10" dirty="0">
                <a:latin typeface="Microsoft Sans Serif"/>
                <a:cs typeface="Microsoft Sans Serif"/>
              </a:rPr>
              <a:t> expansion</a:t>
            </a:r>
            <a:endParaRPr sz="20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68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This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achieved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very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simply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using a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FIFO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queue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frontier</a:t>
            </a:r>
            <a:endParaRPr sz="20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68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Thus,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new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(which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always deeper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their parents)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to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back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queue,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old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which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 shallower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new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nodes,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get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expanded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first</a:t>
            </a:r>
            <a:endParaRPr sz="20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68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The </a:t>
            </a:r>
            <a:r>
              <a:rPr sz="2000" spc="-10" dirty="0">
                <a:latin typeface="Microsoft Sans Serif"/>
                <a:cs typeface="Microsoft Sans Serif"/>
              </a:rPr>
              <a:t>goal-</a:t>
            </a:r>
            <a:r>
              <a:rPr sz="2000" dirty="0">
                <a:latin typeface="Microsoft Sans Serif"/>
                <a:cs typeface="Microsoft Sans Serif"/>
              </a:rPr>
              <a:t>test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 applied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 each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when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it is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i="1" dirty="0">
                <a:latin typeface="Arial"/>
                <a:cs typeface="Arial"/>
              </a:rPr>
              <a:t>generated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rather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than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when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10" dirty="0">
                <a:latin typeface="Microsoft Sans Serif"/>
                <a:cs typeface="Microsoft Sans Serif"/>
              </a:rPr>
              <a:t> selected</a:t>
            </a:r>
            <a:endParaRPr sz="20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68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algorithm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following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general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template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graph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search,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  <a:tabLst>
                <a:tab pos="2148840" algn="l"/>
                <a:tab pos="4429760" algn="l"/>
              </a:tabLst>
            </a:pPr>
            <a:r>
              <a:rPr sz="2000" dirty="0">
                <a:latin typeface="Microsoft Sans Serif"/>
                <a:cs typeface="Microsoft Sans Serif"/>
              </a:rPr>
              <a:t>discards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any</a:t>
            </a:r>
            <a:r>
              <a:rPr sz="2000" dirty="0">
                <a:latin typeface="Microsoft Sans Serif"/>
                <a:cs typeface="Microsoft Sans Serif"/>
              </a:rPr>
              <a:t>	new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path to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state</a:t>
            </a:r>
            <a:r>
              <a:rPr sz="2000" dirty="0">
                <a:latin typeface="Microsoft Sans Serif"/>
                <a:cs typeface="Microsoft Sans Serif"/>
              </a:rPr>
              <a:t>	already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frontier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 </a:t>
            </a:r>
            <a:r>
              <a:rPr sz="2000" spc="-25" dirty="0">
                <a:latin typeface="Microsoft Sans Serif"/>
                <a:cs typeface="Microsoft Sans Serif"/>
              </a:rPr>
              <a:t>the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  <a:tabLst>
                <a:tab pos="7107555" algn="l"/>
              </a:tabLst>
            </a:pPr>
            <a:r>
              <a:rPr sz="2000" dirty="0">
                <a:latin typeface="Microsoft Sans Serif"/>
                <a:cs typeface="Microsoft Sans Serif"/>
              </a:rPr>
              <a:t>explored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set;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easy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 see that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any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such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path must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be</a:t>
            </a:r>
            <a:r>
              <a:rPr sz="2000" dirty="0">
                <a:latin typeface="Microsoft Sans Serif"/>
                <a:cs typeface="Microsoft Sans Serif"/>
              </a:rPr>
              <a:t>	atleast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as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dirty="0">
                <a:latin typeface="Microsoft Sans Serif"/>
                <a:cs typeface="Microsoft Sans Serif"/>
              </a:rPr>
              <a:t>deep as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already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found</a:t>
            </a:r>
            <a:endParaRPr sz="20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68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Microsoft Sans Serif"/>
                <a:cs typeface="Microsoft Sans Serif"/>
              </a:rPr>
              <a:t>Thus BFS always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shallowest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path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every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</a:t>
            </a:r>
            <a:endParaRPr sz="2000" dirty="0">
              <a:latin typeface="Microsoft Sans Serif"/>
              <a:cs typeface="Microsoft Sans Serif"/>
            </a:endParaRPr>
          </a:p>
          <a:p>
            <a:pPr marL="584200">
              <a:lnSpc>
                <a:spcPts val="1680"/>
              </a:lnSpc>
            </a:pPr>
            <a:r>
              <a:rPr sz="2000" spc="-10" dirty="0">
                <a:latin typeface="Microsoft Sans Serif"/>
                <a:cs typeface="Microsoft Sans Serif"/>
              </a:rPr>
              <a:t>frontier</a:t>
            </a:r>
            <a:endParaRPr sz="2000" dirty="0">
              <a:latin typeface="Microsoft Sans Serif"/>
              <a:cs typeface="Microsoft Sans Serif"/>
            </a:endParaRPr>
          </a:p>
          <a:p>
            <a:pPr marL="584200" marR="320675" indent="-571500">
              <a:lnSpc>
                <a:spcPct val="70000"/>
              </a:lnSpc>
              <a:spcBef>
                <a:spcPts val="355"/>
              </a:spcBef>
              <a:buChar char="•"/>
              <a:tabLst>
                <a:tab pos="584200" algn="l"/>
                <a:tab pos="1076960" algn="l"/>
              </a:tabLst>
            </a:pPr>
            <a:r>
              <a:rPr sz="2000" dirty="0">
                <a:latin typeface="Microsoft Sans Serif"/>
                <a:cs typeface="Microsoft Sans Serif"/>
              </a:rPr>
              <a:t>Pseudocode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 given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 Fig.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3.11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.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3.12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shows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progress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of the</a:t>
            </a:r>
            <a:r>
              <a:rPr sz="2000" dirty="0">
                <a:latin typeface="Microsoft Sans Serif"/>
                <a:cs typeface="Microsoft Sans Serif"/>
              </a:rPr>
              <a:t>	search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simple binary </a:t>
            </a:r>
            <a:r>
              <a:rPr sz="2000" spc="-20" dirty="0">
                <a:latin typeface="Microsoft Sans Serif"/>
                <a:cs typeface="Microsoft Sans Serif"/>
              </a:rPr>
              <a:t>tree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439" rIns="0" bIns="0" rtlCol="0">
            <a:spAutoFit/>
          </a:bodyPr>
          <a:lstStyle/>
          <a:p>
            <a:pPr marL="4177029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BFS</a:t>
            </a:r>
            <a:r>
              <a:rPr sz="4300" spc="-140" dirty="0"/>
              <a:t> </a:t>
            </a:r>
            <a:r>
              <a:rPr sz="4300" spc="-10" dirty="0"/>
              <a:t>(contd.)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9770" y="1486857"/>
            <a:ext cx="7238103" cy="31021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9770" y="4588968"/>
            <a:ext cx="7268754" cy="14566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2924" y="6351219"/>
            <a:ext cx="7402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Taken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Russel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Norvig,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Artificial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Intelligence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Modern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Approach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06487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Microsoft Sans Serif"/>
                <a:cs typeface="Microsoft Sans Serif"/>
              </a:rPr>
              <a:t>                 </a:t>
            </a:r>
            <a:r>
              <a:rPr dirty="0">
                <a:latin typeface="Microsoft Sans Serif"/>
                <a:cs typeface="Microsoft Sans Serif"/>
              </a:rPr>
              <a:t>BFS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8754" y="1179067"/>
            <a:ext cx="106045" cy="492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35"/>
              </a:lnSpc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4585" y="1842792"/>
            <a:ext cx="7402830" cy="395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835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How does BFS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rate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according 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four </a:t>
            </a:r>
            <a:r>
              <a:rPr sz="1800" spc="-10" dirty="0">
                <a:latin typeface="Microsoft Sans Serif"/>
                <a:cs typeface="Microsoft Sans Serif"/>
              </a:rPr>
              <a:t>criteria?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easily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</a:t>
            </a:r>
            <a:r>
              <a:rPr sz="1800" i="1" dirty="0">
                <a:latin typeface="Arial"/>
                <a:cs typeface="Arial"/>
              </a:rPr>
              <a:t>complete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shallowest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 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some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finite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BFS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will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eventually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after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generating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shallower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(assuming 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branching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factor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finite)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soon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 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generated,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know it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shallowest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goal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because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shallower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must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been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generated </a:t>
            </a:r>
            <a:r>
              <a:rPr sz="1800" spc="-10" dirty="0">
                <a:latin typeface="Microsoft Sans Serif"/>
                <a:cs typeface="Microsoft Sans Serif"/>
              </a:rPr>
              <a:t>already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failed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test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Now,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shallowest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necessarily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optimal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one;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spc="-10" dirty="0">
                <a:latin typeface="Microsoft Sans Serif"/>
                <a:cs typeface="Microsoft Sans Serif"/>
              </a:rPr>
              <a:t>technically,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BFS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optimal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nondecreasing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function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the depth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the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node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most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common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scenario 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 all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actions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same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cost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Time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space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complexity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high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Imagine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uniform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where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every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</a:t>
            </a:r>
            <a:r>
              <a:rPr sz="1800" spc="-10" dirty="0">
                <a:latin typeface="Microsoft Sans Serif"/>
                <a:cs typeface="Microsoft Sans Serif"/>
              </a:rPr>
              <a:t> successors.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root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 tree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 nodes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first level, each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</a:t>
            </a:r>
            <a:endParaRPr sz="1800" dirty="0">
              <a:latin typeface="Microsoft Sans Serif"/>
              <a:cs typeface="Microsoft Sans Serif"/>
            </a:endParaRPr>
          </a:p>
          <a:p>
            <a:pPr marL="67945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which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 more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total of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950" baseline="27777" dirty="0">
                <a:latin typeface="Cambria Math"/>
                <a:cs typeface="Cambria Math"/>
              </a:rPr>
              <a:t>2</a:t>
            </a:r>
            <a:r>
              <a:rPr sz="1950" spc="419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 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second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level.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Each 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these generates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more nodes,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yielding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950" baseline="27777" dirty="0">
                <a:latin typeface="Cambria Math"/>
                <a:cs typeface="Cambria Math"/>
              </a:rPr>
              <a:t>3</a:t>
            </a:r>
            <a:r>
              <a:rPr sz="1950" spc="262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third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level,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on</a:t>
            </a:r>
            <a:endParaRPr sz="1800" dirty="0">
              <a:latin typeface="Microsoft Sans Serif"/>
              <a:cs typeface="Microsoft Sans Serif"/>
            </a:endParaRPr>
          </a:p>
          <a:p>
            <a:pPr marL="38100">
              <a:lnSpc>
                <a:spcPts val="1835"/>
              </a:lnSpc>
            </a:pPr>
            <a:r>
              <a:rPr sz="1800" dirty="0">
                <a:latin typeface="Microsoft Sans Serif"/>
                <a:cs typeface="Microsoft Sans Serif"/>
              </a:rPr>
              <a:t>Then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total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is</a:t>
            </a:r>
            <a:endParaRPr sz="1800" dirty="0">
              <a:latin typeface="Microsoft Sans Serif"/>
              <a:cs typeface="Microsoft Sans Serif"/>
            </a:endParaRPr>
          </a:p>
          <a:p>
            <a:pPr marL="386715">
              <a:lnSpc>
                <a:spcPct val="100000"/>
              </a:lnSpc>
              <a:spcBef>
                <a:spcPts val="875"/>
              </a:spcBef>
            </a:pPr>
            <a:r>
              <a:rPr sz="1800" dirty="0">
                <a:latin typeface="Cambria Math"/>
                <a:cs typeface="Cambria Math"/>
              </a:rPr>
              <a:t>𝑏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950" baseline="27777" dirty="0">
                <a:latin typeface="Cambria Math"/>
                <a:cs typeface="Cambria Math"/>
              </a:rPr>
              <a:t>2</a:t>
            </a:r>
            <a:r>
              <a:rPr sz="1950" spc="30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950" baseline="27777" dirty="0">
                <a:latin typeface="Cambria Math"/>
                <a:cs typeface="Cambria Math"/>
              </a:rPr>
              <a:t>3</a:t>
            </a:r>
            <a:r>
              <a:rPr sz="1950" spc="30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⋯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spc="60" dirty="0">
                <a:latin typeface="Cambria Math"/>
                <a:cs typeface="Cambria Math"/>
              </a:rPr>
              <a:t>𝑏</a:t>
            </a:r>
            <a:r>
              <a:rPr sz="1950" spc="89" baseline="27777" dirty="0">
                <a:latin typeface="Cambria Math"/>
                <a:cs typeface="Cambria Math"/>
              </a:rPr>
              <a:t>𝑑</a:t>
            </a:r>
            <a:r>
              <a:rPr sz="1950" spc="509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spc="45" dirty="0">
                <a:latin typeface="Cambria Math"/>
                <a:cs typeface="Cambria Math"/>
              </a:rPr>
              <a:t>𝑂(𝑏</a:t>
            </a:r>
            <a:r>
              <a:rPr sz="1950" spc="67" baseline="27777" dirty="0">
                <a:latin typeface="Cambria Math"/>
                <a:cs typeface="Cambria Math"/>
              </a:rPr>
              <a:t>𝑑</a:t>
            </a:r>
            <a:r>
              <a:rPr sz="1800" spc="45" dirty="0">
                <a:latin typeface="Cambria Math"/>
                <a:cs typeface="Cambria Math"/>
              </a:rPr>
              <a:t>)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8754" y="194716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8754" y="252349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8754" y="3099561"/>
            <a:ext cx="106045" cy="164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35"/>
              </a:lnSpc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95864" y="59912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49085"/>
            <a:ext cx="10515600" cy="757642"/>
          </a:xfrm>
          <a:prstGeom prst="rect">
            <a:avLst/>
          </a:prstGeom>
        </p:spPr>
        <p:txBody>
          <a:bodyPr vert="horz" wrap="square" lIns="0" tIns="79755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Microsoft Sans Serif"/>
                <a:cs typeface="Microsoft Sans Serif"/>
              </a:rPr>
              <a:t>                </a:t>
            </a:r>
            <a:r>
              <a:rPr dirty="0">
                <a:latin typeface="Microsoft Sans Serif"/>
                <a:cs typeface="Microsoft Sans Serif"/>
              </a:rPr>
              <a:t>BFS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3986148" y="2326894"/>
            <a:ext cx="847090" cy="368300"/>
          </a:xfrm>
          <a:custGeom>
            <a:avLst/>
            <a:gdLst/>
            <a:ahLst/>
            <a:cxnLst/>
            <a:rect l="l" t="t" r="r" b="b"/>
            <a:pathLst>
              <a:path w="847089" h="368300">
                <a:moveTo>
                  <a:pt x="750062" y="0"/>
                </a:moveTo>
                <a:lnTo>
                  <a:pt x="746379" y="12192"/>
                </a:lnTo>
                <a:lnTo>
                  <a:pt x="763287" y="20955"/>
                </a:lnTo>
                <a:lnTo>
                  <a:pt x="778017" y="33718"/>
                </a:lnTo>
                <a:lnTo>
                  <a:pt x="800989" y="71247"/>
                </a:lnTo>
                <a:lnTo>
                  <a:pt x="814879" y="122285"/>
                </a:lnTo>
                <a:lnTo>
                  <a:pt x="819521" y="184023"/>
                </a:lnTo>
                <a:lnTo>
                  <a:pt x="819531" y="184277"/>
                </a:lnTo>
                <a:lnTo>
                  <a:pt x="818366" y="216540"/>
                </a:lnTo>
                <a:lnTo>
                  <a:pt x="809083" y="272877"/>
                </a:lnTo>
                <a:lnTo>
                  <a:pt x="790580" y="317690"/>
                </a:lnTo>
                <a:lnTo>
                  <a:pt x="763287" y="347218"/>
                </a:lnTo>
                <a:lnTo>
                  <a:pt x="746379" y="355981"/>
                </a:lnTo>
                <a:lnTo>
                  <a:pt x="750062" y="368173"/>
                </a:lnTo>
                <a:lnTo>
                  <a:pt x="791210" y="346265"/>
                </a:lnTo>
                <a:lnTo>
                  <a:pt x="821690" y="304927"/>
                </a:lnTo>
                <a:lnTo>
                  <a:pt x="840549" y="249189"/>
                </a:lnTo>
                <a:lnTo>
                  <a:pt x="846824" y="184277"/>
                </a:lnTo>
                <a:lnTo>
                  <a:pt x="846836" y="184023"/>
                </a:lnTo>
                <a:lnTo>
                  <a:pt x="845338" y="151917"/>
                </a:lnTo>
                <a:lnTo>
                  <a:pt x="845264" y="150328"/>
                </a:lnTo>
                <a:lnTo>
                  <a:pt x="840549" y="118967"/>
                </a:lnTo>
                <a:lnTo>
                  <a:pt x="821690" y="63246"/>
                </a:lnTo>
                <a:lnTo>
                  <a:pt x="791210" y="21907"/>
                </a:lnTo>
                <a:lnTo>
                  <a:pt x="771969" y="8524"/>
                </a:lnTo>
                <a:lnTo>
                  <a:pt x="750062" y="0"/>
                </a:lnTo>
                <a:close/>
              </a:path>
              <a:path w="847089" h="368300">
                <a:moveTo>
                  <a:pt x="96774" y="0"/>
                </a:moveTo>
                <a:lnTo>
                  <a:pt x="55626" y="21907"/>
                </a:lnTo>
                <a:lnTo>
                  <a:pt x="25146" y="63246"/>
                </a:lnTo>
                <a:lnTo>
                  <a:pt x="6286" y="118967"/>
                </a:lnTo>
                <a:lnTo>
                  <a:pt x="0" y="184023"/>
                </a:lnTo>
                <a:lnTo>
                  <a:pt x="1513" y="216540"/>
                </a:lnTo>
                <a:lnTo>
                  <a:pt x="14144" y="278231"/>
                </a:lnTo>
                <a:lnTo>
                  <a:pt x="39052" y="328025"/>
                </a:lnTo>
                <a:lnTo>
                  <a:pt x="74866" y="359648"/>
                </a:lnTo>
                <a:lnTo>
                  <a:pt x="96774" y="368173"/>
                </a:lnTo>
                <a:lnTo>
                  <a:pt x="100457" y="355981"/>
                </a:lnTo>
                <a:lnTo>
                  <a:pt x="83548" y="347218"/>
                </a:lnTo>
                <a:lnTo>
                  <a:pt x="68818" y="334454"/>
                </a:lnTo>
                <a:lnTo>
                  <a:pt x="45846" y="296926"/>
                </a:lnTo>
                <a:lnTo>
                  <a:pt x="32019" y="246078"/>
                </a:lnTo>
                <a:lnTo>
                  <a:pt x="27432" y="184277"/>
                </a:lnTo>
                <a:lnTo>
                  <a:pt x="28576" y="151917"/>
                </a:lnTo>
                <a:lnTo>
                  <a:pt x="37772" y="95390"/>
                </a:lnTo>
                <a:lnTo>
                  <a:pt x="56255" y="50482"/>
                </a:lnTo>
                <a:lnTo>
                  <a:pt x="83548" y="20955"/>
                </a:lnTo>
                <a:lnTo>
                  <a:pt x="100457" y="12192"/>
                </a:lnTo>
                <a:lnTo>
                  <a:pt x="967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3097" y="1694745"/>
            <a:ext cx="8345805" cy="427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765" indent="-456565">
              <a:lnSpc>
                <a:spcPts val="2450"/>
              </a:lnSpc>
              <a:spcBef>
                <a:spcPts val="100"/>
              </a:spcBef>
              <a:buChar char="•"/>
              <a:tabLst>
                <a:tab pos="532765" algn="l"/>
              </a:tabLst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algorithm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were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apply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goal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test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nodes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when</a:t>
            </a:r>
            <a:endParaRPr sz="2400" dirty="0">
              <a:latin typeface="Microsoft Sans Serif"/>
              <a:cs typeface="Microsoft Sans Serif"/>
            </a:endParaRPr>
          </a:p>
          <a:p>
            <a:pPr marL="5334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selected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expansion,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rather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than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when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generated,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the</a:t>
            </a:r>
            <a:endParaRPr sz="2400" dirty="0">
              <a:latin typeface="Microsoft Sans Serif"/>
              <a:cs typeface="Microsoft Sans Serif"/>
            </a:endParaRPr>
          </a:p>
          <a:p>
            <a:pPr marL="533400" marR="606425">
              <a:lnSpc>
                <a:spcPct val="73300"/>
              </a:lnSpc>
              <a:spcBef>
                <a:spcPts val="335"/>
              </a:spcBef>
              <a:tabLst>
                <a:tab pos="2191385" algn="l"/>
              </a:tabLst>
            </a:pPr>
            <a:r>
              <a:rPr sz="2400" dirty="0">
                <a:latin typeface="Microsoft Sans Serif"/>
                <a:cs typeface="Microsoft Sans Serif"/>
              </a:rPr>
              <a:t>whole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layer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nodes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depth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would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expanded </a:t>
            </a:r>
            <a:r>
              <a:rPr sz="2400" dirty="0">
                <a:latin typeface="Microsoft Sans Serif"/>
                <a:cs typeface="Microsoft Sans Serif"/>
              </a:rPr>
              <a:t>before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goal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detected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time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complexity </a:t>
            </a:r>
            <a:r>
              <a:rPr sz="2400" dirty="0">
                <a:latin typeface="Microsoft Sans Serif"/>
                <a:cs typeface="Microsoft Sans Serif"/>
              </a:rPr>
              <a:t>would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𝑂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30" dirty="0">
                <a:latin typeface="Cambria Math"/>
                <a:cs typeface="Cambria Math"/>
              </a:rPr>
              <a:t>𝑏</a:t>
            </a:r>
            <a:r>
              <a:rPr sz="2625" spc="44" baseline="28571" dirty="0">
                <a:latin typeface="Cambria Math"/>
                <a:cs typeface="Cambria Math"/>
              </a:rPr>
              <a:t>𝑑+1</a:t>
            </a:r>
            <a:endParaRPr sz="2625" baseline="28571" dirty="0">
              <a:latin typeface="Cambria Math"/>
              <a:cs typeface="Cambria Math"/>
            </a:endParaRPr>
          </a:p>
          <a:p>
            <a:pPr marL="532765" indent="-456565">
              <a:lnSpc>
                <a:spcPts val="1660"/>
              </a:lnSpc>
              <a:buChar char="•"/>
              <a:tabLst>
                <a:tab pos="532765" algn="l"/>
              </a:tabLst>
            </a:pP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kind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graph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search,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which stores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every</a:t>
            </a:r>
            <a:endParaRPr sz="2400" dirty="0">
              <a:latin typeface="Microsoft Sans Serif"/>
              <a:cs typeface="Microsoft Sans Serif"/>
            </a:endParaRPr>
          </a:p>
          <a:p>
            <a:pPr marL="5334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expanded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node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explored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set,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space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complexity</a:t>
            </a:r>
            <a:endParaRPr sz="2400" dirty="0">
              <a:latin typeface="Microsoft Sans Serif"/>
              <a:cs typeface="Microsoft Sans Serif"/>
            </a:endParaRPr>
          </a:p>
          <a:p>
            <a:pPr marL="5334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always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within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factor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time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complexity</a:t>
            </a:r>
            <a:endParaRPr sz="2400" dirty="0">
              <a:latin typeface="Microsoft Sans Serif"/>
              <a:cs typeface="Microsoft Sans Serif"/>
            </a:endParaRPr>
          </a:p>
          <a:p>
            <a:pPr marL="532765" indent="-456565">
              <a:lnSpc>
                <a:spcPts val="2014"/>
              </a:lnSpc>
              <a:buChar char="•"/>
              <a:tabLst>
                <a:tab pos="532765" algn="l"/>
              </a:tabLst>
            </a:pP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breadth-</a:t>
            </a:r>
            <a:r>
              <a:rPr sz="2400" dirty="0">
                <a:latin typeface="Microsoft Sans Serif"/>
                <a:cs typeface="Microsoft Sans Serif"/>
              </a:rPr>
              <a:t>first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graph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search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particular,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every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node</a:t>
            </a:r>
            <a:endParaRPr sz="2400" dirty="0">
              <a:latin typeface="Microsoft Sans Serif"/>
              <a:cs typeface="Microsoft Sans Serif"/>
            </a:endParaRPr>
          </a:p>
          <a:p>
            <a:pPr marL="533400">
              <a:lnSpc>
                <a:spcPts val="2030"/>
              </a:lnSpc>
            </a:pPr>
            <a:r>
              <a:rPr sz="2400" dirty="0">
                <a:latin typeface="Microsoft Sans Serif"/>
                <a:cs typeface="Microsoft Sans Serif"/>
              </a:rPr>
              <a:t>generated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remains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memory</a:t>
            </a:r>
            <a:endParaRPr sz="2400" dirty="0">
              <a:latin typeface="Microsoft Sans Serif"/>
              <a:cs typeface="Microsoft Sans Serif"/>
            </a:endParaRPr>
          </a:p>
          <a:p>
            <a:pPr marL="532765" indent="-456565">
              <a:lnSpc>
                <a:spcPts val="2045"/>
              </a:lnSpc>
              <a:buChar char="•"/>
              <a:tabLst>
                <a:tab pos="532765" algn="l"/>
              </a:tabLst>
            </a:pPr>
            <a:r>
              <a:rPr sz="2400" dirty="0">
                <a:latin typeface="Microsoft Sans Serif"/>
                <a:cs typeface="Microsoft Sans Serif"/>
              </a:rPr>
              <a:t>There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will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𝑂(𝑏</a:t>
            </a:r>
            <a:r>
              <a:rPr sz="2625" spc="67" baseline="28571" dirty="0">
                <a:latin typeface="Cambria Math"/>
                <a:cs typeface="Cambria Math"/>
              </a:rPr>
              <a:t>𝑑−1</a:t>
            </a:r>
            <a:r>
              <a:rPr sz="2400" spc="45" dirty="0">
                <a:latin typeface="Cambria Math"/>
                <a:cs typeface="Cambria Math"/>
              </a:rPr>
              <a:t>)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nodes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explored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set</a:t>
            </a:r>
            <a:r>
              <a:rPr sz="2400" spc="-25" dirty="0">
                <a:latin typeface="Microsoft Sans Serif"/>
                <a:cs typeface="Microsoft Sans Serif"/>
              </a:rPr>
              <a:t> and</a:t>
            </a:r>
            <a:endParaRPr sz="2400" dirty="0">
              <a:latin typeface="Microsoft Sans Serif"/>
              <a:cs typeface="Microsoft Sans Serif"/>
            </a:endParaRPr>
          </a:p>
          <a:p>
            <a:pPr marL="533400">
              <a:lnSpc>
                <a:spcPts val="2055"/>
              </a:lnSpc>
            </a:pPr>
            <a:r>
              <a:rPr sz="2400" spc="65" dirty="0">
                <a:latin typeface="Cambria Math"/>
                <a:cs typeface="Cambria Math"/>
              </a:rPr>
              <a:t>𝑂(𝑏</a:t>
            </a:r>
            <a:r>
              <a:rPr sz="2625" spc="97" baseline="28571" dirty="0">
                <a:latin typeface="Cambria Math"/>
                <a:cs typeface="Cambria Math"/>
              </a:rPr>
              <a:t>𝑑</a:t>
            </a:r>
            <a:r>
              <a:rPr sz="2400" spc="65" dirty="0">
                <a:latin typeface="Cambria Math"/>
                <a:cs typeface="Cambria Math"/>
              </a:rPr>
              <a:t>)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nodes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frontier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space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complexity </a:t>
            </a:r>
            <a:r>
              <a:rPr sz="2400" spc="-25" dirty="0">
                <a:latin typeface="Microsoft Sans Serif"/>
                <a:cs typeface="Microsoft Sans Serif"/>
              </a:rPr>
              <a:t>is</a:t>
            </a:r>
            <a:endParaRPr sz="2400" dirty="0">
              <a:latin typeface="Microsoft Sans Serif"/>
              <a:cs typeface="Microsoft Sans Serif"/>
            </a:endParaRPr>
          </a:p>
          <a:p>
            <a:pPr marL="533400">
              <a:lnSpc>
                <a:spcPts val="2039"/>
              </a:lnSpc>
            </a:pPr>
            <a:r>
              <a:rPr sz="2400" spc="55" dirty="0">
                <a:latin typeface="Cambria Math"/>
                <a:cs typeface="Cambria Math"/>
              </a:rPr>
              <a:t>𝑂(𝑏</a:t>
            </a:r>
            <a:r>
              <a:rPr sz="2625" spc="82" baseline="28571" dirty="0">
                <a:latin typeface="Cambria Math"/>
                <a:cs typeface="Cambria Math"/>
              </a:rPr>
              <a:t>𝑑</a:t>
            </a:r>
            <a:r>
              <a:rPr sz="2400" spc="55" dirty="0">
                <a:latin typeface="Cambria Math"/>
                <a:cs typeface="Cambria Math"/>
              </a:rPr>
              <a:t>)</a:t>
            </a:r>
            <a:r>
              <a:rPr sz="2400" spc="55" dirty="0">
                <a:latin typeface="Microsoft Sans Serif"/>
                <a:cs typeface="Microsoft Sans Serif"/>
              </a:rPr>
              <a:t>,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i.e.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dominated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size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frontier</a:t>
            </a:r>
            <a:endParaRPr sz="2400" dirty="0">
              <a:latin typeface="Microsoft Sans Serif"/>
              <a:cs typeface="Microsoft Sans Serif"/>
            </a:endParaRPr>
          </a:p>
          <a:p>
            <a:pPr marL="532765" indent="-456565">
              <a:lnSpc>
                <a:spcPts val="2020"/>
              </a:lnSpc>
              <a:buChar char="•"/>
              <a:tabLst>
                <a:tab pos="532765" algn="l"/>
              </a:tabLst>
            </a:pPr>
            <a:r>
              <a:rPr sz="2400" dirty="0">
                <a:latin typeface="Microsoft Sans Serif"/>
                <a:cs typeface="Microsoft Sans Serif"/>
              </a:rPr>
              <a:t>Switching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tree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search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would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save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much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space,</a:t>
            </a:r>
            <a:endParaRPr sz="2400" dirty="0">
              <a:latin typeface="Microsoft Sans Serif"/>
              <a:cs typeface="Microsoft Sans Serif"/>
            </a:endParaRPr>
          </a:p>
          <a:p>
            <a:pPr marL="533400" marR="1247140">
              <a:lnSpc>
                <a:spcPct val="70000"/>
              </a:lnSpc>
              <a:spcBef>
                <a:spcPts val="430"/>
              </a:spcBef>
            </a:pP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space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with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many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redundant</a:t>
            </a:r>
            <a:r>
              <a:rPr sz="2400" spc="-10" dirty="0">
                <a:latin typeface="Microsoft Sans Serif"/>
                <a:cs typeface="Microsoft Sans Serif"/>
              </a:rPr>
              <a:t> paths, </a:t>
            </a:r>
            <a:r>
              <a:rPr sz="2400" dirty="0">
                <a:latin typeface="Microsoft Sans Serif"/>
                <a:cs typeface="Microsoft Sans Serif"/>
              </a:rPr>
              <a:t>switching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could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cost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great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deal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time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30745"/>
            <a:ext cx="10515600" cy="994323"/>
          </a:xfrm>
          <a:prstGeom prst="rect">
            <a:avLst/>
          </a:prstGeom>
        </p:spPr>
        <p:txBody>
          <a:bodyPr vert="horz" wrap="square" lIns="0" tIns="3141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Microsoft Sans Serif"/>
                <a:cs typeface="Microsoft Sans Serif"/>
              </a:rPr>
              <a:t>                     </a:t>
            </a:r>
            <a:r>
              <a:rPr dirty="0">
                <a:latin typeface="Microsoft Sans Serif"/>
                <a:cs typeface="Microsoft Sans Serif"/>
              </a:rPr>
              <a:t>BFS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7521" y="1671491"/>
            <a:ext cx="825754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indent="-342265">
              <a:lnSpc>
                <a:spcPts val="2280"/>
              </a:lnSpc>
              <a:spcBef>
                <a:spcPts val="105"/>
              </a:spcBef>
              <a:buChar char="•"/>
              <a:tabLst>
                <a:tab pos="405765" algn="l"/>
              </a:tabLst>
            </a:pPr>
            <a:r>
              <a:rPr sz="2000" dirty="0">
                <a:latin typeface="Microsoft Sans Serif"/>
                <a:cs typeface="Microsoft Sans Serif"/>
              </a:rPr>
              <a:t>An exponential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complexity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bound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such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 </a:t>
            </a:r>
            <a:r>
              <a:rPr sz="2000" spc="65" dirty="0">
                <a:latin typeface="Cambria Math"/>
                <a:cs typeface="Cambria Math"/>
              </a:rPr>
              <a:t>𝑂(𝑏</a:t>
            </a:r>
            <a:r>
              <a:rPr sz="2175" spc="97" baseline="28735" dirty="0">
                <a:latin typeface="Cambria Math"/>
                <a:cs typeface="Cambria Math"/>
              </a:rPr>
              <a:t>𝑑</a:t>
            </a:r>
            <a:r>
              <a:rPr sz="2000" spc="65" dirty="0">
                <a:latin typeface="Cambria Math"/>
                <a:cs typeface="Cambria Math"/>
              </a:rPr>
              <a:t>)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scary</a:t>
            </a:r>
            <a:endParaRPr sz="2000" dirty="0">
              <a:latin typeface="Microsoft Sans Serif"/>
              <a:cs typeface="Microsoft Sans Serif"/>
            </a:endParaRPr>
          </a:p>
          <a:p>
            <a:pPr marL="405765" indent="-342265">
              <a:lnSpc>
                <a:spcPts val="2160"/>
              </a:lnSpc>
              <a:buChar char="•"/>
              <a:tabLst>
                <a:tab pos="405765" algn="l"/>
              </a:tabLst>
            </a:pPr>
            <a:r>
              <a:rPr sz="2000" dirty="0">
                <a:latin typeface="Microsoft Sans Serif"/>
                <a:cs typeface="Microsoft Sans Serif"/>
              </a:rPr>
              <a:t>Fig. 3.13 lists,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various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values of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solution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depth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time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and</a:t>
            </a:r>
            <a:endParaRPr sz="2000" dirty="0">
              <a:latin typeface="Microsoft Sans Serif"/>
              <a:cs typeface="Microsoft Sans Serif"/>
            </a:endParaRPr>
          </a:p>
          <a:p>
            <a:pPr marL="406400">
              <a:lnSpc>
                <a:spcPts val="2160"/>
              </a:lnSpc>
            </a:pPr>
            <a:r>
              <a:rPr sz="2000" dirty="0">
                <a:latin typeface="Microsoft Sans Serif"/>
                <a:cs typeface="Microsoft Sans Serif"/>
              </a:rPr>
              <a:t>memory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required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 a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BFS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with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branching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factor</a:t>
            </a:r>
            <a:r>
              <a:rPr sz="2000" spc="-20" dirty="0">
                <a:latin typeface="Microsoft Sans Serif"/>
                <a:cs typeface="Microsoft Sans Serif"/>
              </a:rPr>
              <a:t> b=10</a:t>
            </a:r>
            <a:endParaRPr sz="2000" dirty="0">
              <a:latin typeface="Microsoft Sans Serif"/>
              <a:cs typeface="Microsoft Sans Serif"/>
            </a:endParaRPr>
          </a:p>
          <a:p>
            <a:pPr marL="406400" marR="68580" indent="-342900">
              <a:lnSpc>
                <a:spcPts val="2160"/>
              </a:lnSpc>
              <a:spcBef>
                <a:spcPts val="150"/>
              </a:spcBef>
              <a:buChar char="•"/>
              <a:tabLst>
                <a:tab pos="406400" algn="l"/>
              </a:tabLst>
            </a:pP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table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assumes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million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nodes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generated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second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 node requires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1000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bytes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storage</a:t>
            </a:r>
            <a:endParaRPr sz="2000" dirty="0">
              <a:latin typeface="Microsoft Sans Serif"/>
              <a:cs typeface="Microsoft Sans Serif"/>
            </a:endParaRPr>
          </a:p>
          <a:p>
            <a:pPr marL="405765" indent="-342265">
              <a:lnSpc>
                <a:spcPts val="2010"/>
              </a:lnSpc>
              <a:buChar char="•"/>
              <a:tabLst>
                <a:tab pos="405765" algn="l"/>
              </a:tabLst>
            </a:pPr>
            <a:r>
              <a:rPr sz="2000" dirty="0">
                <a:latin typeface="Microsoft Sans Serif"/>
                <a:cs typeface="Microsoft Sans Serif"/>
              </a:rPr>
              <a:t>Many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search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problems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roughly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within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these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assumptions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when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run</a:t>
            </a:r>
            <a:endParaRPr sz="2000" dirty="0">
              <a:latin typeface="Microsoft Sans Serif"/>
              <a:cs typeface="Microsoft Sans Serif"/>
            </a:endParaRPr>
          </a:p>
          <a:p>
            <a:pPr marL="406400">
              <a:lnSpc>
                <a:spcPts val="2280"/>
              </a:lnSpc>
            </a:pPr>
            <a:r>
              <a:rPr sz="2000" dirty="0">
                <a:latin typeface="Microsoft Sans Serif"/>
                <a:cs typeface="Microsoft Sans Serif"/>
              </a:rPr>
              <a:t>on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modern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personal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computer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194" y="3628948"/>
            <a:ext cx="7563611" cy="2628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6124" y="6107988"/>
            <a:ext cx="7402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Taken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Russel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Norvig,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Artificial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Intelligence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Modern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Approach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57959"/>
            <a:ext cx="10515600" cy="739895"/>
          </a:xfrm>
          <a:prstGeom prst="rect">
            <a:avLst/>
          </a:prstGeom>
        </p:spPr>
        <p:txBody>
          <a:bodyPr vert="horz" wrap="square" lIns="0" tIns="62179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Microsoft Sans Serif"/>
                <a:cs typeface="Microsoft Sans Serif"/>
              </a:rPr>
              <a:t>                </a:t>
            </a:r>
            <a:r>
              <a:rPr dirty="0">
                <a:latin typeface="Microsoft Sans Serif"/>
                <a:cs typeface="Microsoft Sans Serif"/>
              </a:rPr>
              <a:t>BFS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8754" y="1483563"/>
            <a:ext cx="8201025" cy="5087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ts val="2450"/>
              </a:lnSpc>
              <a:spcBef>
                <a:spcPts val="100"/>
              </a:spcBef>
              <a:buChar char="•"/>
              <a:tabLst>
                <a:tab pos="583565" algn="l"/>
                <a:tab pos="6496685" algn="l"/>
              </a:tabLst>
            </a:pPr>
            <a:r>
              <a:rPr sz="2400" dirty="0">
                <a:latin typeface="Microsoft Sans Serif"/>
                <a:cs typeface="Microsoft Sans Serif"/>
              </a:rPr>
              <a:t>Two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lessons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learned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from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Fig.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3.13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50" dirty="0">
                <a:latin typeface="Microsoft Sans Serif"/>
                <a:cs typeface="Microsoft Sans Serif"/>
              </a:rPr>
              <a:t>.</a:t>
            </a:r>
            <a:endParaRPr lang="en-IN" sz="2400" spc="-50" dirty="0">
              <a:latin typeface="Microsoft Sans Serif"/>
              <a:cs typeface="Microsoft Sans Serif"/>
            </a:endParaRPr>
          </a:p>
          <a:p>
            <a:pPr marL="12700">
              <a:lnSpc>
                <a:spcPts val="2450"/>
              </a:lnSpc>
              <a:spcBef>
                <a:spcPts val="100"/>
              </a:spcBef>
              <a:tabLst>
                <a:tab pos="583565" algn="l"/>
                <a:tab pos="6496685" algn="l"/>
              </a:tabLst>
            </a:pPr>
            <a:endParaRPr sz="24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2014"/>
              </a:lnSpc>
              <a:buChar char="•"/>
              <a:tabLst>
                <a:tab pos="583565" algn="l"/>
              </a:tabLst>
            </a:pPr>
            <a:r>
              <a:rPr sz="2400" dirty="0">
                <a:latin typeface="Microsoft Sans Serif"/>
                <a:cs typeface="Microsoft Sans Serif"/>
              </a:rPr>
              <a:t>First,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b="1" i="1" dirty="0">
                <a:latin typeface="Arial"/>
                <a:cs typeface="Arial"/>
              </a:rPr>
              <a:t>the</a:t>
            </a:r>
            <a:r>
              <a:rPr sz="2400" b="1" i="1" spc="-5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memory</a:t>
            </a:r>
            <a:r>
              <a:rPr sz="2400" b="1" i="1" spc="-3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requirements</a:t>
            </a:r>
            <a:r>
              <a:rPr sz="2400" b="1" i="1" spc="-5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are</a:t>
            </a:r>
            <a:r>
              <a:rPr sz="2400" b="1" i="1" spc="-4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a</a:t>
            </a:r>
            <a:r>
              <a:rPr sz="2400" b="1" i="1" spc="-5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bigger</a:t>
            </a:r>
            <a:r>
              <a:rPr sz="2400" b="1" i="1" spc="-60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problem</a:t>
            </a:r>
            <a:endParaRPr sz="2400" dirty="0">
              <a:latin typeface="Arial"/>
              <a:cs typeface="Arial"/>
            </a:endParaRPr>
          </a:p>
          <a:p>
            <a:pPr marL="584200">
              <a:lnSpc>
                <a:spcPts val="2014"/>
              </a:lnSpc>
            </a:pPr>
            <a:r>
              <a:rPr sz="2400" b="1" i="1" dirty="0">
                <a:latin typeface="Arial"/>
                <a:cs typeface="Arial"/>
              </a:rPr>
              <a:t>for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BFS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than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is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the</a:t>
            </a:r>
            <a:r>
              <a:rPr sz="2400" b="1" i="1" spc="-3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execution</a:t>
            </a:r>
            <a:r>
              <a:rPr sz="2400" b="1" i="1" spc="-15" dirty="0">
                <a:latin typeface="Arial"/>
                <a:cs typeface="Arial"/>
              </a:rPr>
              <a:t> </a:t>
            </a:r>
            <a:r>
              <a:rPr sz="2400" b="1" i="1" spc="-20" dirty="0">
                <a:latin typeface="Arial"/>
                <a:cs typeface="Arial"/>
              </a:rPr>
              <a:t>time</a:t>
            </a:r>
            <a:endParaRPr lang="en-IN" sz="2400" b="1" i="1" spc="-20" dirty="0">
              <a:latin typeface="Arial"/>
              <a:cs typeface="Arial"/>
            </a:endParaRPr>
          </a:p>
          <a:p>
            <a:pPr marL="584200">
              <a:lnSpc>
                <a:spcPts val="2014"/>
              </a:lnSpc>
            </a:pPr>
            <a:endParaRPr sz="2400" dirty="0">
              <a:latin typeface="Arial"/>
              <a:cs typeface="Arial"/>
            </a:endParaRPr>
          </a:p>
          <a:p>
            <a:pPr marL="583565" indent="-570865">
              <a:lnSpc>
                <a:spcPts val="2014"/>
              </a:lnSpc>
              <a:buChar char="•"/>
              <a:tabLst>
                <a:tab pos="583565" algn="l"/>
              </a:tabLst>
            </a:pPr>
            <a:r>
              <a:rPr sz="2400" spc="-40" dirty="0">
                <a:latin typeface="Microsoft Sans Serif"/>
                <a:cs typeface="Microsoft Sans Serif"/>
              </a:rPr>
              <a:t>You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might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wait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13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days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solution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important</a:t>
            </a:r>
            <a:endParaRPr sz="2400" dirty="0">
              <a:latin typeface="Microsoft Sans Serif"/>
              <a:cs typeface="Microsoft Sans Serif"/>
            </a:endParaRPr>
          </a:p>
          <a:p>
            <a:pPr marL="5842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problem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with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search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depth12,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but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personal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computer</a:t>
            </a:r>
            <a:endParaRPr sz="2400" dirty="0">
              <a:latin typeface="Microsoft Sans Serif"/>
              <a:cs typeface="Microsoft Sans Serif"/>
            </a:endParaRPr>
          </a:p>
          <a:p>
            <a:pPr marL="5842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petabyte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memory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would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take</a:t>
            </a:r>
            <a:endParaRPr lang="en-IN" sz="2400" spc="-20" dirty="0">
              <a:latin typeface="Microsoft Sans Serif"/>
              <a:cs typeface="Microsoft Sans Serif"/>
            </a:endParaRPr>
          </a:p>
          <a:p>
            <a:pPr marL="584200">
              <a:lnSpc>
                <a:spcPts val="2014"/>
              </a:lnSpc>
            </a:pPr>
            <a:endParaRPr sz="24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2020"/>
              </a:lnSpc>
              <a:buChar char="•"/>
              <a:tabLst>
                <a:tab pos="58356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Fortunately,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other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strategies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require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less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memory</a:t>
            </a:r>
            <a:endParaRPr lang="en-IN" sz="2400" spc="-10" dirty="0">
              <a:latin typeface="Microsoft Sans Serif"/>
              <a:cs typeface="Microsoft Sans Serif"/>
            </a:endParaRPr>
          </a:p>
          <a:p>
            <a:pPr marL="12700">
              <a:lnSpc>
                <a:spcPts val="2020"/>
              </a:lnSpc>
              <a:tabLst>
                <a:tab pos="583565" algn="l"/>
              </a:tabLst>
            </a:pPr>
            <a:endParaRPr sz="24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2014"/>
              </a:lnSpc>
              <a:buChar char="•"/>
              <a:tabLst>
                <a:tab pos="583565" algn="l"/>
              </a:tabLst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second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lesson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time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still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major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factor</a:t>
            </a:r>
            <a:endParaRPr lang="en-IN" sz="2400" spc="-10" dirty="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  <a:tabLst>
                <a:tab pos="583565" algn="l"/>
              </a:tabLst>
            </a:pPr>
            <a:endParaRPr sz="24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2014"/>
              </a:lnSpc>
              <a:buChar char="•"/>
              <a:tabLst>
                <a:tab pos="583565" algn="l"/>
              </a:tabLst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problem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solution at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depth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16,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20" dirty="0">
                <a:latin typeface="Microsoft Sans Serif"/>
                <a:cs typeface="Microsoft Sans Serif"/>
              </a:rPr>
              <a:t> will</a:t>
            </a:r>
            <a:endParaRPr sz="2400" dirty="0">
              <a:latin typeface="Microsoft Sans Serif"/>
              <a:cs typeface="Microsoft Sans Serif"/>
            </a:endParaRPr>
          </a:p>
          <a:p>
            <a:pPr marL="5842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take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about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350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years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breadth-</a:t>
            </a:r>
            <a:r>
              <a:rPr sz="2400" dirty="0">
                <a:latin typeface="Microsoft Sans Serif"/>
                <a:cs typeface="Microsoft Sans Serif"/>
              </a:rPr>
              <a:t>first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search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find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it</a:t>
            </a:r>
            <a:endParaRPr lang="en-IN" sz="2400" spc="-25" dirty="0">
              <a:latin typeface="Microsoft Sans Serif"/>
              <a:cs typeface="Microsoft Sans Serif"/>
            </a:endParaRPr>
          </a:p>
          <a:p>
            <a:pPr marL="584200">
              <a:lnSpc>
                <a:spcPts val="2014"/>
              </a:lnSpc>
            </a:pPr>
            <a:endParaRPr sz="2400" dirty="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2014"/>
              </a:lnSpc>
              <a:buChar char="•"/>
              <a:tabLst>
                <a:tab pos="583565" algn="l"/>
              </a:tabLst>
            </a:pP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general,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exponential-</a:t>
            </a:r>
            <a:r>
              <a:rPr sz="2400" b="1" i="1" dirty="0">
                <a:latin typeface="Arial"/>
                <a:cs typeface="Arial"/>
              </a:rPr>
              <a:t>complexity</a:t>
            </a:r>
            <a:r>
              <a:rPr sz="2400" b="1" i="1" spc="-5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search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problems</a:t>
            </a:r>
            <a:endParaRPr sz="2400" dirty="0">
              <a:latin typeface="Arial"/>
              <a:cs typeface="Arial"/>
            </a:endParaRPr>
          </a:p>
          <a:p>
            <a:pPr marL="584200" marR="467359">
              <a:lnSpc>
                <a:spcPct val="70000"/>
              </a:lnSpc>
              <a:spcBef>
                <a:spcPts val="434"/>
              </a:spcBef>
            </a:pPr>
            <a:r>
              <a:rPr sz="2400" b="1" i="1" dirty="0">
                <a:latin typeface="Arial"/>
                <a:cs typeface="Arial"/>
              </a:rPr>
              <a:t>cannot</a:t>
            </a:r>
            <a:r>
              <a:rPr sz="2400" b="1" i="1" spc="-2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be</a:t>
            </a:r>
            <a:r>
              <a:rPr sz="2400" b="1" i="1" spc="-1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solved</a:t>
            </a:r>
            <a:r>
              <a:rPr sz="2400" b="1" i="1" spc="-1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by</a:t>
            </a:r>
            <a:r>
              <a:rPr sz="2400" b="1" i="1" spc="-2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uninformed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methods</a:t>
            </a:r>
            <a:r>
              <a:rPr sz="2400" b="1" i="1" spc="-1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for</a:t>
            </a:r>
            <a:r>
              <a:rPr sz="2400" b="1" i="1" spc="-10" dirty="0">
                <a:latin typeface="Arial"/>
                <a:cs typeface="Arial"/>
              </a:rPr>
              <a:t> </a:t>
            </a:r>
            <a:r>
              <a:rPr sz="2400" b="1" i="1" spc="-25" dirty="0">
                <a:latin typeface="Arial"/>
                <a:cs typeface="Arial"/>
              </a:rPr>
              <a:t>any </a:t>
            </a:r>
            <a:r>
              <a:rPr sz="2400" b="1" i="1" dirty="0">
                <a:latin typeface="Arial"/>
                <a:cs typeface="Arial"/>
              </a:rPr>
              <a:t>but</a:t>
            </a:r>
            <a:r>
              <a:rPr sz="2400" b="1" i="1" spc="-1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the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smallest</a:t>
            </a:r>
            <a:r>
              <a:rPr sz="2400" b="1" i="1" spc="-10" dirty="0">
                <a:latin typeface="Arial"/>
                <a:cs typeface="Arial"/>
              </a:rPr>
              <a:t> instances.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388" rIns="0" bIns="0" rtlCol="0">
            <a:spAutoFit/>
          </a:bodyPr>
          <a:lstStyle/>
          <a:p>
            <a:pPr marL="524637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BFS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4367" y="1896170"/>
            <a:ext cx="3128645" cy="39820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3200" spc="-10" dirty="0">
                <a:latin typeface="Calibri"/>
                <a:cs typeface="Calibri"/>
              </a:rPr>
              <a:t>Completeness?</a:t>
            </a:r>
            <a:endParaRPr sz="3200">
              <a:latin typeface="Calibri"/>
              <a:cs typeface="Calibri"/>
            </a:endParaRPr>
          </a:p>
          <a:p>
            <a:pPr marR="1855470" algn="ctr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latin typeface="Calibri"/>
                <a:cs typeface="Calibri"/>
              </a:rPr>
              <a:t>Yes</a:t>
            </a:r>
            <a:endParaRPr sz="2800">
              <a:latin typeface="Calibri"/>
              <a:cs typeface="Calibri"/>
            </a:endParaRPr>
          </a:p>
          <a:p>
            <a:pPr marR="143510" algn="ctr">
              <a:lnSpc>
                <a:spcPct val="100000"/>
              </a:lnSpc>
              <a:spcBef>
                <a:spcPts val="300"/>
              </a:spcBef>
            </a:pPr>
            <a:r>
              <a:rPr sz="3200" dirty="0">
                <a:latin typeface="Calibri"/>
                <a:cs typeface="Calibri"/>
              </a:rPr>
              <a:t>Time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complexity?</a:t>
            </a:r>
            <a:endParaRPr sz="3200">
              <a:latin typeface="Calibri"/>
              <a:cs typeface="Calibri"/>
            </a:endParaRPr>
          </a:p>
          <a:p>
            <a:pPr marR="1557020" algn="ctr">
              <a:lnSpc>
                <a:spcPct val="100000"/>
              </a:lnSpc>
              <a:spcBef>
                <a:spcPts val="295"/>
              </a:spcBef>
            </a:pPr>
            <a:r>
              <a:rPr sz="2800" spc="-10" dirty="0">
                <a:latin typeface="Calibri"/>
                <a:cs typeface="Calibri"/>
              </a:rPr>
              <a:t>O(b</a:t>
            </a:r>
            <a:r>
              <a:rPr sz="2775" spc="-15" baseline="25525" dirty="0">
                <a:latin typeface="Calibri"/>
                <a:cs typeface="Calibri"/>
              </a:rPr>
              <a:t>d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3200" dirty="0">
                <a:latin typeface="Calibri"/>
                <a:cs typeface="Calibri"/>
              </a:rPr>
              <a:t>Space</a:t>
            </a:r>
            <a:r>
              <a:rPr sz="3200" spc="-10" dirty="0">
                <a:latin typeface="Calibri"/>
                <a:cs typeface="Calibri"/>
              </a:rPr>
              <a:t> complexity?</a:t>
            </a:r>
            <a:endParaRPr sz="3200">
              <a:latin typeface="Calibri"/>
              <a:cs typeface="Calibri"/>
            </a:endParaRPr>
          </a:p>
          <a:p>
            <a:pPr marR="1176020" algn="ctr">
              <a:lnSpc>
                <a:spcPct val="100000"/>
              </a:lnSpc>
              <a:spcBef>
                <a:spcPts val="320"/>
              </a:spcBef>
            </a:pPr>
            <a:r>
              <a:rPr sz="2800" dirty="0">
                <a:latin typeface="Calibri"/>
                <a:cs typeface="Calibri"/>
              </a:rPr>
              <a:t>O(b</a:t>
            </a:r>
            <a:r>
              <a:rPr sz="2775" baseline="25525" dirty="0">
                <a:latin typeface="Calibri"/>
                <a:cs typeface="Calibri"/>
              </a:rPr>
              <a:t>d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Wingdings"/>
                <a:cs typeface="Wingdings"/>
              </a:rPr>
              <a:t></a:t>
            </a:r>
            <a:endParaRPr sz="2800">
              <a:latin typeface="Wingdings"/>
              <a:cs typeface="Wingdings"/>
            </a:endParaRPr>
          </a:p>
          <a:p>
            <a:pPr marR="1119505" algn="ctr">
              <a:lnSpc>
                <a:spcPct val="100000"/>
              </a:lnSpc>
              <a:spcBef>
                <a:spcPts val="270"/>
              </a:spcBef>
            </a:pPr>
            <a:r>
              <a:rPr sz="3200" spc="-10" dirty="0">
                <a:latin typeface="Calibri"/>
                <a:cs typeface="Calibri"/>
              </a:rPr>
              <a:t>Optimality?</a:t>
            </a:r>
            <a:endParaRPr sz="3200">
              <a:latin typeface="Calibri"/>
              <a:cs typeface="Calibri"/>
            </a:endParaRPr>
          </a:p>
          <a:p>
            <a:pPr marR="1847850" algn="ctr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latin typeface="Calibri"/>
                <a:cs typeface="Calibri"/>
              </a:rPr>
              <a:t>yes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653" y="266763"/>
            <a:ext cx="6708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Microsoft Sans Serif"/>
                <a:cs typeface="Microsoft Sans Serif"/>
              </a:rPr>
              <a:t>Uniform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cost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search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(UCS)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6835" y="1751079"/>
            <a:ext cx="8220075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ts val="2140"/>
              </a:lnSpc>
              <a:spcBef>
                <a:spcPts val="100"/>
              </a:spcBef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When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all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step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costs are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equal,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BFS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optimal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because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always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expands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i="1" dirty="0">
                <a:latin typeface="Arial"/>
                <a:cs typeface="Arial"/>
              </a:rPr>
              <a:t>shallowest</a:t>
            </a:r>
            <a:r>
              <a:rPr sz="2100" i="1" spc="-55" dirty="0">
                <a:latin typeface="Arial"/>
                <a:cs typeface="Arial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unexpanded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node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spc="-10" dirty="0">
                <a:latin typeface="Microsoft Sans Serif"/>
                <a:cs typeface="Microsoft Sans Serif"/>
              </a:rPr>
              <a:t>Similarly,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we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can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find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an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algorithm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that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optimal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with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any</a:t>
            </a:r>
            <a:r>
              <a:rPr sz="2100" spc="-10" dirty="0">
                <a:latin typeface="Microsoft Sans Serif"/>
                <a:cs typeface="Microsoft Sans Serif"/>
              </a:rPr>
              <a:t> step-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cost</a:t>
            </a:r>
            <a:r>
              <a:rPr sz="2100" spc="2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function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Instead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of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expanding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 shallowest node,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b="1" spc="-20" dirty="0">
                <a:latin typeface="Arial"/>
                <a:cs typeface="Arial"/>
              </a:rPr>
              <a:t>uniform-</a:t>
            </a:r>
            <a:r>
              <a:rPr sz="2100" b="1" dirty="0">
                <a:latin typeface="Arial"/>
                <a:cs typeface="Arial"/>
              </a:rPr>
              <a:t>cost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search</a:t>
            </a:r>
            <a:endParaRPr sz="2100">
              <a:latin typeface="Arial"/>
              <a:cs typeface="Arial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expands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i="1" dirty="0">
                <a:latin typeface="Arial"/>
                <a:cs typeface="Arial"/>
              </a:rPr>
              <a:t>n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with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i="1" dirty="0">
                <a:latin typeface="Arial"/>
                <a:cs typeface="Arial"/>
              </a:rPr>
              <a:t>lowest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path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cost</a:t>
            </a:r>
            <a:r>
              <a:rPr sz="2100" i="1" spc="-30" dirty="0">
                <a:latin typeface="Arial"/>
                <a:cs typeface="Arial"/>
              </a:rPr>
              <a:t> </a:t>
            </a:r>
            <a:r>
              <a:rPr sz="2100" i="1" spc="-20" dirty="0">
                <a:latin typeface="Arial"/>
                <a:cs typeface="Arial"/>
              </a:rPr>
              <a:t>g(n)</a:t>
            </a:r>
            <a:endParaRPr sz="2100">
              <a:latin typeface="Arial"/>
              <a:cs typeface="Arial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This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 done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by storing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frontier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priority queue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ordered </a:t>
            </a:r>
            <a:r>
              <a:rPr sz="2100" spc="-25" dirty="0">
                <a:latin typeface="Microsoft Sans Serif"/>
                <a:cs typeface="Microsoft Sans Serif"/>
              </a:rPr>
              <a:t>by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i="1" spc="-50" dirty="0">
                <a:latin typeface="Arial"/>
                <a:cs typeface="Arial"/>
              </a:rPr>
              <a:t>g</a:t>
            </a:r>
            <a:endParaRPr sz="2100">
              <a:latin typeface="Arial"/>
              <a:cs typeface="Arial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This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algorithm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shown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Fig.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3.14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addition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to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ordering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of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queue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by path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cost,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there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are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two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significant</a:t>
            </a:r>
            <a:r>
              <a:rPr sz="2100" spc="-4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differences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from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BFS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first is that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goal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test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applied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to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when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is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i="1" dirty="0">
                <a:latin typeface="Arial"/>
                <a:cs typeface="Arial"/>
              </a:rPr>
              <a:t>selected</a:t>
            </a:r>
            <a:r>
              <a:rPr sz="2100" i="1" spc="-4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for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expansion</a:t>
            </a:r>
            <a:r>
              <a:rPr sz="2100" i="1" spc="-40" dirty="0">
                <a:latin typeface="Arial"/>
                <a:cs typeface="Arial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(as</a:t>
            </a:r>
            <a:r>
              <a:rPr sz="2100" spc="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generic </a:t>
            </a:r>
            <a:r>
              <a:rPr sz="2100" spc="-10" dirty="0">
                <a:latin typeface="Microsoft Sans Serif"/>
                <a:cs typeface="Microsoft Sans Serif"/>
              </a:rPr>
              <a:t>graph-search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algorithm)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rather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than when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first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generated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reason is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that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 first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goal node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that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i="1" dirty="0">
                <a:latin typeface="Arial"/>
                <a:cs typeface="Arial"/>
              </a:rPr>
              <a:t>generated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may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be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on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 suboptimal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path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second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difference is that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rest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added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case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better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2140"/>
              </a:lnSpc>
            </a:pPr>
            <a:r>
              <a:rPr sz="2100" dirty="0">
                <a:latin typeface="Microsoft Sans Serif"/>
                <a:cs typeface="Microsoft Sans Serif"/>
              </a:rPr>
              <a:t>path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 found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to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currently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on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10" dirty="0">
                <a:latin typeface="Microsoft Sans Serif"/>
                <a:cs typeface="Microsoft Sans Serif"/>
              </a:rPr>
              <a:t> frontier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8106" y="6195466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10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1405" y="93142"/>
            <a:ext cx="32581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UCS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8754" y="2969513"/>
            <a:ext cx="106045" cy="175387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35"/>
              </a:lnSpc>
              <a:spcBef>
                <a:spcPts val="865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35"/>
              </a:lnSpc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8754" y="4890008"/>
            <a:ext cx="106045" cy="98615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35"/>
              </a:lnSpc>
              <a:spcBef>
                <a:spcPts val="865"/>
              </a:spcBef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35"/>
              </a:lnSpc>
            </a:pPr>
            <a:r>
              <a:rPr sz="1800" spc="-50" dirty="0">
                <a:latin typeface="Microsoft Sans Serif"/>
                <a:cs typeface="Microsoft Sans Serif"/>
              </a:rPr>
              <a:t>•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8754" y="1551665"/>
            <a:ext cx="8240395" cy="510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 indent="-685165">
              <a:lnSpc>
                <a:spcPts val="1835"/>
              </a:lnSpc>
              <a:spcBef>
                <a:spcPts val="100"/>
              </a:spcBef>
              <a:buChar char="•"/>
              <a:tabLst>
                <a:tab pos="697865" algn="l"/>
              </a:tabLst>
            </a:pPr>
            <a:r>
              <a:rPr sz="1800" dirty="0">
                <a:latin typeface="Microsoft Sans Serif"/>
                <a:cs typeface="Microsoft Sans Serif"/>
              </a:rPr>
              <a:t>Both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these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modifications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play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example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shown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Fig.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3.15,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where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problem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Sibiu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Bucharest</a:t>
            </a:r>
            <a:endParaRPr sz="1800" dirty="0">
              <a:latin typeface="Microsoft Sans Serif"/>
              <a:cs typeface="Microsoft Sans Serif"/>
            </a:endParaRPr>
          </a:p>
          <a:p>
            <a:pPr marL="697865" indent="-685165">
              <a:lnSpc>
                <a:spcPts val="1510"/>
              </a:lnSpc>
              <a:buChar char="•"/>
              <a:tabLst>
                <a:tab pos="6978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successors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Sibiu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Rimnicu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Vilcea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Fagaras,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costs</a:t>
            </a:r>
            <a:r>
              <a:rPr sz="1800" spc="-25" dirty="0">
                <a:latin typeface="Microsoft Sans Serif"/>
                <a:cs typeface="Microsoft Sans Serif"/>
              </a:rPr>
              <a:t> 80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99,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respectively</a:t>
            </a:r>
            <a:endParaRPr sz="1800" dirty="0">
              <a:latin typeface="Microsoft Sans Serif"/>
              <a:cs typeface="Microsoft Sans Serif"/>
            </a:endParaRPr>
          </a:p>
          <a:p>
            <a:pPr marL="697865" indent="-685165">
              <a:lnSpc>
                <a:spcPts val="1510"/>
              </a:lnSpc>
              <a:buChar char="•"/>
              <a:tabLst>
                <a:tab pos="6978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least-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Rimnicu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Vilcea,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expanded next, adding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Pitesti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with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80+97=177.</a:t>
            </a:r>
            <a:endParaRPr sz="1800" dirty="0">
              <a:latin typeface="Microsoft Sans Serif"/>
              <a:cs typeface="Microsoft Sans Serif"/>
            </a:endParaRPr>
          </a:p>
          <a:p>
            <a:pPr marL="697865" indent="-685165">
              <a:lnSpc>
                <a:spcPts val="1510"/>
              </a:lnSpc>
              <a:buChar char="•"/>
              <a:tabLst>
                <a:tab pos="6978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least-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now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Fagaras,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 it is expanded,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adding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Bucharest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99+211=310</a:t>
            </a:r>
            <a:endParaRPr sz="1800" dirty="0">
              <a:latin typeface="Microsoft Sans Serif"/>
              <a:cs typeface="Microsoft Sans Serif"/>
            </a:endParaRPr>
          </a:p>
          <a:p>
            <a:pPr marL="697865" indent="-685165">
              <a:lnSpc>
                <a:spcPts val="1515"/>
              </a:lnSpc>
              <a:buChar char="•"/>
              <a:tabLst>
                <a:tab pos="697865" algn="l"/>
              </a:tabLst>
            </a:pPr>
            <a:r>
              <a:rPr sz="1800" dirty="0">
                <a:latin typeface="Microsoft Sans Serif"/>
                <a:cs typeface="Microsoft Sans Serif"/>
              </a:rPr>
              <a:t>Now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been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generated,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but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UCS keeps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going, </a:t>
            </a:r>
            <a:r>
              <a:rPr sz="1800" spc="-10" dirty="0">
                <a:latin typeface="Microsoft Sans Serif"/>
                <a:cs typeface="Microsoft Sans Serif"/>
              </a:rPr>
              <a:t>choosing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Pitesti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expansion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adding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second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Bucharest with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cost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spc="-10" dirty="0">
                <a:latin typeface="Microsoft Sans Serif"/>
                <a:cs typeface="Microsoft Sans Serif"/>
              </a:rPr>
              <a:t>80+97+101=278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Now 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algorithm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checks 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see if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 new path 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better than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old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one;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old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discarded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Bucharest,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now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i="1" spc="-10" dirty="0">
                <a:latin typeface="Arial"/>
                <a:cs typeface="Arial"/>
              </a:rPr>
              <a:t>g-</a:t>
            </a:r>
            <a:r>
              <a:rPr sz="1800" i="1" dirty="0">
                <a:latin typeface="Arial"/>
                <a:cs typeface="Arial"/>
              </a:rPr>
              <a:t>cost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278,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selected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expansion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 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solution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returned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easy to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UCS is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optimal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general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Whenever UCS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selects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expansion,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4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optimal path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that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has been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found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Were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 so,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there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would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another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frontier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n’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optimal path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 to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n’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would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lower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g-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than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i="1" dirty="0">
                <a:latin typeface="Arial"/>
                <a:cs typeface="Arial"/>
              </a:rPr>
              <a:t>n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 would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been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selected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first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Because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step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costs are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nonnegative,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never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shorter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nodes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are </a:t>
            </a:r>
            <a:r>
              <a:rPr sz="1800" spc="-10" dirty="0">
                <a:latin typeface="Microsoft Sans Serif"/>
                <a:cs typeface="Microsoft Sans Serif"/>
              </a:rPr>
              <a:t>added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implies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UCS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expands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nodes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order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their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optimal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path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cost</a:t>
            </a:r>
            <a:endParaRPr sz="1800" dirty="0">
              <a:latin typeface="Arial"/>
              <a:cs typeface="Arial"/>
            </a:endParaRPr>
          </a:p>
          <a:p>
            <a:pPr marL="6985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Hence, 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first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selected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expansion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must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optimal</a:t>
            </a:r>
            <a:endParaRPr sz="1800" dirty="0">
              <a:latin typeface="Microsoft Sans Serif"/>
              <a:cs typeface="Microsoft Sans Serif"/>
            </a:endParaRPr>
          </a:p>
          <a:p>
            <a:pPr marL="698500">
              <a:lnSpc>
                <a:spcPts val="1835"/>
              </a:lnSpc>
            </a:pPr>
            <a:r>
              <a:rPr sz="1800" spc="-10" dirty="0">
                <a:latin typeface="Microsoft Sans Serif"/>
                <a:cs typeface="Microsoft Sans Serif"/>
              </a:rPr>
              <a:t>solution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990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Microsoft Sans Serif"/>
                <a:cs typeface="Microsoft Sans Serif"/>
              </a:rPr>
              <a:t>UCS</a:t>
            </a:r>
            <a:r>
              <a:rPr spc="4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85517" y="1912620"/>
            <a:ext cx="736473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UCS does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care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about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number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steps 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has,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but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only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about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their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total</a:t>
            </a:r>
            <a:r>
              <a:rPr sz="1800" spc="-20" dirty="0">
                <a:latin typeface="Microsoft Sans Serif"/>
                <a:cs typeface="Microsoft Sans Serif"/>
              </a:rPr>
              <a:t> cost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Therefore,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will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stuck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infinite loop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 with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an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infinite sequence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zero-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actions,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e.g. 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sequence of </a:t>
            </a:r>
            <a:r>
              <a:rPr sz="1800" i="1" dirty="0">
                <a:latin typeface="Arial"/>
                <a:cs typeface="Arial"/>
              </a:rPr>
              <a:t>NoOp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actions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Completeness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guaranteed provided 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every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step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exceeds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some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small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positive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constant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𝜖</a:t>
            </a: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UCS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guided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costs rather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depths,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its complexity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not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easily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characterized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terms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i="1" spc="-25" dirty="0">
                <a:latin typeface="Arial"/>
                <a:cs typeface="Arial"/>
              </a:rPr>
              <a:t>d</a:t>
            </a:r>
            <a:r>
              <a:rPr sz="1800" spc="-25" dirty="0">
                <a:latin typeface="Microsoft Sans Serif"/>
                <a:cs typeface="Microsoft Sans Serif"/>
              </a:rPr>
              <a:t>.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Instead,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let C*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optimal solution,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assume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 </a:t>
            </a:r>
            <a:r>
              <a:rPr sz="1800" spc="-10" dirty="0">
                <a:latin typeface="Microsoft Sans Serif"/>
                <a:cs typeface="Microsoft Sans Serif"/>
              </a:rPr>
              <a:t>every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action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least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𝜖</a:t>
            </a: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ts val="1835"/>
              </a:lnSpc>
            </a:pPr>
            <a:r>
              <a:rPr sz="1800" dirty="0">
                <a:latin typeface="Microsoft Sans Serif"/>
                <a:cs typeface="Microsoft Sans Serif"/>
              </a:rPr>
              <a:t>Then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algorithm’s </a:t>
            </a:r>
            <a:r>
              <a:rPr sz="1800" spc="-10" dirty="0">
                <a:latin typeface="Microsoft Sans Serif"/>
                <a:cs typeface="Microsoft Sans Serif"/>
              </a:rPr>
              <a:t>worst-</a:t>
            </a:r>
            <a:r>
              <a:rPr sz="1800" dirty="0">
                <a:latin typeface="Microsoft Sans Serif"/>
                <a:cs typeface="Microsoft Sans Serif"/>
              </a:rPr>
              <a:t>cast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time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space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complexity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is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0674" y="4265797"/>
            <a:ext cx="25624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𝑂(𝑏</a:t>
            </a:r>
            <a:r>
              <a:rPr sz="1950" baseline="27777" dirty="0">
                <a:latin typeface="Cambria Math"/>
                <a:cs typeface="Cambria Math"/>
              </a:rPr>
              <a:t>𝑙</a:t>
            </a:r>
            <a:r>
              <a:rPr sz="1950" spc="525" baseline="2777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+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49162" y="4277201"/>
            <a:ext cx="305435" cy="374650"/>
          </a:xfrm>
          <a:custGeom>
            <a:avLst/>
            <a:gdLst/>
            <a:ahLst/>
            <a:cxnLst/>
            <a:rect l="l" t="t" r="r" b="b"/>
            <a:pathLst>
              <a:path w="305435" h="374650">
                <a:moveTo>
                  <a:pt x="53086" y="365760"/>
                </a:moveTo>
                <a:lnTo>
                  <a:pt x="20828" y="365760"/>
                </a:lnTo>
                <a:lnTo>
                  <a:pt x="20828" y="0"/>
                </a:lnTo>
                <a:lnTo>
                  <a:pt x="0" y="0"/>
                </a:lnTo>
                <a:lnTo>
                  <a:pt x="0" y="36576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5760"/>
                </a:lnTo>
                <a:close/>
              </a:path>
              <a:path w="305435" h="374650">
                <a:moveTo>
                  <a:pt x="245872" y="179705"/>
                </a:moveTo>
                <a:lnTo>
                  <a:pt x="58420" y="179705"/>
                </a:lnTo>
                <a:lnTo>
                  <a:pt x="58420" y="194945"/>
                </a:lnTo>
                <a:lnTo>
                  <a:pt x="245872" y="194945"/>
                </a:lnTo>
                <a:lnTo>
                  <a:pt x="245872" y="179705"/>
                </a:lnTo>
                <a:close/>
              </a:path>
              <a:path w="305435" h="374650">
                <a:moveTo>
                  <a:pt x="305435" y="0"/>
                </a:moveTo>
                <a:lnTo>
                  <a:pt x="284099" y="0"/>
                </a:lnTo>
                <a:lnTo>
                  <a:pt x="284099" y="365760"/>
                </a:lnTo>
                <a:lnTo>
                  <a:pt x="252476" y="365760"/>
                </a:lnTo>
                <a:lnTo>
                  <a:pt x="252476" y="374650"/>
                </a:lnTo>
                <a:lnTo>
                  <a:pt x="305435" y="374650"/>
                </a:lnTo>
                <a:lnTo>
                  <a:pt x="305435" y="365760"/>
                </a:lnTo>
                <a:lnTo>
                  <a:pt x="305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92347" y="4088447"/>
            <a:ext cx="257175" cy="64452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69"/>
              </a:spcBef>
            </a:pPr>
            <a:r>
              <a:rPr sz="1950" spc="52" baseline="-21367" dirty="0">
                <a:latin typeface="Cambria Math"/>
                <a:cs typeface="Cambria Math"/>
              </a:rPr>
              <a:t>𝐶</a:t>
            </a:r>
            <a:r>
              <a:rPr sz="1050" spc="35" dirty="0">
                <a:latin typeface="Cambria Math"/>
                <a:cs typeface="Cambria Math"/>
              </a:rPr>
              <a:t>∗</a:t>
            </a:r>
            <a:endParaRPr sz="1050">
              <a:latin typeface="Cambria Math"/>
              <a:cs typeface="Cambria Math"/>
            </a:endParaRPr>
          </a:p>
          <a:p>
            <a:pPr marL="85090">
              <a:lnSpc>
                <a:spcPct val="100000"/>
              </a:lnSpc>
              <a:spcBef>
                <a:spcPts val="875"/>
              </a:spcBef>
            </a:pPr>
            <a:r>
              <a:rPr sz="1300" spc="30" dirty="0">
                <a:latin typeface="Cambria Math"/>
                <a:cs typeface="Cambria Math"/>
              </a:rPr>
              <a:t>𝜖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17196" y="4200253"/>
            <a:ext cx="9627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) is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just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𝑏</a:t>
            </a:r>
            <a:r>
              <a:rPr sz="1950" spc="-30" baseline="27777" dirty="0">
                <a:latin typeface="Cambria Math"/>
                <a:cs typeface="Cambria Math"/>
              </a:rPr>
              <a:t>𝑑+1</a:t>
            </a:r>
            <a:endParaRPr sz="1950" baseline="27777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6848" y="4945380"/>
            <a:ext cx="7352030" cy="87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When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step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same,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UCS 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similar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BFS,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except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latter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stops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soon as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whereas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UCS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examines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all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 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goal’s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 see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 one has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lower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cost;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thus </a:t>
            </a:r>
            <a:r>
              <a:rPr sz="1800" spc="-25" dirty="0">
                <a:latin typeface="Microsoft Sans Serif"/>
                <a:cs typeface="Microsoft Sans Serif"/>
              </a:rPr>
              <a:t>UCS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835"/>
              </a:lnSpc>
            </a:pPr>
            <a:r>
              <a:rPr sz="1800" dirty="0">
                <a:latin typeface="Microsoft Sans Serif"/>
                <a:cs typeface="Microsoft Sans Serif"/>
              </a:rPr>
              <a:t>does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strictly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more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work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expanding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 at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d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unnecessarily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439" rIns="0" bIns="0" rtlCol="0">
            <a:spAutoFit/>
          </a:bodyPr>
          <a:lstStyle/>
          <a:p>
            <a:pPr marL="412686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UCS</a:t>
            </a:r>
            <a:r>
              <a:rPr sz="4300" spc="-90" dirty="0"/>
              <a:t> </a:t>
            </a:r>
            <a:r>
              <a:rPr sz="4300" spc="-10" dirty="0"/>
              <a:t>(contd.)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481" y="1428195"/>
            <a:ext cx="7812597" cy="4828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1908" y="6337198"/>
            <a:ext cx="74015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Taken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Russel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Norvig,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Artificial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Intelligence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Modern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Approach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754" y="227202"/>
            <a:ext cx="79355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Depth-</a:t>
            </a:r>
            <a:r>
              <a:rPr dirty="0">
                <a:latin typeface="Microsoft Sans Serif"/>
                <a:cs typeface="Microsoft Sans Serif"/>
              </a:rPr>
              <a:t>first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search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(DFS)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9508" y="1726390"/>
            <a:ext cx="8074025" cy="460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ts val="2140"/>
              </a:lnSpc>
              <a:spcBef>
                <a:spcPts val="100"/>
              </a:spcBef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DFS always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expands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i="1" dirty="0">
                <a:latin typeface="Arial"/>
                <a:cs typeface="Arial"/>
              </a:rPr>
              <a:t>deepest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 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current frontier </a:t>
            </a:r>
            <a:r>
              <a:rPr sz="2100" spc="-25" dirty="0">
                <a:latin typeface="Microsoft Sans Serif"/>
                <a:cs typeface="Microsoft Sans Serif"/>
              </a:rPr>
              <a:t>of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search </a:t>
            </a:r>
            <a:r>
              <a:rPr sz="2100" spc="-20" dirty="0">
                <a:latin typeface="Microsoft Sans Serif"/>
                <a:cs typeface="Microsoft Sans Serif"/>
              </a:rPr>
              <a:t>tree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progress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of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search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shown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Fig.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3.16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search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proceeds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immediately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to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deepest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level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of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search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tree,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where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nodes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have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</a:t>
            </a:r>
            <a:r>
              <a:rPr sz="2100" spc="-10" dirty="0">
                <a:latin typeface="Microsoft Sans Serif"/>
                <a:cs typeface="Microsoft Sans Serif"/>
              </a:rPr>
              <a:t> successors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As those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are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expanded,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they are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dropped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from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spc="-10" dirty="0">
                <a:latin typeface="Microsoft Sans Serif"/>
                <a:cs typeface="Microsoft Sans Serif"/>
              </a:rPr>
              <a:t>frontier,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so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then 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search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“backs up”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to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next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deepest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node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that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still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has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unexplored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successors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DFS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algorithm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is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instance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of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 </a:t>
            </a:r>
            <a:r>
              <a:rPr sz="2100" spc="-10" dirty="0">
                <a:latin typeface="Microsoft Sans Serif"/>
                <a:cs typeface="Microsoft Sans Serif"/>
              </a:rPr>
              <a:t>graph-</a:t>
            </a:r>
            <a:r>
              <a:rPr sz="2100" dirty="0">
                <a:latin typeface="Microsoft Sans Serif"/>
                <a:cs typeface="Microsoft Sans Serif"/>
              </a:rPr>
              <a:t>search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algorithm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Whereas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BFS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uses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FIFO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queue,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DFS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uses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LIFO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queue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1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LIFO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queue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means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that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most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recently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generated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</a:t>
            </a:r>
            <a:r>
              <a:rPr sz="2100" spc="-25" dirty="0">
                <a:latin typeface="Microsoft Sans Serif"/>
                <a:cs typeface="Microsoft Sans Serif"/>
              </a:rPr>
              <a:t> is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chosen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for</a:t>
            </a:r>
            <a:r>
              <a:rPr sz="2100" spc="2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expansion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This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must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deepest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unexpanded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because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 is </a:t>
            </a:r>
            <a:r>
              <a:rPr sz="2100" spc="-25" dirty="0">
                <a:latin typeface="Microsoft Sans Serif"/>
                <a:cs typeface="Microsoft Sans Serif"/>
              </a:rPr>
              <a:t>one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deeper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than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parent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which, in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turn,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was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deepest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unexpanded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node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when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 was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selected</a:t>
            </a:r>
            <a:endParaRPr sz="2100">
              <a:latin typeface="Microsoft Sans Serif"/>
              <a:cs typeface="Microsoft Sans Serif"/>
            </a:endParaRPr>
          </a:p>
          <a:p>
            <a:pPr marL="583565" indent="-570865">
              <a:lnSpc>
                <a:spcPts val="1764"/>
              </a:lnSpc>
              <a:buChar char="•"/>
              <a:tabLst>
                <a:tab pos="583565" algn="l"/>
              </a:tabLst>
            </a:pPr>
            <a:r>
              <a:rPr sz="2100" dirty="0">
                <a:latin typeface="Microsoft Sans Serif"/>
                <a:cs typeface="Microsoft Sans Serif"/>
              </a:rPr>
              <a:t>As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an alternative to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graph-</a:t>
            </a:r>
            <a:r>
              <a:rPr sz="2100" dirty="0">
                <a:latin typeface="Microsoft Sans Serif"/>
                <a:cs typeface="Microsoft Sans Serif"/>
              </a:rPr>
              <a:t>search,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 is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common to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implement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DFS with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recursive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function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that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calls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itself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on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each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of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its</a:t>
            </a:r>
            <a:endParaRPr sz="2100">
              <a:latin typeface="Microsoft Sans Serif"/>
              <a:cs typeface="Microsoft Sans Serif"/>
            </a:endParaRPr>
          </a:p>
          <a:p>
            <a:pPr marL="584200">
              <a:lnSpc>
                <a:spcPts val="1764"/>
              </a:lnSpc>
            </a:pPr>
            <a:r>
              <a:rPr sz="2100" dirty="0">
                <a:latin typeface="Microsoft Sans Serif"/>
                <a:cs typeface="Microsoft Sans Serif"/>
              </a:rPr>
              <a:t>children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turn</a:t>
            </a:r>
            <a:endParaRPr sz="2100">
              <a:latin typeface="Microsoft Sans Serif"/>
              <a:cs typeface="Microsoft Sans Serif"/>
            </a:endParaRPr>
          </a:p>
          <a:p>
            <a:pPr marL="584200" marR="348615" indent="-571500">
              <a:lnSpc>
                <a:spcPct val="70000"/>
              </a:lnSpc>
              <a:spcBef>
                <a:spcPts val="375"/>
              </a:spcBef>
              <a:buChar char="•"/>
              <a:tabLst>
                <a:tab pos="584200" algn="l"/>
              </a:tabLst>
            </a:pP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1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recursive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depth-</a:t>
            </a:r>
            <a:r>
              <a:rPr sz="2100" dirty="0">
                <a:latin typeface="Microsoft Sans Serif"/>
                <a:cs typeface="Microsoft Sans Serif"/>
              </a:rPr>
              <a:t>first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algorithm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incorporating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depth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limit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is </a:t>
            </a:r>
            <a:r>
              <a:rPr sz="2100" dirty="0">
                <a:latin typeface="Microsoft Sans Serif"/>
                <a:cs typeface="Microsoft Sans Serif"/>
              </a:rPr>
              <a:t>shown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Fig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3.17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709" rIns="0" bIns="0" rtlCol="0">
            <a:spAutoFit/>
          </a:bodyPr>
          <a:lstStyle/>
          <a:p>
            <a:pPr marL="4282440">
              <a:lnSpc>
                <a:spcPct val="100000"/>
              </a:lnSpc>
              <a:spcBef>
                <a:spcPts val="100"/>
              </a:spcBef>
            </a:pPr>
            <a:r>
              <a:rPr sz="3900" dirty="0"/>
              <a:t>DFS</a:t>
            </a:r>
            <a:r>
              <a:rPr sz="3900" spc="-75" dirty="0"/>
              <a:t> </a:t>
            </a:r>
            <a:r>
              <a:rPr sz="3900" spc="-20" dirty="0"/>
              <a:t>(contd.)</a:t>
            </a:r>
            <a:endParaRPr sz="3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359" y="1345703"/>
            <a:ext cx="6603008" cy="44753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98328" y="627349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15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9139" y="6107988"/>
            <a:ext cx="74015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Taken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Russel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Norvig,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Artificial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Intelligence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Modern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Approach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754" y="197053"/>
            <a:ext cx="3195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Microsoft Sans Serif"/>
                <a:cs typeface="Microsoft Sans Serif"/>
              </a:rPr>
              <a:t>DFS</a:t>
            </a:r>
            <a:r>
              <a:rPr spc="3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8754" y="726389"/>
            <a:ext cx="8183245" cy="4584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ts val="2655"/>
              </a:lnSpc>
              <a:spcBef>
                <a:spcPts val="105"/>
              </a:spcBef>
              <a:buChar char="•"/>
              <a:tabLst>
                <a:tab pos="4692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The properties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of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DFS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depend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strongly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on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whether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graph-</a:t>
            </a:r>
            <a:r>
              <a:rPr sz="2600" dirty="0">
                <a:latin typeface="Microsoft Sans Serif"/>
                <a:cs typeface="Microsoft Sans Serif"/>
              </a:rPr>
              <a:t>search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or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tree-</a:t>
            </a:r>
            <a:r>
              <a:rPr sz="2600" dirty="0">
                <a:latin typeface="Microsoft Sans Serif"/>
                <a:cs typeface="Microsoft Sans Serif"/>
              </a:rPr>
              <a:t>search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version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used</a:t>
            </a:r>
            <a:endParaRPr sz="26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185"/>
              </a:lnSpc>
              <a:buChar char="•"/>
              <a:tabLst>
                <a:tab pos="4692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20" dirty="0">
                <a:latin typeface="Microsoft Sans Serif"/>
                <a:cs typeface="Microsoft Sans Serif"/>
              </a:rPr>
              <a:t> graph-</a:t>
            </a:r>
            <a:r>
              <a:rPr sz="2600" dirty="0">
                <a:latin typeface="Microsoft Sans Serif"/>
                <a:cs typeface="Microsoft Sans Serif"/>
              </a:rPr>
              <a:t>search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version,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which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avoids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repeated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states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redundant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paths,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complete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finite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state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space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because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it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will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eventually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expand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every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spc="-20" dirty="0">
                <a:latin typeface="Microsoft Sans Serif"/>
                <a:cs typeface="Microsoft Sans Serif"/>
              </a:rPr>
              <a:t>node</a:t>
            </a:r>
            <a:endParaRPr sz="26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185"/>
              </a:lnSpc>
              <a:buChar char="•"/>
              <a:tabLst>
                <a:tab pos="4692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tree-</a:t>
            </a:r>
            <a:r>
              <a:rPr sz="2600" dirty="0">
                <a:latin typeface="Microsoft Sans Serif"/>
                <a:cs typeface="Microsoft Sans Serif"/>
              </a:rPr>
              <a:t>search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version,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on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 other hand, is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i="1" spc="-25" dirty="0">
                <a:latin typeface="Arial"/>
                <a:cs typeface="Arial"/>
              </a:rPr>
              <a:t>not</a:t>
            </a:r>
            <a:endParaRPr sz="2600">
              <a:latin typeface="Arial"/>
              <a:cs typeface="Arial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complete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675" dirty="0">
                <a:latin typeface="Microsoft Sans Serif"/>
                <a:cs typeface="Microsoft Sans Serif"/>
              </a:rPr>
              <a:t>–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e.g.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Fig.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3.6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algorithm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will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follow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Arad-</a:t>
            </a:r>
            <a:r>
              <a:rPr sz="2600" spc="-20" dirty="0">
                <a:latin typeface="Microsoft Sans Serif"/>
                <a:cs typeface="Microsoft Sans Serif"/>
              </a:rPr>
              <a:t>Sibiu-</a:t>
            </a:r>
            <a:r>
              <a:rPr sz="2600" spc="-10" dirty="0">
                <a:latin typeface="Microsoft Sans Serif"/>
                <a:cs typeface="Microsoft Sans Serif"/>
              </a:rPr>
              <a:t>Arad-</a:t>
            </a:r>
            <a:r>
              <a:rPr sz="2600" dirty="0">
                <a:latin typeface="Microsoft Sans Serif"/>
                <a:cs typeface="Microsoft Sans Serif"/>
              </a:rPr>
              <a:t>Sibiu loop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forever</a:t>
            </a:r>
            <a:endParaRPr sz="26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185"/>
              </a:lnSpc>
              <a:buChar char="•"/>
              <a:tabLst>
                <a:tab pos="46926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Depth-</a:t>
            </a:r>
            <a:r>
              <a:rPr sz="2600" dirty="0">
                <a:latin typeface="Microsoft Sans Serif"/>
                <a:cs typeface="Microsoft Sans Serif"/>
              </a:rPr>
              <a:t>first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tree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search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can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modified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at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no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extra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memory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cost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that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it checks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new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states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against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those on the path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from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 root to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 current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node;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this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avoids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infinite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loops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finite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state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space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but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does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not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avoid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proliferation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of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redundant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paths</a:t>
            </a:r>
            <a:endParaRPr sz="2600">
              <a:latin typeface="Microsoft Sans Serif"/>
              <a:cs typeface="Microsoft Sans Serif"/>
            </a:endParaRPr>
          </a:p>
          <a:p>
            <a:pPr marL="469900" marR="5080" indent="-457200">
              <a:lnSpc>
                <a:spcPct val="70000"/>
              </a:lnSpc>
              <a:spcBef>
                <a:spcPts val="470"/>
              </a:spcBef>
              <a:buChar char="•"/>
              <a:tabLst>
                <a:tab pos="469900" algn="l"/>
              </a:tabLst>
            </a:pP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infinite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state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spaces,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both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versions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fail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if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infinite </a:t>
            </a:r>
            <a:r>
              <a:rPr sz="2600" spc="-20" dirty="0">
                <a:latin typeface="Microsoft Sans Serif"/>
                <a:cs typeface="Microsoft Sans Serif"/>
              </a:rPr>
              <a:t>non-</a:t>
            </a:r>
            <a:r>
              <a:rPr sz="2600" dirty="0">
                <a:latin typeface="Microsoft Sans Serif"/>
                <a:cs typeface="Microsoft Sans Serif"/>
              </a:rPr>
              <a:t>goal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path is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encountered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57959"/>
            <a:ext cx="10515600" cy="739895"/>
          </a:xfrm>
          <a:prstGeom prst="rect">
            <a:avLst/>
          </a:prstGeom>
        </p:spPr>
        <p:txBody>
          <a:bodyPr vert="horz" wrap="square" lIns="0" tIns="62179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Microsoft Sans Serif"/>
                <a:cs typeface="Microsoft Sans Serif"/>
              </a:rPr>
              <a:t>                  </a:t>
            </a:r>
            <a:r>
              <a:rPr dirty="0">
                <a:latin typeface="Microsoft Sans Serif"/>
                <a:cs typeface="Microsoft Sans Serif"/>
              </a:rPr>
              <a:t>DFS</a:t>
            </a:r>
            <a:r>
              <a:rPr spc="3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7954" y="1750821"/>
            <a:ext cx="8315959" cy="375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4365" indent="-570865">
              <a:lnSpc>
                <a:spcPts val="1835"/>
              </a:lnSpc>
              <a:spcBef>
                <a:spcPts val="100"/>
              </a:spcBef>
              <a:buChar char="•"/>
              <a:tabLst>
                <a:tab pos="634365" algn="l"/>
              </a:tabLst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similar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reasons,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both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versions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nonoptimal</a:t>
            </a:r>
            <a:endParaRPr sz="1800">
              <a:latin typeface="Microsoft Sans Serif"/>
              <a:cs typeface="Microsoft Sans Serif"/>
            </a:endParaRPr>
          </a:p>
          <a:p>
            <a:pPr marL="634365" indent="-570865">
              <a:lnSpc>
                <a:spcPts val="1510"/>
              </a:lnSpc>
              <a:buChar char="•"/>
              <a:tabLst>
                <a:tab pos="634365" algn="l"/>
              </a:tabLst>
            </a:pPr>
            <a:r>
              <a:rPr sz="1800" dirty="0">
                <a:latin typeface="Microsoft Sans Serif"/>
                <a:cs typeface="Microsoft Sans Serif"/>
              </a:rPr>
              <a:t>E.g.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Fig.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3.16,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DFS will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explore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entire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left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subtree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even if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 C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  <a:p>
            <a:pPr marL="6350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goal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node</a:t>
            </a:r>
            <a:endParaRPr sz="1800">
              <a:latin typeface="Microsoft Sans Serif"/>
              <a:cs typeface="Microsoft Sans Serif"/>
            </a:endParaRPr>
          </a:p>
          <a:p>
            <a:pPr marL="634365" indent="-570865">
              <a:lnSpc>
                <a:spcPts val="1510"/>
              </a:lnSpc>
              <a:buChar char="•"/>
              <a:tabLst>
                <a:tab pos="634365" algn="l"/>
              </a:tabLst>
            </a:pPr>
            <a:r>
              <a:rPr sz="1800" dirty="0">
                <a:latin typeface="Microsoft Sans Serif"/>
                <a:cs typeface="Microsoft Sans Serif"/>
              </a:rPr>
              <a:t>If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 were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also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goal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then DFS would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return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 as a </a:t>
            </a:r>
            <a:r>
              <a:rPr sz="1800" spc="-10" dirty="0">
                <a:latin typeface="Microsoft Sans Serif"/>
                <a:cs typeface="Microsoft Sans Serif"/>
              </a:rPr>
              <a:t>solution</a:t>
            </a:r>
            <a:endParaRPr sz="1800">
              <a:latin typeface="Microsoft Sans Serif"/>
              <a:cs typeface="Microsoft Sans Serif"/>
            </a:endParaRPr>
          </a:p>
          <a:p>
            <a:pPr marL="6350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instead 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which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would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better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solution;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hence DFS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 </a:t>
            </a:r>
            <a:r>
              <a:rPr sz="1800" spc="-10" dirty="0">
                <a:latin typeface="Microsoft Sans Serif"/>
                <a:cs typeface="Microsoft Sans Serif"/>
              </a:rPr>
              <a:t>optimal</a:t>
            </a:r>
            <a:endParaRPr sz="1800">
              <a:latin typeface="Microsoft Sans Serif"/>
              <a:cs typeface="Microsoft Sans Serif"/>
            </a:endParaRPr>
          </a:p>
          <a:p>
            <a:pPr marL="634365" indent="-570865">
              <a:lnSpc>
                <a:spcPts val="1510"/>
              </a:lnSpc>
              <a:buChar char="•"/>
              <a:tabLst>
                <a:tab pos="6343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time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complexity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depth-</a:t>
            </a:r>
            <a:r>
              <a:rPr sz="1800" dirty="0">
                <a:latin typeface="Microsoft Sans Serif"/>
                <a:cs typeface="Microsoft Sans Serif"/>
              </a:rPr>
              <a:t>first graph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bounded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size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</a:t>
            </a:r>
            <a:endParaRPr sz="1800">
              <a:latin typeface="Microsoft Sans Serif"/>
              <a:cs typeface="Microsoft Sans Serif"/>
            </a:endParaRPr>
          </a:p>
          <a:p>
            <a:pPr marL="6350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space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(which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infinite,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course)</a:t>
            </a:r>
            <a:endParaRPr sz="1800">
              <a:latin typeface="Microsoft Sans Serif"/>
              <a:cs typeface="Microsoft Sans Serif"/>
            </a:endParaRPr>
          </a:p>
          <a:p>
            <a:pPr marL="634365" indent="-570865">
              <a:lnSpc>
                <a:spcPts val="1515"/>
              </a:lnSpc>
              <a:buChar char="•"/>
              <a:tabLst>
                <a:tab pos="634365" algn="l"/>
              </a:tabLst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depth-</a:t>
            </a:r>
            <a:r>
              <a:rPr sz="1800" dirty="0">
                <a:latin typeface="Microsoft Sans Serif"/>
                <a:cs typeface="Microsoft Sans Serif"/>
              </a:rPr>
              <a:t>first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 the other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hand,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may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35" dirty="0">
                <a:latin typeface="Cambria Math"/>
                <a:cs typeface="Cambria Math"/>
              </a:rPr>
              <a:t>𝑂(𝑏</a:t>
            </a:r>
            <a:r>
              <a:rPr sz="1950" spc="52" baseline="27777" dirty="0">
                <a:latin typeface="Cambria Math"/>
                <a:cs typeface="Cambria Math"/>
              </a:rPr>
              <a:t>𝑚</a:t>
            </a:r>
            <a:r>
              <a:rPr sz="1800" spc="35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L="6350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tree, where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m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maximum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node; </a:t>
            </a:r>
            <a:r>
              <a:rPr sz="1800" spc="-20" dirty="0">
                <a:latin typeface="Microsoft Sans Serif"/>
                <a:cs typeface="Microsoft Sans Serif"/>
              </a:rPr>
              <a:t>this</a:t>
            </a:r>
            <a:endParaRPr sz="1800">
              <a:latin typeface="Microsoft Sans Serif"/>
              <a:cs typeface="Microsoft Sans Serif"/>
            </a:endParaRPr>
          </a:p>
          <a:p>
            <a:pPr marL="6350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much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greater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size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state </a:t>
            </a:r>
            <a:r>
              <a:rPr sz="1800" spc="-10" dirty="0">
                <a:latin typeface="Microsoft Sans Serif"/>
                <a:cs typeface="Microsoft Sans Serif"/>
              </a:rPr>
              <a:t>space</a:t>
            </a:r>
            <a:endParaRPr sz="1800">
              <a:latin typeface="Microsoft Sans Serif"/>
              <a:cs typeface="Microsoft Sans Serif"/>
            </a:endParaRPr>
          </a:p>
          <a:p>
            <a:pPr marL="634365" indent="-570865">
              <a:lnSpc>
                <a:spcPts val="1510"/>
              </a:lnSpc>
              <a:buChar char="•"/>
              <a:tabLst>
                <a:tab pos="634365" algn="l"/>
              </a:tabLst>
            </a:pPr>
            <a:r>
              <a:rPr sz="1800" dirty="0">
                <a:latin typeface="Microsoft Sans Serif"/>
                <a:cs typeface="Microsoft Sans Serif"/>
              </a:rPr>
              <a:t>Note that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m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itself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 much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larger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d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shallowest</a:t>
            </a:r>
            <a:endParaRPr sz="1800">
              <a:latin typeface="Microsoft Sans Serif"/>
              <a:cs typeface="Microsoft Sans Serif"/>
            </a:endParaRPr>
          </a:p>
          <a:p>
            <a:pPr marL="6350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solution)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infinite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unbounded</a:t>
            </a:r>
            <a:endParaRPr sz="1800">
              <a:latin typeface="Microsoft Sans Serif"/>
              <a:cs typeface="Microsoft Sans Serif"/>
            </a:endParaRPr>
          </a:p>
          <a:p>
            <a:pPr marL="520065" indent="-456565">
              <a:lnSpc>
                <a:spcPts val="1510"/>
              </a:lnSpc>
              <a:buChar char="•"/>
              <a:tabLst>
                <a:tab pos="520065" algn="l"/>
                <a:tab pos="5065395" algn="l"/>
              </a:tabLst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depth-</a:t>
            </a:r>
            <a:r>
              <a:rPr sz="1800" dirty="0">
                <a:latin typeface="Microsoft Sans Serif"/>
                <a:cs typeface="Microsoft Sans Serif"/>
              </a:rPr>
              <a:t>first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needs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store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only</a:t>
            </a:r>
            <a:r>
              <a:rPr sz="1800" dirty="0">
                <a:latin typeface="Microsoft Sans Serif"/>
                <a:cs typeface="Microsoft Sans Serif"/>
              </a:rPr>
              <a:t>	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single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 from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root to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  <a:p>
            <a:pPr marL="520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leaf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along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remaining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unexpanded sibling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each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node</a:t>
            </a:r>
            <a:endParaRPr sz="1800">
              <a:latin typeface="Microsoft Sans Serif"/>
              <a:cs typeface="Microsoft Sans Serif"/>
            </a:endParaRPr>
          </a:p>
          <a:p>
            <a:pPr marL="5207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on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path</a:t>
            </a:r>
            <a:endParaRPr sz="1800">
              <a:latin typeface="Microsoft Sans Serif"/>
              <a:cs typeface="Microsoft Sans Serif"/>
            </a:endParaRPr>
          </a:p>
          <a:p>
            <a:pPr marL="520065" indent="-456565">
              <a:lnSpc>
                <a:spcPts val="1515"/>
              </a:lnSpc>
              <a:buChar char="•"/>
              <a:tabLst>
                <a:tab pos="520065" algn="l"/>
              </a:tabLst>
            </a:pPr>
            <a:r>
              <a:rPr sz="1800" dirty="0">
                <a:latin typeface="Microsoft Sans Serif"/>
                <a:cs typeface="Microsoft Sans Serif"/>
              </a:rPr>
              <a:t>Once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been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expanded,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removed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memory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 </a:t>
            </a:r>
            <a:r>
              <a:rPr sz="1800" spc="-20" dirty="0">
                <a:latin typeface="Microsoft Sans Serif"/>
                <a:cs typeface="Microsoft Sans Serif"/>
              </a:rPr>
              <a:t>soon</a:t>
            </a:r>
            <a:endParaRPr sz="1800">
              <a:latin typeface="Microsoft Sans Serif"/>
              <a:cs typeface="Microsoft Sans Serif"/>
            </a:endParaRPr>
          </a:p>
          <a:p>
            <a:pPr marL="5207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descendants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been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fully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explored</a:t>
            </a:r>
            <a:endParaRPr sz="1800">
              <a:latin typeface="Microsoft Sans Serif"/>
              <a:cs typeface="Microsoft Sans Serif"/>
            </a:endParaRPr>
          </a:p>
          <a:p>
            <a:pPr marL="520700" marR="749300" indent="-457200">
              <a:lnSpc>
                <a:spcPct val="70000"/>
              </a:lnSpc>
              <a:spcBef>
                <a:spcPts val="320"/>
              </a:spcBef>
              <a:buChar char="•"/>
              <a:tabLst>
                <a:tab pos="520700" algn="l"/>
              </a:tabLst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space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branching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factor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maximum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d,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DFS </a:t>
            </a:r>
            <a:r>
              <a:rPr sz="1800" dirty="0">
                <a:latin typeface="Microsoft Sans Serif"/>
                <a:cs typeface="Microsoft Sans Serif"/>
              </a:rPr>
              <a:t>requires storage 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only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O(bm)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nodes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8451" y="33749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Microsoft Sans Serif"/>
                <a:cs typeface="Microsoft Sans Serif"/>
              </a:rPr>
              <a:t>                </a:t>
            </a:r>
            <a:r>
              <a:rPr dirty="0">
                <a:latin typeface="Microsoft Sans Serif"/>
                <a:cs typeface="Microsoft Sans Serif"/>
              </a:rPr>
              <a:t>DFS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6561" y="1650642"/>
            <a:ext cx="8214995" cy="3757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1835"/>
              </a:lnSpc>
              <a:spcBef>
                <a:spcPts val="100"/>
              </a:spcBef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Using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same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assumptions as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earlier,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DFS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would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require</a:t>
            </a:r>
            <a:r>
              <a:rPr sz="1800" spc="-25" dirty="0">
                <a:latin typeface="Microsoft Sans Serif"/>
                <a:cs typeface="Microsoft Sans Serif"/>
              </a:rPr>
              <a:t> 156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kilobytes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instead 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10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exabytes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d</a:t>
            </a:r>
            <a:r>
              <a:rPr sz="1800" dirty="0">
                <a:latin typeface="Microsoft Sans Serif"/>
                <a:cs typeface="Microsoft Sans Serif"/>
              </a:rPr>
              <a:t>=16,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factor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trillion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times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less</a:t>
            </a:r>
            <a:r>
              <a:rPr sz="1800" spc="-10" dirty="0">
                <a:latin typeface="Microsoft Sans Serif"/>
                <a:cs typeface="Microsoft Sans Serif"/>
              </a:rPr>
              <a:t> space</a:t>
            </a:r>
            <a:endParaRPr sz="18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Due to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DFS 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many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areas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AI,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include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constraint </a:t>
            </a:r>
            <a:r>
              <a:rPr sz="1800" spc="-10" dirty="0">
                <a:latin typeface="Microsoft Sans Serif"/>
                <a:cs typeface="Microsoft Sans Serif"/>
              </a:rPr>
              <a:t>satisfaction,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propositional</a:t>
            </a:r>
            <a:r>
              <a:rPr sz="1800" spc="-10" dirty="0">
                <a:latin typeface="Microsoft Sans Serif"/>
                <a:cs typeface="Microsoft Sans Serif"/>
              </a:rPr>
              <a:t> satisfiability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logic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programming</a:t>
            </a:r>
            <a:endParaRPr sz="18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variant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DFS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called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b="1" dirty="0">
                <a:latin typeface="Arial"/>
                <a:cs typeface="Arial"/>
              </a:rPr>
              <a:t>backtracking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search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still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less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memory</a:t>
            </a:r>
            <a:endParaRPr sz="18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backtracking, only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successor 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generated at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time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rather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successors;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each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partially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expanded node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remembers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which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successor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to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generate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next</a:t>
            </a:r>
            <a:endParaRPr sz="18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5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way,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only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O(m)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memory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needed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rather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i="1" spc="-10" dirty="0">
                <a:latin typeface="Arial"/>
                <a:cs typeface="Arial"/>
              </a:rPr>
              <a:t>O(bm)</a:t>
            </a:r>
            <a:endParaRPr sz="1800" dirty="0">
              <a:latin typeface="Arial"/>
              <a:cs typeface="Arial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Backtracking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facilitates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yet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another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memory-</a:t>
            </a:r>
            <a:r>
              <a:rPr sz="1800" dirty="0">
                <a:latin typeface="Microsoft Sans Serif"/>
                <a:cs typeface="Microsoft Sans Serif"/>
              </a:rPr>
              <a:t>saving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time-</a:t>
            </a:r>
            <a:r>
              <a:rPr sz="1800" spc="-10" dirty="0">
                <a:latin typeface="Microsoft Sans Serif"/>
                <a:cs typeface="Microsoft Sans Serif"/>
              </a:rPr>
              <a:t>saving)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trick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idea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successor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modifying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current </a:t>
            </a:r>
            <a:r>
              <a:rPr sz="1800" spc="-10" dirty="0">
                <a:latin typeface="Microsoft Sans Serif"/>
                <a:cs typeface="Microsoft Sans Serif"/>
              </a:rPr>
              <a:t>state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description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directly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rather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copying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first</a:t>
            </a:r>
            <a:endParaRPr sz="18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reduces 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memory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requirements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just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description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and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i="1" dirty="0">
                <a:latin typeface="Arial"/>
                <a:cs typeface="Arial"/>
              </a:rPr>
              <a:t>O(m)</a:t>
            </a:r>
            <a:r>
              <a:rPr sz="1800" i="1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actions</a:t>
            </a:r>
            <a:endParaRPr sz="18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work,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must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able to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undo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each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modification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go</a:t>
            </a:r>
            <a:endParaRPr sz="1800" dirty="0">
              <a:latin typeface="Microsoft Sans Serif"/>
              <a:cs typeface="Microsoft Sans Serif"/>
            </a:endParaRPr>
          </a:p>
          <a:p>
            <a:pPr marL="4699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back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 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next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successor</a:t>
            </a:r>
            <a:endParaRPr sz="1800" dirty="0">
              <a:latin typeface="Microsoft Sans Serif"/>
              <a:cs typeface="Microsoft Sans Serif"/>
            </a:endParaRPr>
          </a:p>
          <a:p>
            <a:pPr marL="469900" marR="102235" indent="-457200">
              <a:lnSpc>
                <a:spcPct val="70000"/>
              </a:lnSpc>
              <a:spcBef>
                <a:spcPts val="325"/>
              </a:spcBef>
              <a:buChar char="•"/>
              <a:tabLst>
                <a:tab pos="469900" algn="l"/>
              </a:tabLst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problems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large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space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descriptions, such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robotic</a:t>
            </a:r>
            <a:r>
              <a:rPr sz="1800" spc="-10" dirty="0">
                <a:latin typeface="Microsoft Sans Serif"/>
                <a:cs typeface="Microsoft Sans Serif"/>
              </a:rPr>
              <a:t> assembly, </a:t>
            </a:r>
            <a:r>
              <a:rPr sz="1800" dirty="0">
                <a:latin typeface="Microsoft Sans Serif"/>
                <a:cs typeface="Microsoft Sans Serif"/>
              </a:rPr>
              <a:t>these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techniques are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critical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success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5600" y="6031788"/>
            <a:ext cx="5126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NOTE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: 1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Exabyte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=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1000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petabytes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= 1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billion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gigabytes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388" rIns="0" bIns="0" rtlCol="0">
            <a:spAutoFit/>
          </a:bodyPr>
          <a:lstStyle/>
          <a:p>
            <a:pPr marL="494982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9767" y="1896170"/>
            <a:ext cx="5285105" cy="39852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200" spc="-10" dirty="0">
                <a:latin typeface="Calibri"/>
                <a:cs typeface="Calibri"/>
              </a:rPr>
              <a:t>Completeness?</a:t>
            </a:r>
            <a:endParaRPr sz="3200" dirty="0">
              <a:latin typeface="Calibri"/>
              <a:cs typeface="Calibri"/>
            </a:endParaRPr>
          </a:p>
          <a:p>
            <a:pPr marL="375285">
              <a:lnSpc>
                <a:spcPct val="100000"/>
              </a:lnSpc>
              <a:spcBef>
                <a:spcPts val="280"/>
              </a:spcBef>
            </a:pPr>
            <a:r>
              <a:rPr sz="2800" spc="-20" dirty="0">
                <a:latin typeface="Calibri"/>
                <a:cs typeface="Calibri"/>
              </a:rPr>
              <a:t>Yes,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finite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200" dirty="0">
                <a:latin typeface="Calibri"/>
                <a:cs typeface="Calibri"/>
              </a:rPr>
              <a:t>Time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complexity?</a:t>
            </a:r>
            <a:endParaRPr sz="3200" dirty="0">
              <a:latin typeface="Calibri"/>
              <a:cs typeface="Calibri"/>
            </a:endParaRPr>
          </a:p>
          <a:p>
            <a:pPr marL="375285">
              <a:lnSpc>
                <a:spcPct val="100000"/>
              </a:lnSpc>
              <a:spcBef>
                <a:spcPts val="234"/>
              </a:spcBef>
            </a:pPr>
            <a:r>
              <a:rPr sz="2800" dirty="0">
                <a:latin typeface="Calibri"/>
                <a:cs typeface="Calibri"/>
              </a:rPr>
              <a:t>O(|</a:t>
            </a:r>
            <a:r>
              <a:rPr sz="2800" i="1" dirty="0">
                <a:latin typeface="Calibri"/>
                <a:cs typeface="Calibri"/>
              </a:rPr>
              <a:t>S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|),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goals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3200" dirty="0">
                <a:latin typeface="Calibri"/>
                <a:cs typeface="Calibri"/>
              </a:rPr>
              <a:t>Space</a:t>
            </a:r>
            <a:r>
              <a:rPr sz="3200" spc="-10" dirty="0">
                <a:latin typeface="Calibri"/>
                <a:cs typeface="Calibri"/>
              </a:rPr>
              <a:t> complexity?</a:t>
            </a:r>
            <a:endParaRPr sz="3200" dirty="0">
              <a:latin typeface="Calibri"/>
              <a:cs typeface="Calibri"/>
            </a:endParaRPr>
          </a:p>
          <a:p>
            <a:pPr marL="375285">
              <a:lnSpc>
                <a:spcPct val="100000"/>
              </a:lnSpc>
              <a:spcBef>
                <a:spcPts val="295"/>
              </a:spcBef>
            </a:pPr>
            <a:r>
              <a:rPr sz="2800" dirty="0">
                <a:latin typeface="Calibri"/>
                <a:cs typeface="Calibri"/>
              </a:rPr>
              <a:t>O(n),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deepest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3200" spc="-10" dirty="0">
                <a:latin typeface="Calibri"/>
                <a:cs typeface="Calibri"/>
              </a:rPr>
              <a:t>Optimality?</a:t>
            </a:r>
            <a:endParaRPr sz="3200" dirty="0">
              <a:latin typeface="Calibri"/>
              <a:cs typeface="Calibri"/>
            </a:endParaRPr>
          </a:p>
          <a:p>
            <a:pPr marL="375285">
              <a:lnSpc>
                <a:spcPct val="100000"/>
              </a:lnSpc>
              <a:spcBef>
                <a:spcPts val="305"/>
              </a:spcBef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30" dirty="0">
                <a:latin typeface="Calibri"/>
                <a:cs typeface="Calibri"/>
              </a:rPr>
              <a:t> </a:t>
            </a:r>
            <a:endParaRPr sz="2800" dirty="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4538" y="306832"/>
            <a:ext cx="51530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Depth-</a:t>
            </a:r>
            <a:r>
              <a:rPr dirty="0">
                <a:latin typeface="Microsoft Sans Serif"/>
                <a:cs typeface="Microsoft Sans Serif"/>
              </a:rPr>
              <a:t>limited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5840100" y="4526407"/>
            <a:ext cx="566420" cy="399415"/>
          </a:xfrm>
          <a:custGeom>
            <a:avLst/>
            <a:gdLst/>
            <a:ahLst/>
            <a:cxnLst/>
            <a:rect l="l" t="t" r="r" b="b"/>
            <a:pathLst>
              <a:path w="566420" h="399414">
                <a:moveTo>
                  <a:pt x="460877" y="0"/>
                </a:moveTo>
                <a:lnTo>
                  <a:pt x="456940" y="13208"/>
                </a:lnTo>
                <a:lnTo>
                  <a:pt x="475277" y="22711"/>
                </a:lnTo>
                <a:lnTo>
                  <a:pt x="491245" y="36560"/>
                </a:lnTo>
                <a:lnTo>
                  <a:pt x="516122" y="77343"/>
                </a:lnTo>
                <a:lnTo>
                  <a:pt x="531155" y="132667"/>
                </a:lnTo>
                <a:lnTo>
                  <a:pt x="536188" y="199898"/>
                </a:lnTo>
                <a:lnTo>
                  <a:pt x="534928" y="234902"/>
                </a:lnTo>
                <a:lnTo>
                  <a:pt x="524883" y="296052"/>
                </a:lnTo>
                <a:lnTo>
                  <a:pt x="504856" y="344701"/>
                </a:lnTo>
                <a:lnTo>
                  <a:pt x="475277" y="376705"/>
                </a:lnTo>
                <a:lnTo>
                  <a:pt x="456940" y="386207"/>
                </a:lnTo>
                <a:lnTo>
                  <a:pt x="460877" y="399415"/>
                </a:lnTo>
                <a:lnTo>
                  <a:pt x="505549" y="375697"/>
                </a:lnTo>
                <a:lnTo>
                  <a:pt x="538601" y="330835"/>
                </a:lnTo>
                <a:lnTo>
                  <a:pt x="559063" y="270351"/>
                </a:lnTo>
                <a:lnTo>
                  <a:pt x="565900" y="199898"/>
                </a:lnTo>
                <a:lnTo>
                  <a:pt x="564270" y="164800"/>
                </a:lnTo>
                <a:lnTo>
                  <a:pt x="550529" y="97561"/>
                </a:lnTo>
                <a:lnTo>
                  <a:pt x="523527" y="43505"/>
                </a:lnTo>
                <a:lnTo>
                  <a:pt x="484665" y="9215"/>
                </a:lnTo>
                <a:lnTo>
                  <a:pt x="460877" y="0"/>
                </a:lnTo>
                <a:close/>
              </a:path>
              <a:path w="566420" h="399414">
                <a:moveTo>
                  <a:pt x="104896" y="0"/>
                </a:moveTo>
                <a:lnTo>
                  <a:pt x="60334" y="23717"/>
                </a:lnTo>
                <a:lnTo>
                  <a:pt x="27299" y="68580"/>
                </a:lnTo>
                <a:lnTo>
                  <a:pt x="6788" y="129079"/>
                </a:lnTo>
                <a:lnTo>
                  <a:pt x="0" y="199898"/>
                </a:lnTo>
                <a:lnTo>
                  <a:pt x="1622" y="234902"/>
                </a:lnTo>
                <a:lnTo>
                  <a:pt x="1688" y="236323"/>
                </a:lnTo>
                <a:lnTo>
                  <a:pt x="15317" y="301855"/>
                </a:lnTo>
                <a:lnTo>
                  <a:pt x="42370" y="355909"/>
                </a:lnTo>
                <a:lnTo>
                  <a:pt x="81180" y="390199"/>
                </a:lnTo>
                <a:lnTo>
                  <a:pt x="104896" y="399415"/>
                </a:lnTo>
                <a:lnTo>
                  <a:pt x="108960" y="386207"/>
                </a:lnTo>
                <a:lnTo>
                  <a:pt x="90622" y="376705"/>
                </a:lnTo>
                <a:lnTo>
                  <a:pt x="74654" y="362870"/>
                </a:lnTo>
                <a:lnTo>
                  <a:pt x="49778" y="322199"/>
                </a:lnTo>
                <a:lnTo>
                  <a:pt x="34744" y="266954"/>
                </a:lnTo>
                <a:lnTo>
                  <a:pt x="29712" y="199898"/>
                </a:lnTo>
                <a:lnTo>
                  <a:pt x="30972" y="164800"/>
                </a:lnTo>
                <a:lnTo>
                  <a:pt x="41017" y="103510"/>
                </a:lnTo>
                <a:lnTo>
                  <a:pt x="61043" y="54766"/>
                </a:lnTo>
                <a:lnTo>
                  <a:pt x="90622" y="22711"/>
                </a:lnTo>
                <a:lnTo>
                  <a:pt x="108960" y="13208"/>
                </a:lnTo>
                <a:lnTo>
                  <a:pt x="10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25954" y="4764785"/>
            <a:ext cx="11849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Cambria Math"/>
                <a:cs typeface="Cambria Math"/>
              </a:rPr>
              <a:t>𝑂(𝑏𝓁</a:t>
            </a:r>
            <a:r>
              <a:rPr sz="2600" spc="-20" dirty="0">
                <a:latin typeface="Microsoft Sans Serif"/>
                <a:cs typeface="Microsoft Sans Serif"/>
              </a:rPr>
              <a:t>)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7837" y="1670940"/>
            <a:ext cx="8264525" cy="4618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 indent="-456565">
              <a:lnSpc>
                <a:spcPts val="2650"/>
              </a:lnSpc>
              <a:spcBef>
                <a:spcPts val="105"/>
              </a:spcBef>
              <a:buChar char="•"/>
              <a:tabLst>
                <a:tab pos="5073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failure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of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DFS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infinite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spaces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can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be</a:t>
            </a:r>
            <a:endParaRPr sz="2600" dirty="0">
              <a:latin typeface="Microsoft Sans Serif"/>
              <a:cs typeface="Microsoft Sans Serif"/>
            </a:endParaRPr>
          </a:p>
          <a:p>
            <a:pPr marL="5080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alleviated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by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supplying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DFS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with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predetermined</a:t>
            </a:r>
            <a:endParaRPr sz="2600" dirty="0">
              <a:latin typeface="Microsoft Sans Serif"/>
              <a:cs typeface="Microsoft Sans Serif"/>
            </a:endParaRPr>
          </a:p>
          <a:p>
            <a:pPr marL="5080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limit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i="1" spc="-50" dirty="0">
                <a:latin typeface="Arial"/>
                <a:cs typeface="Arial"/>
              </a:rPr>
              <a:t>ℓ</a:t>
            </a:r>
            <a:endParaRPr sz="2600" dirty="0">
              <a:latin typeface="Arial"/>
              <a:cs typeface="Arial"/>
            </a:endParaRPr>
          </a:p>
          <a:p>
            <a:pPr marL="507365" indent="-456565">
              <a:lnSpc>
                <a:spcPts val="2185"/>
              </a:lnSpc>
              <a:buChar char="•"/>
              <a:tabLst>
                <a:tab pos="5073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This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means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that nodes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at depth ℓ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treated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as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if</a:t>
            </a:r>
            <a:endParaRPr sz="2600" dirty="0">
              <a:latin typeface="Microsoft Sans Serif"/>
              <a:cs typeface="Microsoft Sans Serif"/>
            </a:endParaRPr>
          </a:p>
          <a:p>
            <a:pPr marL="5080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they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have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no</a:t>
            </a:r>
            <a:r>
              <a:rPr sz="2600" spc="-10" dirty="0">
                <a:latin typeface="Microsoft Sans Serif"/>
                <a:cs typeface="Microsoft Sans Serif"/>
              </a:rPr>
              <a:t> successor</a:t>
            </a:r>
            <a:endParaRPr sz="2600" dirty="0">
              <a:latin typeface="Microsoft Sans Serif"/>
              <a:cs typeface="Microsoft Sans Serif"/>
            </a:endParaRPr>
          </a:p>
          <a:p>
            <a:pPr marL="507365" indent="-456565">
              <a:lnSpc>
                <a:spcPts val="2185"/>
              </a:lnSpc>
              <a:buChar char="•"/>
              <a:tabLst>
                <a:tab pos="5073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This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approach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called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b="1" dirty="0">
                <a:latin typeface="Arial"/>
                <a:cs typeface="Arial"/>
              </a:rPr>
              <a:t>depth-limited</a:t>
            </a:r>
            <a:r>
              <a:rPr sz="2600" b="1" spc="-80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search</a:t>
            </a:r>
            <a:endParaRPr sz="2600" dirty="0">
              <a:latin typeface="Arial"/>
              <a:cs typeface="Arial"/>
            </a:endParaRPr>
          </a:p>
          <a:p>
            <a:pPr marL="507365" indent="-456565">
              <a:lnSpc>
                <a:spcPts val="2185"/>
              </a:lnSpc>
              <a:buChar char="•"/>
              <a:tabLst>
                <a:tab pos="507365" algn="l"/>
              </a:tabLst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depth limit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solves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infinite-</a:t>
            </a:r>
            <a:r>
              <a:rPr sz="2600" dirty="0">
                <a:latin typeface="Microsoft Sans Serif"/>
                <a:cs typeface="Microsoft Sans Serif"/>
              </a:rPr>
              <a:t>path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problem</a:t>
            </a:r>
            <a:endParaRPr sz="2600" dirty="0">
              <a:latin typeface="Microsoft Sans Serif"/>
              <a:cs typeface="Microsoft Sans Serif"/>
            </a:endParaRPr>
          </a:p>
          <a:p>
            <a:pPr marL="507365" indent="-456565">
              <a:lnSpc>
                <a:spcPts val="2185"/>
              </a:lnSpc>
              <a:buChar char="•"/>
              <a:tabLst>
                <a:tab pos="507365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Unfortunately,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it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introduces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additional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source</a:t>
            </a:r>
            <a:endParaRPr sz="2600" dirty="0">
              <a:latin typeface="Microsoft Sans Serif"/>
              <a:cs typeface="Microsoft Sans Serif"/>
            </a:endParaRPr>
          </a:p>
          <a:p>
            <a:pPr marL="5080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of incompleteness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of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if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choose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ℓ˂</a:t>
            </a:r>
            <a:r>
              <a:rPr sz="2600" i="1" dirty="0">
                <a:latin typeface="Arial"/>
                <a:cs typeface="Arial"/>
              </a:rPr>
              <a:t>d</a:t>
            </a:r>
            <a:r>
              <a:rPr sz="2600" i="1" spc="-4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,</a:t>
            </a:r>
            <a:r>
              <a:rPr sz="2600" i="1" spc="-30" dirty="0">
                <a:latin typeface="Arial"/>
                <a:cs typeface="Arial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that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is,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the</a:t>
            </a:r>
            <a:endParaRPr sz="2600" dirty="0">
              <a:latin typeface="Microsoft Sans Serif"/>
              <a:cs typeface="Microsoft Sans Serif"/>
            </a:endParaRPr>
          </a:p>
          <a:p>
            <a:pPr marL="508000">
              <a:lnSpc>
                <a:spcPts val="2185"/>
              </a:lnSpc>
            </a:pPr>
            <a:r>
              <a:rPr sz="2600" dirty="0">
                <a:latin typeface="Microsoft Sans Serif"/>
                <a:cs typeface="Microsoft Sans Serif"/>
              </a:rPr>
              <a:t>shallowest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goal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beyond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depth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limit</a:t>
            </a:r>
            <a:endParaRPr sz="2600" dirty="0">
              <a:latin typeface="Microsoft Sans Serif"/>
              <a:cs typeface="Microsoft Sans Serif"/>
            </a:endParaRPr>
          </a:p>
          <a:p>
            <a:pPr marL="508000" marR="520065" indent="-457200">
              <a:lnSpc>
                <a:spcPct val="70100"/>
              </a:lnSpc>
              <a:spcBef>
                <a:spcPts val="459"/>
              </a:spcBef>
              <a:buChar char="•"/>
              <a:tabLst>
                <a:tab pos="508000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Depth-</a:t>
            </a:r>
            <a:r>
              <a:rPr sz="2600" dirty="0">
                <a:latin typeface="Microsoft Sans Serif"/>
                <a:cs typeface="Microsoft Sans Serif"/>
              </a:rPr>
              <a:t>limited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search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will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nonoptimal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if</a:t>
            </a:r>
            <a:r>
              <a:rPr sz="2600" spc="-25" dirty="0">
                <a:latin typeface="Microsoft Sans Serif"/>
                <a:cs typeface="Microsoft Sans Serif"/>
              </a:rPr>
              <a:t> we </a:t>
            </a:r>
            <a:r>
              <a:rPr sz="2600" dirty="0">
                <a:latin typeface="Microsoft Sans Serif"/>
                <a:cs typeface="Microsoft Sans Serif"/>
              </a:rPr>
              <a:t>choose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ℓ˃</a:t>
            </a:r>
            <a:r>
              <a:rPr sz="2600" i="1" spc="-25" dirty="0">
                <a:latin typeface="Arial"/>
                <a:cs typeface="Arial"/>
              </a:rPr>
              <a:t>d</a:t>
            </a:r>
            <a:endParaRPr sz="2600" dirty="0">
              <a:latin typeface="Arial"/>
              <a:cs typeface="Arial"/>
            </a:endParaRPr>
          </a:p>
          <a:p>
            <a:pPr marL="507365" indent="-456565">
              <a:lnSpc>
                <a:spcPts val="2390"/>
              </a:lnSpc>
              <a:buChar char="•"/>
              <a:tabLst>
                <a:tab pos="507365" algn="l"/>
                <a:tab pos="4028440" algn="l"/>
                <a:tab pos="4597400" algn="l"/>
              </a:tabLst>
            </a:pPr>
            <a:r>
              <a:rPr sz="2600" dirty="0">
                <a:latin typeface="Microsoft Sans Serif"/>
                <a:cs typeface="Microsoft Sans Serif"/>
              </a:rPr>
              <a:t>Its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time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complexity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𝑂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spc="-25" dirty="0">
                <a:latin typeface="Cambria Math"/>
                <a:cs typeface="Cambria Math"/>
              </a:rPr>
              <a:t>𝑏</a:t>
            </a:r>
            <a:r>
              <a:rPr sz="2850" spc="-37" baseline="27777" dirty="0">
                <a:latin typeface="Cambria Math"/>
                <a:cs typeface="Cambria Math"/>
              </a:rPr>
              <a:t>𝓁</a:t>
            </a:r>
            <a:r>
              <a:rPr sz="2850" baseline="27777" dirty="0">
                <a:latin typeface="Cambria Math"/>
                <a:cs typeface="Cambria Math"/>
              </a:rPr>
              <a:t>	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its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space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complexity</a:t>
            </a:r>
            <a:endParaRPr sz="2600" dirty="0">
              <a:latin typeface="Microsoft Sans Serif"/>
              <a:cs typeface="Microsoft Sans Serif"/>
            </a:endParaRPr>
          </a:p>
          <a:p>
            <a:pPr marL="508000" marR="852169" indent="-457200">
              <a:lnSpc>
                <a:spcPct val="70000"/>
              </a:lnSpc>
              <a:spcBef>
                <a:spcPts val="2260"/>
              </a:spcBef>
              <a:buChar char="•"/>
              <a:tabLst>
                <a:tab pos="508000" algn="l"/>
              </a:tabLst>
            </a:pPr>
            <a:r>
              <a:rPr sz="2600" dirty="0">
                <a:latin typeface="Microsoft Sans Serif"/>
                <a:cs typeface="Microsoft Sans Serif"/>
              </a:rPr>
              <a:t>DFS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can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viewed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as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special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case of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depth- </a:t>
            </a:r>
            <a:r>
              <a:rPr sz="2600" dirty="0">
                <a:latin typeface="Microsoft Sans Serif"/>
                <a:cs typeface="Microsoft Sans Serif"/>
              </a:rPr>
              <a:t>limited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search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with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ℓ=</a:t>
            </a:r>
            <a:r>
              <a:rPr sz="2600" spc="-25" dirty="0">
                <a:latin typeface="Cambria Math"/>
                <a:cs typeface="Cambria Math"/>
              </a:rPr>
              <a:t>∞</a:t>
            </a:r>
            <a:endParaRPr sz="26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15041" y="632195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20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0556" y="585687"/>
            <a:ext cx="72047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Depth-</a:t>
            </a:r>
            <a:r>
              <a:rPr sz="4000" dirty="0">
                <a:latin typeface="Microsoft Sans Serif"/>
                <a:cs typeface="Microsoft Sans Serif"/>
              </a:rPr>
              <a:t>limited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search</a:t>
            </a:r>
            <a:r>
              <a:rPr spc="-10" dirty="0">
                <a:latin typeface="Microsoft Sans Serif"/>
                <a:cs typeface="Microsoft Sans Serif"/>
              </a:rPr>
              <a:t> 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997" y="1782863"/>
            <a:ext cx="8225790" cy="448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2450"/>
              </a:lnSpc>
              <a:spcBef>
                <a:spcPts val="100"/>
              </a:spcBef>
              <a:buChar char="•"/>
              <a:tabLst>
                <a:tab pos="469265" algn="l"/>
              </a:tabLst>
            </a:pPr>
            <a:r>
              <a:rPr sz="2400" dirty="0">
                <a:latin typeface="Microsoft Sans Serif"/>
                <a:cs typeface="Microsoft Sans Serif"/>
              </a:rPr>
              <a:t>Sometimes,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depth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limits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based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knowledge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of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14"/>
              </a:lnSpc>
              <a:tabLst>
                <a:tab pos="1062355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the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problem</a:t>
            </a:r>
            <a:endParaRPr sz="24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014"/>
              </a:lnSpc>
              <a:buChar char="•"/>
              <a:tabLst>
                <a:tab pos="469265" algn="l"/>
              </a:tabLst>
            </a:pPr>
            <a:r>
              <a:rPr sz="2400" dirty="0">
                <a:latin typeface="Microsoft Sans Serif"/>
                <a:cs typeface="Microsoft Sans Serif"/>
              </a:rPr>
              <a:t>E.g.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map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Romania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since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there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20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cities,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if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there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solution, it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must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length less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10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so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ℓ=19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good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choice</a:t>
            </a:r>
            <a:endParaRPr sz="24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014"/>
              </a:lnSpc>
              <a:buChar char="•"/>
              <a:tabLst>
                <a:tab pos="469265" algn="l"/>
              </a:tabLst>
            </a:pPr>
            <a:r>
              <a:rPr sz="2400" dirty="0">
                <a:latin typeface="Microsoft Sans Serif"/>
                <a:cs typeface="Microsoft Sans Serif"/>
              </a:rPr>
              <a:t>But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possible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reach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city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from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any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other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city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in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atmost 9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steps</a:t>
            </a:r>
            <a:endParaRPr sz="24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014"/>
              </a:lnSpc>
              <a:buChar char="•"/>
              <a:tabLst>
                <a:tab pos="469265" algn="l"/>
              </a:tabLst>
            </a:pPr>
            <a:r>
              <a:rPr sz="2400" dirty="0">
                <a:latin typeface="Microsoft Sans Serif"/>
                <a:cs typeface="Microsoft Sans Serif"/>
              </a:rPr>
              <a:t>This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Arial"/>
                <a:cs typeface="Arial"/>
              </a:rPr>
              <a:t>diameter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space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gives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better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depth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limit</a:t>
            </a:r>
            <a:endParaRPr sz="24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014"/>
              </a:lnSpc>
              <a:buChar char="•"/>
              <a:tabLst>
                <a:tab pos="469265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Depth-</a:t>
            </a:r>
            <a:r>
              <a:rPr sz="2400" dirty="0">
                <a:latin typeface="Microsoft Sans Serif"/>
                <a:cs typeface="Microsoft Sans Serif"/>
              </a:rPr>
              <a:t>limited search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implemented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simple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14"/>
              </a:lnSpc>
            </a:pPr>
            <a:r>
              <a:rPr sz="2400" dirty="0">
                <a:latin typeface="Microsoft Sans Serif"/>
                <a:cs typeface="Microsoft Sans Serif"/>
              </a:rPr>
              <a:t>modification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general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tree-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graph-</a:t>
            </a:r>
            <a:r>
              <a:rPr sz="2400" spc="-10" dirty="0">
                <a:latin typeface="Microsoft Sans Serif"/>
                <a:cs typeface="Microsoft Sans Serif"/>
              </a:rPr>
              <a:t>search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14"/>
              </a:lnSpc>
            </a:pPr>
            <a:r>
              <a:rPr sz="2400" spc="-10" dirty="0">
                <a:latin typeface="Microsoft Sans Serif"/>
                <a:cs typeface="Microsoft Sans Serif"/>
              </a:rPr>
              <a:t>algorithm</a:t>
            </a:r>
            <a:endParaRPr sz="24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020"/>
              </a:lnSpc>
              <a:buChar char="•"/>
              <a:tabLst>
                <a:tab pos="469265" algn="l"/>
              </a:tabLst>
            </a:pPr>
            <a:r>
              <a:rPr sz="2400" dirty="0">
                <a:latin typeface="Microsoft Sans Serif"/>
                <a:cs typeface="Microsoft Sans Serif"/>
              </a:rPr>
              <a:t>It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also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implemented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simple</a:t>
            </a:r>
            <a:r>
              <a:rPr sz="2400" spc="-10" dirty="0">
                <a:latin typeface="Microsoft Sans Serif"/>
                <a:cs typeface="Microsoft Sans Serif"/>
              </a:rPr>
              <a:t> recursive</a:t>
            </a:r>
            <a:endParaRPr sz="2400" dirty="0">
              <a:latin typeface="Microsoft Sans Serif"/>
              <a:cs typeface="Microsoft Sans Serif"/>
            </a:endParaRPr>
          </a:p>
          <a:p>
            <a:pPr marL="469900">
              <a:lnSpc>
                <a:spcPts val="2020"/>
              </a:lnSpc>
            </a:pPr>
            <a:r>
              <a:rPr sz="2400" dirty="0">
                <a:latin typeface="Microsoft Sans Serif"/>
                <a:cs typeface="Microsoft Sans Serif"/>
              </a:rPr>
              <a:t>algorithm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shown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Fig.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3.17</a:t>
            </a:r>
            <a:endParaRPr sz="24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2014"/>
              </a:lnSpc>
              <a:buChar char="•"/>
              <a:tabLst>
                <a:tab pos="469265" algn="l"/>
                <a:tab pos="6562090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Depth-</a:t>
            </a:r>
            <a:r>
              <a:rPr sz="2400" dirty="0">
                <a:latin typeface="Microsoft Sans Serif"/>
                <a:cs typeface="Microsoft Sans Serif"/>
              </a:rPr>
              <a:t>limited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search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terminate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with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two</a:t>
            </a:r>
            <a:r>
              <a:rPr sz="2400" dirty="0">
                <a:latin typeface="Microsoft Sans Serif"/>
                <a:cs typeface="Microsoft Sans Serif"/>
              </a:rPr>
              <a:t>	kinds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of</a:t>
            </a:r>
            <a:endParaRPr sz="2400" dirty="0">
              <a:latin typeface="Microsoft Sans Serif"/>
              <a:cs typeface="Microsoft Sans Serif"/>
            </a:endParaRPr>
          </a:p>
          <a:p>
            <a:pPr marL="469900" marR="323850">
              <a:lnSpc>
                <a:spcPct val="70000"/>
              </a:lnSpc>
              <a:spcBef>
                <a:spcPts val="434"/>
              </a:spcBef>
            </a:pPr>
            <a:r>
              <a:rPr sz="2400" dirty="0">
                <a:latin typeface="Microsoft Sans Serif"/>
                <a:cs typeface="Microsoft Sans Serif"/>
              </a:rPr>
              <a:t>failure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standard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failure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value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indicates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solution;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cutoff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indicates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solution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within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depth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limit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836" rIns="0" bIns="0" rtlCol="0">
            <a:spAutoFit/>
          </a:bodyPr>
          <a:lstStyle/>
          <a:p>
            <a:pPr marL="2625725">
              <a:lnSpc>
                <a:spcPct val="100000"/>
              </a:lnSpc>
              <a:spcBef>
                <a:spcPts val="100"/>
              </a:spcBef>
            </a:pPr>
            <a:r>
              <a:rPr sz="3800" spc="-10" dirty="0"/>
              <a:t>Depth-</a:t>
            </a:r>
            <a:r>
              <a:rPr sz="3800" dirty="0"/>
              <a:t>limited</a:t>
            </a:r>
            <a:r>
              <a:rPr sz="3800" spc="-125" dirty="0"/>
              <a:t> </a:t>
            </a:r>
            <a:r>
              <a:rPr sz="3800" dirty="0"/>
              <a:t>search</a:t>
            </a:r>
            <a:r>
              <a:rPr sz="3800" spc="-105" dirty="0"/>
              <a:t> </a:t>
            </a:r>
            <a:r>
              <a:rPr sz="3800" spc="-10" dirty="0"/>
              <a:t>(contd.)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0113" y="1352330"/>
            <a:ext cx="7343594" cy="37962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20417" y="5669686"/>
            <a:ext cx="74015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Taken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Russel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Norvig,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Artificial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Intelligence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Modern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Approach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388" rIns="0" bIns="0" rtlCol="0">
            <a:spAutoFit/>
          </a:bodyPr>
          <a:lstStyle/>
          <a:p>
            <a:pPr marL="2906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Depth-</a:t>
            </a:r>
            <a:r>
              <a:rPr dirty="0"/>
              <a:t>limited</a:t>
            </a:r>
            <a:r>
              <a:rPr spc="-6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523" y="1921535"/>
            <a:ext cx="4432935" cy="35788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sz="2500" dirty="0">
                <a:latin typeface="Calibri"/>
                <a:cs typeface="Calibri"/>
              </a:rPr>
              <a:t>DFS,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only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expand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nodes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depth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Symbol"/>
                <a:cs typeface="Symbol"/>
              </a:rPr>
              <a:t></a:t>
            </a:r>
            <a:r>
              <a:rPr sz="2500" spc="-14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Calibri"/>
                <a:cs typeface="Calibri"/>
              </a:rPr>
              <a:t>l.</a:t>
            </a:r>
            <a:endParaRPr sz="2500">
              <a:latin typeface="Calibri"/>
              <a:cs typeface="Calibri"/>
            </a:endParaRPr>
          </a:p>
          <a:p>
            <a:pPr marR="1762760" algn="ctr">
              <a:lnSpc>
                <a:spcPct val="100000"/>
              </a:lnSpc>
              <a:spcBef>
                <a:spcPts val="275"/>
              </a:spcBef>
            </a:pPr>
            <a:r>
              <a:rPr sz="2500" spc="-10" dirty="0">
                <a:latin typeface="Calibri"/>
                <a:cs typeface="Calibri"/>
              </a:rPr>
              <a:t>Completeness?</a:t>
            </a:r>
            <a:endParaRPr sz="2500">
              <a:latin typeface="Calibri"/>
              <a:cs typeface="Calibri"/>
            </a:endParaRPr>
          </a:p>
          <a:p>
            <a:pPr marR="1543050" algn="ctr">
              <a:lnSpc>
                <a:spcPct val="100000"/>
              </a:lnSpc>
              <a:spcBef>
                <a:spcPts val="275"/>
              </a:spcBef>
            </a:pPr>
            <a:r>
              <a:rPr sz="2200" dirty="0">
                <a:latin typeface="Calibri"/>
                <a:cs typeface="Calibri"/>
              </a:rPr>
              <a:t>No,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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d.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Wingdings"/>
                <a:cs typeface="Wingdings"/>
              </a:rPr>
              <a:t></a:t>
            </a:r>
            <a:endParaRPr sz="2200">
              <a:latin typeface="Wingdings"/>
              <a:cs typeface="Wingdings"/>
            </a:endParaRPr>
          </a:p>
          <a:p>
            <a:pPr marR="1467485" algn="ctr">
              <a:lnSpc>
                <a:spcPct val="100000"/>
              </a:lnSpc>
              <a:spcBef>
                <a:spcPts val="270"/>
              </a:spcBef>
            </a:pPr>
            <a:r>
              <a:rPr sz="2500" dirty="0">
                <a:latin typeface="Calibri"/>
                <a:cs typeface="Calibri"/>
              </a:rPr>
              <a:t>Time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complexity?</a:t>
            </a:r>
            <a:endParaRPr sz="2500">
              <a:latin typeface="Calibri"/>
              <a:cs typeface="Calibri"/>
            </a:endParaRPr>
          </a:p>
          <a:p>
            <a:pPr marR="2529205" algn="ctr">
              <a:lnSpc>
                <a:spcPct val="100000"/>
              </a:lnSpc>
              <a:spcBef>
                <a:spcPts val="250"/>
              </a:spcBef>
            </a:pPr>
            <a:r>
              <a:rPr sz="2200" spc="-10" dirty="0">
                <a:latin typeface="Calibri"/>
                <a:cs typeface="Calibri"/>
              </a:rPr>
              <a:t>O(b</a:t>
            </a:r>
            <a:r>
              <a:rPr sz="2175" spc="-15" baseline="24904" dirty="0">
                <a:latin typeface="Calibri"/>
                <a:cs typeface="Calibri"/>
              </a:rPr>
              <a:t>l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  <a:p>
            <a:pPr marR="1349375" algn="ctr">
              <a:lnSpc>
                <a:spcPct val="100000"/>
              </a:lnSpc>
              <a:spcBef>
                <a:spcPts val="275"/>
              </a:spcBef>
            </a:pPr>
            <a:r>
              <a:rPr sz="2500" dirty="0">
                <a:latin typeface="Calibri"/>
                <a:cs typeface="Calibri"/>
              </a:rPr>
              <a:t>Space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complexity?</a:t>
            </a:r>
            <a:endParaRPr sz="2500">
              <a:latin typeface="Calibri"/>
              <a:cs typeface="Calibri"/>
            </a:endParaRPr>
          </a:p>
          <a:p>
            <a:pPr marR="2654300" algn="ctr">
              <a:lnSpc>
                <a:spcPct val="100000"/>
              </a:lnSpc>
              <a:spcBef>
                <a:spcPts val="265"/>
              </a:spcBef>
            </a:pPr>
            <a:r>
              <a:rPr sz="2200" spc="-20" dirty="0">
                <a:latin typeface="Calibri"/>
                <a:cs typeface="Calibri"/>
              </a:rPr>
              <a:t>O(l)</a:t>
            </a:r>
            <a:endParaRPr sz="2200">
              <a:latin typeface="Calibri"/>
              <a:cs typeface="Calibri"/>
            </a:endParaRPr>
          </a:p>
          <a:p>
            <a:pPr marR="2227580" algn="ctr">
              <a:lnSpc>
                <a:spcPct val="100000"/>
              </a:lnSpc>
              <a:spcBef>
                <a:spcPts val="280"/>
              </a:spcBef>
            </a:pPr>
            <a:r>
              <a:rPr sz="2500" spc="-10" dirty="0">
                <a:latin typeface="Calibri"/>
                <a:cs typeface="Calibri"/>
              </a:rPr>
              <a:t>Optimality?</a:t>
            </a:r>
            <a:endParaRPr sz="2500">
              <a:latin typeface="Calibri"/>
              <a:cs typeface="Calibri"/>
            </a:endParaRPr>
          </a:p>
          <a:p>
            <a:pPr marL="676275">
              <a:lnSpc>
                <a:spcPct val="100000"/>
              </a:lnSpc>
              <a:spcBef>
                <a:spcPts val="250"/>
              </a:spcBef>
            </a:pPr>
            <a:r>
              <a:rPr sz="2200" spc="-25" dirty="0">
                <a:latin typeface="Calibri"/>
                <a:cs typeface="Calibri"/>
              </a:rPr>
              <a:t>No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95864" y="631220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23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8670" y="629207"/>
            <a:ext cx="9155130" cy="797398"/>
          </a:xfrm>
          <a:prstGeom prst="rect">
            <a:avLst/>
          </a:prstGeom>
        </p:spPr>
        <p:txBody>
          <a:bodyPr vert="horz" wrap="square" lIns="0" tIns="119126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Iterative</a:t>
            </a:r>
            <a:r>
              <a:rPr spc="-17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deepening</a:t>
            </a:r>
            <a:r>
              <a:rPr spc="-170" dirty="0">
                <a:latin typeface="Microsoft Sans Serif"/>
                <a:cs typeface="Microsoft Sans Serif"/>
              </a:rPr>
              <a:t> </a:t>
            </a:r>
            <a:r>
              <a:rPr spc="-25" dirty="0">
                <a:latin typeface="Microsoft Sans Serif"/>
                <a:cs typeface="Microsoft Sans Serif"/>
              </a:rPr>
              <a:t>DFS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55738" y="2073773"/>
            <a:ext cx="8242934" cy="394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1835"/>
              </a:lnSpc>
              <a:spcBef>
                <a:spcPts val="100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Iterative deepening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search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(or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iterative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deepening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DFS)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general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ts val="1515"/>
              </a:lnSpc>
            </a:pPr>
            <a:r>
              <a:rPr sz="1800" spc="-10" dirty="0">
                <a:latin typeface="Microsoft Sans Serif"/>
                <a:cs typeface="Microsoft Sans Serif"/>
              </a:rPr>
              <a:t>strategy,</a:t>
            </a:r>
            <a:r>
              <a:rPr sz="1800" dirty="0">
                <a:latin typeface="Microsoft Sans Serif"/>
                <a:cs typeface="Microsoft Sans Serif"/>
              </a:rPr>
              <a:t> used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combination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depth-</a:t>
            </a:r>
            <a:r>
              <a:rPr sz="1800" dirty="0">
                <a:latin typeface="Microsoft Sans Serif"/>
                <a:cs typeface="Microsoft Sans Serif"/>
              </a:rPr>
              <a:t>first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finds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best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ts val="1515"/>
              </a:lnSpc>
            </a:pP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limit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does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gradually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increasing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limit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first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0, then 1, then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on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until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goal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</a:t>
            </a:r>
            <a:r>
              <a:rPr sz="1800" spc="-20" dirty="0">
                <a:latin typeface="Microsoft Sans Serif"/>
                <a:cs typeface="Microsoft Sans Serif"/>
              </a:rPr>
              <a:t>found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will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occur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 limit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reaches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dirty="0">
                <a:latin typeface="Arial"/>
                <a:cs typeface="Arial"/>
              </a:rPr>
              <a:t>d</a:t>
            </a:r>
            <a:r>
              <a:rPr sz="1800" dirty="0">
                <a:latin typeface="Microsoft Sans Serif"/>
                <a:cs typeface="Microsoft Sans Serif"/>
              </a:rPr>
              <a:t>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shallowest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goal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node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algorithm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in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figure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Iterative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deepening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combines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benefits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DFS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 </a:t>
            </a:r>
            <a:r>
              <a:rPr sz="1800" spc="-25" dirty="0">
                <a:latin typeface="Microsoft Sans Serif"/>
                <a:cs typeface="Microsoft Sans Serif"/>
              </a:rPr>
              <a:t>BFS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5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Like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DFS,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memory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requirements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modest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i="1" spc="-10" dirty="0">
                <a:latin typeface="Arial"/>
                <a:cs typeface="Arial"/>
              </a:rPr>
              <a:t>O(bd)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ts val="1515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Like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BFS,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complete when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branching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factor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finite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optimal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when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nondecreasing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function of 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depth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node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Figure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3.19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shows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four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iterations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ITERATIVE-</a:t>
            </a:r>
            <a:r>
              <a:rPr sz="1800" spc="-10" dirty="0">
                <a:latin typeface="Microsoft Sans Serif"/>
                <a:cs typeface="Microsoft Sans Serif"/>
              </a:rPr>
              <a:t>DEEPENING-</a:t>
            </a:r>
            <a:r>
              <a:rPr sz="1800" dirty="0">
                <a:latin typeface="Microsoft Sans Serif"/>
                <a:cs typeface="Microsoft Sans Serif"/>
              </a:rPr>
              <a:t>SEARCH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 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binary tree,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where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solution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found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fourth</a:t>
            </a:r>
            <a:r>
              <a:rPr sz="1800" spc="-10" dirty="0">
                <a:latin typeface="Microsoft Sans Serif"/>
                <a:cs typeface="Microsoft Sans Serif"/>
              </a:rPr>
              <a:t> iteration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Iterative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deepening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may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seem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wasteful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because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states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are</a:t>
            </a:r>
            <a:endParaRPr sz="1800">
              <a:latin typeface="Microsoft Sans Serif"/>
              <a:cs typeface="Microsoft Sans Serif"/>
            </a:endParaRPr>
          </a:p>
          <a:p>
            <a:pPr marL="469900">
              <a:lnSpc>
                <a:spcPts val="1510"/>
              </a:lnSpc>
            </a:pPr>
            <a:r>
              <a:rPr sz="1800" dirty="0">
                <a:latin typeface="Microsoft Sans Serif"/>
                <a:cs typeface="Microsoft Sans Serif"/>
              </a:rPr>
              <a:t>generated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multiple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times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0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It turns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costly</a:t>
            </a:r>
            <a:endParaRPr sz="1800">
              <a:latin typeface="Microsoft Sans Serif"/>
              <a:cs typeface="Microsoft Sans Serif"/>
            </a:endParaRPr>
          </a:p>
          <a:p>
            <a:pPr marL="469265" indent="-456565">
              <a:lnSpc>
                <a:spcPts val="1515"/>
              </a:lnSpc>
              <a:buChar char="•"/>
              <a:tabLst>
                <a:tab pos="46926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reason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that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search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same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(or nearly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same)</a:t>
            </a:r>
            <a:endParaRPr sz="1800">
              <a:latin typeface="Microsoft Sans Serif"/>
              <a:cs typeface="Microsoft Sans Serif"/>
            </a:endParaRPr>
          </a:p>
          <a:p>
            <a:pPr marL="469900" marR="158750">
              <a:lnSpc>
                <a:spcPct val="70000"/>
              </a:lnSpc>
              <a:spcBef>
                <a:spcPts val="325"/>
              </a:spcBef>
            </a:pPr>
            <a:r>
              <a:rPr sz="1800" dirty="0">
                <a:latin typeface="Microsoft Sans Serif"/>
                <a:cs typeface="Microsoft Sans Serif"/>
              </a:rPr>
              <a:t>branching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factor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each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level,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most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nodes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bottom level, </a:t>
            </a:r>
            <a:r>
              <a:rPr sz="1800" spc="-25" dirty="0">
                <a:latin typeface="Microsoft Sans Serif"/>
                <a:cs typeface="Microsoft Sans Serif"/>
              </a:rPr>
              <a:t>so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does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matter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much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upper levels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generated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multiple </a:t>
            </a:r>
            <a:r>
              <a:rPr sz="1800" spc="-10" dirty="0">
                <a:latin typeface="Microsoft Sans Serif"/>
                <a:cs typeface="Microsoft Sans Serif"/>
              </a:rPr>
              <a:t>times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9694" y="288627"/>
            <a:ext cx="7620000" cy="1478558"/>
          </a:xfrm>
          <a:prstGeom prst="rect">
            <a:avLst/>
          </a:prstGeom>
        </p:spPr>
        <p:txBody>
          <a:bodyPr vert="horz" wrap="square" lIns="0" tIns="123139" rIns="0" bIns="0" rtlCol="0">
            <a:spAutoFit/>
          </a:bodyPr>
          <a:lstStyle/>
          <a:p>
            <a:pPr marL="1384300" algn="ctr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Microsoft Sans Serif"/>
                <a:cs typeface="Microsoft Sans Serif"/>
              </a:rPr>
              <a:t>Iterative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deepening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DFS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lang="en-IN" spc="-110" dirty="0">
                <a:latin typeface="Microsoft Sans Serif"/>
                <a:cs typeface="Microsoft Sans Serif"/>
              </a:rPr>
              <a:t>                  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9694" y="1704704"/>
            <a:ext cx="7620000" cy="175223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777744" y="4598670"/>
            <a:ext cx="463550" cy="187960"/>
          </a:xfrm>
          <a:custGeom>
            <a:avLst/>
            <a:gdLst/>
            <a:ahLst/>
            <a:cxnLst/>
            <a:rect l="l" t="t" r="r" b="b"/>
            <a:pathLst>
              <a:path w="463550" h="187960">
                <a:moveTo>
                  <a:pt x="403225" y="0"/>
                </a:moveTo>
                <a:lnTo>
                  <a:pt x="400558" y="7619"/>
                </a:lnTo>
                <a:lnTo>
                  <a:pt x="411416" y="12334"/>
                </a:lnTo>
                <a:lnTo>
                  <a:pt x="420751" y="18859"/>
                </a:lnTo>
                <a:lnTo>
                  <a:pt x="443134" y="62293"/>
                </a:lnTo>
                <a:lnTo>
                  <a:pt x="445897" y="92963"/>
                </a:lnTo>
                <a:lnTo>
                  <a:pt x="445206" y="109517"/>
                </a:lnTo>
                <a:lnTo>
                  <a:pt x="434848" y="149986"/>
                </a:lnTo>
                <a:lnTo>
                  <a:pt x="400812" y="180085"/>
                </a:lnTo>
                <a:lnTo>
                  <a:pt x="403225" y="187705"/>
                </a:lnTo>
                <a:lnTo>
                  <a:pt x="439104" y="166417"/>
                </a:lnTo>
                <a:lnTo>
                  <a:pt x="459216" y="127111"/>
                </a:lnTo>
                <a:lnTo>
                  <a:pt x="463042" y="93852"/>
                </a:lnTo>
                <a:lnTo>
                  <a:pt x="462080" y="76914"/>
                </a:lnTo>
                <a:lnTo>
                  <a:pt x="462067" y="76684"/>
                </a:lnTo>
                <a:lnTo>
                  <a:pt x="447548" y="32892"/>
                </a:lnTo>
                <a:lnTo>
                  <a:pt x="416794" y="4907"/>
                </a:lnTo>
                <a:lnTo>
                  <a:pt x="403225" y="0"/>
                </a:lnTo>
                <a:close/>
              </a:path>
              <a:path w="463550" h="187960">
                <a:moveTo>
                  <a:pt x="59943" y="0"/>
                </a:moveTo>
                <a:lnTo>
                  <a:pt x="24118" y="21341"/>
                </a:lnTo>
                <a:lnTo>
                  <a:pt x="3889" y="60801"/>
                </a:lnTo>
                <a:lnTo>
                  <a:pt x="0" y="93852"/>
                </a:lnTo>
                <a:lnTo>
                  <a:pt x="881" y="109517"/>
                </a:lnTo>
                <a:lnTo>
                  <a:pt x="15493" y="154939"/>
                </a:lnTo>
                <a:lnTo>
                  <a:pt x="46301" y="182800"/>
                </a:lnTo>
                <a:lnTo>
                  <a:pt x="59943" y="187705"/>
                </a:lnTo>
                <a:lnTo>
                  <a:pt x="62229" y="180085"/>
                </a:lnTo>
                <a:lnTo>
                  <a:pt x="51538" y="175347"/>
                </a:lnTo>
                <a:lnTo>
                  <a:pt x="42322" y="168751"/>
                </a:lnTo>
                <a:lnTo>
                  <a:pt x="19923" y="124523"/>
                </a:lnTo>
                <a:lnTo>
                  <a:pt x="17145" y="92963"/>
                </a:lnTo>
                <a:lnTo>
                  <a:pt x="17837" y="76914"/>
                </a:lnTo>
                <a:lnTo>
                  <a:pt x="28321" y="37337"/>
                </a:lnTo>
                <a:lnTo>
                  <a:pt x="62611" y="7619"/>
                </a:lnTo>
                <a:lnTo>
                  <a:pt x="59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42791" y="4598670"/>
            <a:ext cx="255904" cy="187960"/>
          </a:xfrm>
          <a:custGeom>
            <a:avLst/>
            <a:gdLst/>
            <a:ahLst/>
            <a:cxnLst/>
            <a:rect l="l" t="t" r="r" b="b"/>
            <a:pathLst>
              <a:path w="255904" h="187960">
                <a:moveTo>
                  <a:pt x="195961" y="0"/>
                </a:moveTo>
                <a:lnTo>
                  <a:pt x="193294" y="7619"/>
                </a:lnTo>
                <a:lnTo>
                  <a:pt x="204152" y="12334"/>
                </a:lnTo>
                <a:lnTo>
                  <a:pt x="213487" y="18859"/>
                </a:lnTo>
                <a:lnTo>
                  <a:pt x="235870" y="62293"/>
                </a:lnTo>
                <a:lnTo>
                  <a:pt x="238633" y="92963"/>
                </a:lnTo>
                <a:lnTo>
                  <a:pt x="237942" y="109517"/>
                </a:lnTo>
                <a:lnTo>
                  <a:pt x="227584" y="149986"/>
                </a:lnTo>
                <a:lnTo>
                  <a:pt x="193548" y="180085"/>
                </a:lnTo>
                <a:lnTo>
                  <a:pt x="195961" y="187705"/>
                </a:lnTo>
                <a:lnTo>
                  <a:pt x="231840" y="166417"/>
                </a:lnTo>
                <a:lnTo>
                  <a:pt x="251952" y="127111"/>
                </a:lnTo>
                <a:lnTo>
                  <a:pt x="255778" y="93852"/>
                </a:lnTo>
                <a:lnTo>
                  <a:pt x="254816" y="76914"/>
                </a:lnTo>
                <a:lnTo>
                  <a:pt x="240284" y="32892"/>
                </a:lnTo>
                <a:lnTo>
                  <a:pt x="209530" y="4907"/>
                </a:lnTo>
                <a:lnTo>
                  <a:pt x="195961" y="0"/>
                </a:lnTo>
                <a:close/>
              </a:path>
              <a:path w="255904" h="187960">
                <a:moveTo>
                  <a:pt x="59944" y="0"/>
                </a:moveTo>
                <a:lnTo>
                  <a:pt x="24118" y="21341"/>
                </a:lnTo>
                <a:lnTo>
                  <a:pt x="3889" y="60801"/>
                </a:lnTo>
                <a:lnTo>
                  <a:pt x="50" y="92963"/>
                </a:lnTo>
                <a:lnTo>
                  <a:pt x="0" y="93852"/>
                </a:lnTo>
                <a:lnTo>
                  <a:pt x="881" y="109517"/>
                </a:lnTo>
                <a:lnTo>
                  <a:pt x="974" y="111166"/>
                </a:lnTo>
                <a:lnTo>
                  <a:pt x="3889" y="127111"/>
                </a:lnTo>
                <a:lnTo>
                  <a:pt x="24064" y="166417"/>
                </a:lnTo>
                <a:lnTo>
                  <a:pt x="59944" y="187705"/>
                </a:lnTo>
                <a:lnTo>
                  <a:pt x="62230" y="180085"/>
                </a:lnTo>
                <a:lnTo>
                  <a:pt x="51538" y="175347"/>
                </a:lnTo>
                <a:lnTo>
                  <a:pt x="42322" y="168751"/>
                </a:lnTo>
                <a:lnTo>
                  <a:pt x="19923" y="124523"/>
                </a:lnTo>
                <a:lnTo>
                  <a:pt x="17182" y="93852"/>
                </a:lnTo>
                <a:lnTo>
                  <a:pt x="17145" y="92963"/>
                </a:lnTo>
                <a:lnTo>
                  <a:pt x="23413" y="49101"/>
                </a:lnTo>
                <a:lnTo>
                  <a:pt x="51752" y="12334"/>
                </a:lnTo>
                <a:lnTo>
                  <a:pt x="62611" y="7619"/>
                </a:lnTo>
                <a:lnTo>
                  <a:pt x="59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92015" y="4598670"/>
            <a:ext cx="612775" cy="187960"/>
          </a:xfrm>
          <a:custGeom>
            <a:avLst/>
            <a:gdLst/>
            <a:ahLst/>
            <a:cxnLst/>
            <a:rect l="l" t="t" r="r" b="b"/>
            <a:pathLst>
              <a:path w="612775" h="187960">
                <a:moveTo>
                  <a:pt x="552576" y="0"/>
                </a:moveTo>
                <a:lnTo>
                  <a:pt x="549909" y="7619"/>
                </a:lnTo>
                <a:lnTo>
                  <a:pt x="560768" y="12334"/>
                </a:lnTo>
                <a:lnTo>
                  <a:pt x="570102" y="18859"/>
                </a:lnTo>
                <a:lnTo>
                  <a:pt x="592486" y="62293"/>
                </a:lnTo>
                <a:lnTo>
                  <a:pt x="595248" y="92963"/>
                </a:lnTo>
                <a:lnTo>
                  <a:pt x="594558" y="109517"/>
                </a:lnTo>
                <a:lnTo>
                  <a:pt x="584199" y="149986"/>
                </a:lnTo>
                <a:lnTo>
                  <a:pt x="550163" y="180085"/>
                </a:lnTo>
                <a:lnTo>
                  <a:pt x="552576" y="187705"/>
                </a:lnTo>
                <a:lnTo>
                  <a:pt x="588456" y="166417"/>
                </a:lnTo>
                <a:lnTo>
                  <a:pt x="608568" y="127111"/>
                </a:lnTo>
                <a:lnTo>
                  <a:pt x="612393" y="93852"/>
                </a:lnTo>
                <a:lnTo>
                  <a:pt x="611432" y="76914"/>
                </a:lnTo>
                <a:lnTo>
                  <a:pt x="611419" y="76684"/>
                </a:lnTo>
                <a:lnTo>
                  <a:pt x="596899" y="32892"/>
                </a:lnTo>
                <a:lnTo>
                  <a:pt x="566146" y="4907"/>
                </a:lnTo>
                <a:lnTo>
                  <a:pt x="552576" y="0"/>
                </a:lnTo>
                <a:close/>
              </a:path>
              <a:path w="612775" h="187960">
                <a:moveTo>
                  <a:pt x="59943" y="0"/>
                </a:moveTo>
                <a:lnTo>
                  <a:pt x="24118" y="21341"/>
                </a:lnTo>
                <a:lnTo>
                  <a:pt x="3889" y="60801"/>
                </a:lnTo>
                <a:lnTo>
                  <a:pt x="50" y="92963"/>
                </a:lnTo>
                <a:lnTo>
                  <a:pt x="0" y="93852"/>
                </a:lnTo>
                <a:lnTo>
                  <a:pt x="8733" y="141698"/>
                </a:lnTo>
                <a:lnTo>
                  <a:pt x="34337" y="175704"/>
                </a:lnTo>
                <a:lnTo>
                  <a:pt x="59943" y="187705"/>
                </a:lnTo>
                <a:lnTo>
                  <a:pt x="62229" y="180085"/>
                </a:lnTo>
                <a:lnTo>
                  <a:pt x="51538" y="175347"/>
                </a:lnTo>
                <a:lnTo>
                  <a:pt x="42322" y="168751"/>
                </a:lnTo>
                <a:lnTo>
                  <a:pt x="19923" y="124523"/>
                </a:lnTo>
                <a:lnTo>
                  <a:pt x="17144" y="92963"/>
                </a:lnTo>
                <a:lnTo>
                  <a:pt x="17837" y="76914"/>
                </a:lnTo>
                <a:lnTo>
                  <a:pt x="28320" y="37337"/>
                </a:lnTo>
                <a:lnTo>
                  <a:pt x="62610" y="7619"/>
                </a:lnTo>
                <a:lnTo>
                  <a:pt x="59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69694" y="3456940"/>
            <a:ext cx="7484745" cy="2471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marR="87630" indent="-285115">
              <a:lnSpc>
                <a:spcPct val="100000"/>
              </a:lnSpc>
              <a:spcBef>
                <a:spcPts val="95"/>
              </a:spcBef>
              <a:buChar char="•"/>
              <a:tabLst>
                <a:tab pos="335280" algn="l"/>
                <a:tab pos="337185" algn="l"/>
              </a:tabLst>
            </a:pPr>
            <a:r>
              <a:rPr sz="1600" dirty="0">
                <a:latin typeface="Microsoft Sans Serif"/>
                <a:cs typeface="Microsoft Sans Serif"/>
              </a:rPr>
              <a:t>	In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iterative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deepening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search,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nodes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bottom level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(depth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i="1" dirty="0">
                <a:latin typeface="Arial"/>
                <a:cs typeface="Arial"/>
              </a:rPr>
              <a:t>d</a:t>
            </a:r>
            <a:r>
              <a:rPr sz="1600" dirty="0">
                <a:latin typeface="Microsoft Sans Serif"/>
                <a:cs typeface="Microsoft Sans Serif"/>
              </a:rPr>
              <a:t>)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are </a:t>
            </a:r>
            <a:r>
              <a:rPr sz="1600" dirty="0">
                <a:latin typeface="Microsoft Sans Serif"/>
                <a:cs typeface="Microsoft Sans Serif"/>
              </a:rPr>
              <a:t>generated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once,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those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next-to-</a:t>
            </a:r>
            <a:r>
              <a:rPr sz="1600" dirty="0">
                <a:latin typeface="Microsoft Sans Serif"/>
                <a:cs typeface="Microsoft Sans Serif"/>
              </a:rPr>
              <a:t>bottom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level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are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generated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twice,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so </a:t>
            </a:r>
            <a:r>
              <a:rPr sz="1600" dirty="0">
                <a:latin typeface="Microsoft Sans Serif"/>
                <a:cs typeface="Microsoft Sans Serif"/>
              </a:rPr>
              <a:t>on,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up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children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of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root, which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are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generated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i="1" dirty="0">
                <a:latin typeface="Arial"/>
                <a:cs typeface="Arial"/>
              </a:rPr>
              <a:t>d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times</a:t>
            </a:r>
            <a:endParaRPr sz="1600" dirty="0">
              <a:latin typeface="Microsoft Sans Serif"/>
              <a:cs typeface="Microsoft Sans Serif"/>
            </a:endParaRPr>
          </a:p>
          <a:p>
            <a:pPr marL="337185" indent="-286385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600" dirty="0">
                <a:latin typeface="Microsoft Sans Serif"/>
                <a:cs typeface="Microsoft Sans Serif"/>
              </a:rPr>
              <a:t>So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total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number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of nodes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generated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worst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case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is</a:t>
            </a:r>
            <a:endParaRPr sz="1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Microsoft Sans Serif"/>
              <a:buChar char="•"/>
            </a:pPr>
            <a:endParaRPr sz="1600" dirty="0">
              <a:latin typeface="Microsoft Sans Serif"/>
              <a:cs typeface="Microsoft Sans Serif"/>
            </a:endParaRPr>
          </a:p>
          <a:p>
            <a:pPr marL="736600">
              <a:lnSpc>
                <a:spcPct val="100000"/>
              </a:lnSpc>
              <a:tabLst>
                <a:tab pos="1446530" algn="l"/>
                <a:tab pos="1739264" algn="l"/>
                <a:tab pos="2388870" algn="l"/>
              </a:tabLst>
            </a:pPr>
            <a:r>
              <a:rPr sz="1600" dirty="0">
                <a:latin typeface="Cambria Math"/>
                <a:cs typeface="Cambria Math"/>
              </a:rPr>
              <a:t>𝑁</a:t>
            </a:r>
            <a:r>
              <a:rPr sz="1600" spc="330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𝐼𝐷𝑆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=</a:t>
            </a:r>
            <a:r>
              <a:rPr sz="1600" dirty="0">
                <a:latin typeface="Cambria Math"/>
                <a:cs typeface="Cambria Math"/>
              </a:rPr>
              <a:t>	𝑑</a:t>
            </a:r>
            <a:r>
              <a:rPr sz="1600" spc="3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600" spc="4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+</a:t>
            </a:r>
            <a:r>
              <a:rPr sz="1600" dirty="0">
                <a:latin typeface="Cambria Math"/>
                <a:cs typeface="Cambria Math"/>
              </a:rPr>
              <a:t>	𝑑</a:t>
            </a:r>
            <a:r>
              <a:rPr sz="1600" spc="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2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1</a:t>
            </a:r>
            <a:r>
              <a:rPr sz="1600" spc="31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725" baseline="28985" dirty="0">
                <a:latin typeface="Cambria Math"/>
                <a:cs typeface="Cambria Math"/>
              </a:rPr>
              <a:t>2</a:t>
            </a:r>
            <a:r>
              <a:rPr sz="1725" spc="262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20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⋯</a:t>
            </a:r>
            <a:r>
              <a:rPr sz="1600" spc="-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1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(1)𝑏</a:t>
            </a:r>
            <a:r>
              <a:rPr sz="1725" spc="-15" baseline="28985" dirty="0">
                <a:latin typeface="Cambria Math"/>
                <a:cs typeface="Cambria Math"/>
              </a:rPr>
              <a:t>𝑑</a:t>
            </a:r>
            <a:endParaRPr sz="1725" baseline="28985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Cambria Math"/>
              <a:cs typeface="Cambria Math"/>
            </a:endParaRPr>
          </a:p>
          <a:p>
            <a:pPr marL="335280">
              <a:lnSpc>
                <a:spcPts val="1914"/>
              </a:lnSpc>
            </a:pPr>
            <a:r>
              <a:rPr sz="1600" dirty="0">
                <a:latin typeface="Microsoft Sans Serif"/>
                <a:cs typeface="Microsoft Sans Serif"/>
              </a:rPr>
              <a:t>which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gives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time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complexity of</a:t>
            </a:r>
            <a:r>
              <a:rPr sz="1600" spc="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Cambria Math"/>
                <a:cs typeface="Cambria Math"/>
              </a:rPr>
              <a:t>𝑂(𝑏</a:t>
            </a:r>
            <a:r>
              <a:rPr sz="1725" baseline="28985" dirty="0">
                <a:latin typeface="Cambria Math"/>
                <a:cs typeface="Cambria Math"/>
              </a:rPr>
              <a:t>𝑑</a:t>
            </a:r>
            <a:r>
              <a:rPr sz="1600" dirty="0">
                <a:latin typeface="Cambria Math"/>
                <a:cs typeface="Cambria Math"/>
              </a:rPr>
              <a:t>)</a:t>
            </a:r>
            <a:r>
              <a:rPr sz="1600" spc="100" dirty="0">
                <a:latin typeface="Cambria Math"/>
                <a:cs typeface="Cambria Math"/>
              </a:rPr>
              <a:t> </a:t>
            </a:r>
            <a:r>
              <a:rPr sz="1600" spc="405" dirty="0">
                <a:latin typeface="Microsoft Sans Serif"/>
                <a:cs typeface="Microsoft Sans Serif"/>
              </a:rPr>
              <a:t>–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asymptotically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same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is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BFS</a:t>
            </a:r>
            <a:endParaRPr sz="1600" dirty="0">
              <a:latin typeface="Microsoft Sans Serif"/>
              <a:cs typeface="Microsoft Sans Serif"/>
            </a:endParaRPr>
          </a:p>
          <a:p>
            <a:pPr marL="337185" indent="-286385">
              <a:lnSpc>
                <a:spcPts val="1914"/>
              </a:lnSpc>
              <a:buChar char="•"/>
              <a:tabLst>
                <a:tab pos="337185" algn="l"/>
              </a:tabLst>
            </a:pPr>
            <a:r>
              <a:rPr sz="1600" dirty="0">
                <a:latin typeface="Microsoft Sans Serif"/>
                <a:cs typeface="Microsoft Sans Serif"/>
              </a:rPr>
              <a:t>There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some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extra cost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for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generating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upper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levels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multiple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times,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but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it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is</a:t>
            </a:r>
            <a:endParaRPr sz="1600" dirty="0">
              <a:latin typeface="Microsoft Sans Serif"/>
              <a:cs typeface="Microsoft Sans Serif"/>
            </a:endParaRPr>
          </a:p>
          <a:p>
            <a:pPr marL="335280">
              <a:lnSpc>
                <a:spcPct val="100000"/>
              </a:lnSpc>
            </a:pPr>
            <a:r>
              <a:rPr sz="1600" dirty="0">
                <a:latin typeface="Microsoft Sans Serif"/>
                <a:cs typeface="Microsoft Sans Serif"/>
              </a:rPr>
              <a:t>not </a:t>
            </a:r>
            <a:r>
              <a:rPr sz="1600" spc="-10" dirty="0">
                <a:latin typeface="Microsoft Sans Serif"/>
                <a:cs typeface="Microsoft Sans Serif"/>
              </a:rPr>
              <a:t>large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90429" y="622472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25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4671" y="6088481"/>
            <a:ext cx="8063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Figure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taken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Russel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Norvig,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Artificial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Intelligence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Modern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Approach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0040" y="314378"/>
            <a:ext cx="7623425" cy="1427057"/>
          </a:xfrm>
          <a:prstGeom prst="rect">
            <a:avLst/>
          </a:prstGeom>
        </p:spPr>
        <p:txBody>
          <a:bodyPr vert="horz" wrap="square" lIns="0" tIns="72136" rIns="0" bIns="0" rtlCol="0">
            <a:spAutoFit/>
          </a:bodyPr>
          <a:lstStyle/>
          <a:p>
            <a:pPr marL="1384300" algn="ct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Iterative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deepening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DFS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5190" y="2463902"/>
            <a:ext cx="8220075" cy="352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har char="•"/>
              <a:tabLst>
                <a:tab pos="469265" algn="l"/>
              </a:tabLst>
            </a:pPr>
            <a:r>
              <a:rPr sz="2800" dirty="0">
                <a:latin typeface="Microsoft Sans Serif"/>
                <a:cs typeface="Microsoft Sans Serif"/>
              </a:rPr>
              <a:t>E.g.,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if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800" dirty="0">
                <a:latin typeface="Microsoft Sans Serif"/>
                <a:cs typeface="Microsoft Sans Serif"/>
              </a:rPr>
              <a:t>=10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i="1" dirty="0">
                <a:latin typeface="Arial"/>
                <a:cs typeface="Arial"/>
              </a:rPr>
              <a:t>d</a:t>
            </a:r>
            <a:r>
              <a:rPr sz="2800" dirty="0">
                <a:latin typeface="Microsoft Sans Serif"/>
                <a:cs typeface="Microsoft Sans Serif"/>
              </a:rPr>
              <a:t>=5, we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get</a:t>
            </a:r>
            <a:endParaRPr sz="2800" dirty="0">
              <a:latin typeface="Microsoft Sans Serif"/>
              <a:cs typeface="Microsoft Sans Serif"/>
            </a:endParaRPr>
          </a:p>
          <a:p>
            <a:pPr marL="504825" marR="123825" indent="97155">
              <a:lnSpc>
                <a:spcPts val="3030"/>
              </a:lnSpc>
              <a:spcBef>
                <a:spcPts val="3065"/>
              </a:spcBef>
            </a:pPr>
            <a:r>
              <a:rPr sz="2800" i="1" spc="-10" dirty="0">
                <a:latin typeface="Arial"/>
                <a:cs typeface="Arial"/>
              </a:rPr>
              <a:t>N(IDS)=50+400+3000+20000+100000=123450 N(BFS)=10+100+1000+10000+100000=111110</a:t>
            </a:r>
            <a:endParaRPr sz="2800" dirty="0">
              <a:latin typeface="Arial"/>
              <a:cs typeface="Arial"/>
            </a:endParaRPr>
          </a:p>
          <a:p>
            <a:pPr marL="469900" marR="5080" indent="-457200">
              <a:lnSpc>
                <a:spcPct val="90000"/>
              </a:lnSpc>
              <a:spcBef>
                <a:spcPts val="297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800" i="1" dirty="0">
                <a:latin typeface="Arial"/>
                <a:cs typeface="Arial"/>
              </a:rPr>
              <a:t>In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general,</a:t>
            </a:r>
            <a:r>
              <a:rPr sz="2800" i="1" spc="-5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iterative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deepening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is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the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preferred </a:t>
            </a:r>
            <a:r>
              <a:rPr sz="2800" i="1" dirty="0">
                <a:latin typeface="Arial"/>
                <a:cs typeface="Arial"/>
              </a:rPr>
              <a:t>uninformed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search</a:t>
            </a:r>
            <a:r>
              <a:rPr sz="2800" i="1" spc="-8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method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when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the</a:t>
            </a:r>
            <a:r>
              <a:rPr sz="2800" i="1" spc="-8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search </a:t>
            </a:r>
            <a:r>
              <a:rPr sz="2800" i="1" dirty="0">
                <a:latin typeface="Arial"/>
                <a:cs typeface="Arial"/>
              </a:rPr>
              <a:t>space</a:t>
            </a:r>
            <a:r>
              <a:rPr sz="2800" i="1" spc="-5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is</a:t>
            </a:r>
            <a:r>
              <a:rPr sz="2800" i="1" spc="-5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large</a:t>
            </a:r>
            <a:r>
              <a:rPr sz="2800" i="1" spc="-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and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the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depth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of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the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solution</a:t>
            </a:r>
            <a:r>
              <a:rPr sz="2800" i="1" spc="-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is</a:t>
            </a:r>
            <a:r>
              <a:rPr sz="2800" i="1" spc="-50" dirty="0">
                <a:latin typeface="Arial"/>
                <a:cs typeface="Arial"/>
              </a:rPr>
              <a:t> </a:t>
            </a:r>
            <a:r>
              <a:rPr sz="2800" i="1" spc="-25" dirty="0">
                <a:latin typeface="Arial"/>
                <a:cs typeface="Arial"/>
              </a:rPr>
              <a:t>not </a:t>
            </a:r>
            <a:r>
              <a:rPr sz="2800" i="1" spc="-10" dirty="0">
                <a:latin typeface="Arial"/>
                <a:cs typeface="Arial"/>
              </a:rPr>
              <a:t>known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339" rIns="0" bIns="0" rtlCol="0">
            <a:spAutoFit/>
          </a:bodyPr>
          <a:lstStyle/>
          <a:p>
            <a:pPr marL="32899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Iterative</a:t>
            </a:r>
            <a:r>
              <a:rPr spc="-215" dirty="0"/>
              <a:t> </a:t>
            </a:r>
            <a:r>
              <a:rPr spc="-10" dirty="0"/>
              <a:t>deepening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939" y="1581150"/>
            <a:ext cx="7261637" cy="3143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7907" y="5446267"/>
            <a:ext cx="7402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Taken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Russel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Norvig,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Artificial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Intelligence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Modern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Approach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388" rIns="0" bIns="0" rtlCol="0">
            <a:spAutoFit/>
          </a:bodyPr>
          <a:lstStyle/>
          <a:p>
            <a:pPr marL="30727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Iterative</a:t>
            </a:r>
            <a:r>
              <a:rPr spc="-170" dirty="0"/>
              <a:t> </a:t>
            </a:r>
            <a:r>
              <a:rPr spc="-10" dirty="0"/>
              <a:t>Deepening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523" y="1915439"/>
            <a:ext cx="4667885" cy="35845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R="1141730" algn="ctr">
              <a:lnSpc>
                <a:spcPct val="100000"/>
              </a:lnSpc>
              <a:spcBef>
                <a:spcPts val="400"/>
              </a:spcBef>
            </a:pPr>
            <a:r>
              <a:rPr sz="2500" dirty="0">
                <a:latin typeface="Calibri"/>
                <a:cs typeface="Calibri"/>
              </a:rPr>
              <a:t>Depth</a:t>
            </a:r>
            <a:r>
              <a:rPr sz="2500" spc="-1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limited,</a:t>
            </a:r>
            <a:r>
              <a:rPr sz="2500" spc="-10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increasing</a:t>
            </a:r>
            <a:r>
              <a:rPr sz="2500" spc="-10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l.</a:t>
            </a:r>
            <a:endParaRPr sz="2500">
              <a:latin typeface="Calibri"/>
              <a:cs typeface="Calibri"/>
            </a:endParaRPr>
          </a:p>
          <a:p>
            <a:pPr marR="1998980" algn="ctr">
              <a:lnSpc>
                <a:spcPct val="100000"/>
              </a:lnSpc>
              <a:spcBef>
                <a:spcPts val="300"/>
              </a:spcBef>
            </a:pPr>
            <a:r>
              <a:rPr sz="2500" spc="-10" dirty="0">
                <a:latin typeface="Calibri"/>
                <a:cs typeface="Calibri"/>
              </a:rPr>
              <a:t>Completeness?</a:t>
            </a:r>
            <a:endParaRPr sz="2500">
              <a:latin typeface="Calibri"/>
              <a:cs typeface="Calibri"/>
            </a:endParaRPr>
          </a:p>
          <a:p>
            <a:pPr marR="2572385" algn="ctr">
              <a:lnSpc>
                <a:spcPct val="100000"/>
              </a:lnSpc>
              <a:spcBef>
                <a:spcPts val="275"/>
              </a:spcBef>
            </a:pPr>
            <a:r>
              <a:rPr sz="2200" spc="-25" dirty="0">
                <a:latin typeface="Calibri"/>
                <a:cs typeface="Calibri"/>
              </a:rPr>
              <a:t>Yes.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60" dirty="0">
                <a:solidFill>
                  <a:srgbClr val="66FF33"/>
                </a:solidFill>
                <a:latin typeface="Wingdings"/>
                <a:cs typeface="Wingdings"/>
              </a:rPr>
              <a:t></a:t>
            </a:r>
            <a:endParaRPr sz="2200">
              <a:latin typeface="Wingdings"/>
              <a:cs typeface="Wingdings"/>
            </a:endParaRPr>
          </a:p>
          <a:p>
            <a:pPr marR="1703070" algn="ctr">
              <a:lnSpc>
                <a:spcPct val="100000"/>
              </a:lnSpc>
              <a:spcBef>
                <a:spcPts val="265"/>
              </a:spcBef>
            </a:pPr>
            <a:r>
              <a:rPr sz="2500" dirty="0">
                <a:latin typeface="Calibri"/>
                <a:cs typeface="Calibri"/>
              </a:rPr>
              <a:t>Time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complexity?</a:t>
            </a:r>
            <a:endParaRPr sz="2500">
              <a:latin typeface="Calibri"/>
              <a:cs typeface="Calibri"/>
            </a:endParaRPr>
          </a:p>
          <a:p>
            <a:pPr marL="638175" algn="ctr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latin typeface="Calibri"/>
                <a:cs typeface="Calibri"/>
              </a:rPr>
              <a:t>O(b</a:t>
            </a:r>
            <a:r>
              <a:rPr sz="2175" baseline="24904" dirty="0">
                <a:latin typeface="Calibri"/>
                <a:cs typeface="Calibri"/>
              </a:rPr>
              <a:t>d</a:t>
            </a:r>
            <a:r>
              <a:rPr sz="2200" dirty="0">
                <a:latin typeface="Calibri"/>
                <a:cs typeface="Calibri"/>
              </a:rPr>
              <a:t>),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repeated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work!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66FF33"/>
                </a:solidFill>
                <a:latin typeface="Wingdings"/>
                <a:cs typeface="Wingdings"/>
              </a:rPr>
              <a:t></a:t>
            </a:r>
            <a:endParaRPr sz="2200">
              <a:latin typeface="Wingdings"/>
              <a:cs typeface="Wingdings"/>
            </a:endParaRPr>
          </a:p>
          <a:p>
            <a:pPr marR="1584325" algn="ctr">
              <a:lnSpc>
                <a:spcPct val="100000"/>
              </a:lnSpc>
              <a:spcBef>
                <a:spcPts val="265"/>
              </a:spcBef>
            </a:pPr>
            <a:r>
              <a:rPr sz="2500" dirty="0">
                <a:latin typeface="Calibri"/>
                <a:cs typeface="Calibri"/>
              </a:rPr>
              <a:t>Space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complexity?</a:t>
            </a:r>
            <a:endParaRPr sz="2500">
              <a:latin typeface="Calibri"/>
              <a:cs typeface="Calibri"/>
            </a:endParaRPr>
          </a:p>
          <a:p>
            <a:pPr marR="2508250" algn="ctr">
              <a:lnSpc>
                <a:spcPct val="100000"/>
              </a:lnSpc>
              <a:spcBef>
                <a:spcPts val="275"/>
              </a:spcBef>
            </a:pPr>
            <a:r>
              <a:rPr sz="2200" dirty="0">
                <a:latin typeface="Calibri"/>
                <a:cs typeface="Calibri"/>
              </a:rPr>
              <a:t>O(d)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66FF33"/>
                </a:solidFill>
                <a:latin typeface="Wingdings"/>
                <a:cs typeface="Wingdings"/>
              </a:rPr>
              <a:t></a:t>
            </a:r>
            <a:endParaRPr sz="2200">
              <a:latin typeface="Wingdings"/>
              <a:cs typeface="Wingdings"/>
            </a:endParaRPr>
          </a:p>
          <a:p>
            <a:pPr marR="2462530" algn="ctr">
              <a:lnSpc>
                <a:spcPct val="100000"/>
              </a:lnSpc>
              <a:spcBef>
                <a:spcPts val="265"/>
              </a:spcBef>
            </a:pPr>
            <a:r>
              <a:rPr sz="2500" spc="-10" dirty="0">
                <a:latin typeface="Calibri"/>
                <a:cs typeface="Calibri"/>
              </a:rPr>
              <a:t>Optimality?</a:t>
            </a:r>
            <a:endParaRPr sz="2500">
              <a:latin typeface="Calibri"/>
              <a:cs typeface="Calibri"/>
            </a:endParaRPr>
          </a:p>
          <a:p>
            <a:pPr marL="676275">
              <a:lnSpc>
                <a:spcPct val="100000"/>
              </a:lnSpc>
              <a:spcBef>
                <a:spcPts val="254"/>
              </a:spcBef>
            </a:pPr>
            <a:r>
              <a:rPr sz="2200" spc="-25" dirty="0">
                <a:latin typeface="Calibri"/>
                <a:cs typeface="Calibri"/>
              </a:rPr>
              <a:t>Yes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FDEF7F1E27AC4A93CF36E0681DFED1" ma:contentTypeVersion="5" ma:contentTypeDescription="Create a new document." ma:contentTypeScope="" ma:versionID="b7a5fb320c5c95bf9e63bc33f2a25e37">
  <xsd:schema xmlns:xsd="http://www.w3.org/2001/XMLSchema" xmlns:xs="http://www.w3.org/2001/XMLSchema" xmlns:p="http://schemas.microsoft.com/office/2006/metadata/properties" xmlns:ns3="1e6e80f7-3645-4919-8801-84f8d538ab3a" targetNamespace="http://schemas.microsoft.com/office/2006/metadata/properties" ma:root="true" ma:fieldsID="215f79113129a32c766eb12da9a51fc2" ns3:_="">
    <xsd:import namespace="1e6e80f7-3645-4919-8801-84f8d538ab3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e80f7-3645-4919-8801-84f8d538ab3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6e80f7-3645-4919-8801-84f8d538ab3a" xsi:nil="true"/>
  </documentManagement>
</p:properties>
</file>

<file path=customXml/itemProps1.xml><?xml version="1.0" encoding="utf-8"?>
<ds:datastoreItem xmlns:ds="http://schemas.openxmlformats.org/officeDocument/2006/customXml" ds:itemID="{0FCC5439-FAD8-44AB-B53E-CF0E884BC5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80EAF8-EDF0-498D-BE69-3E42F9090C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6e80f7-3645-4919-8801-84f8d538ab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C058A1-77FA-4E08-862C-2D1A41C244F6}">
  <ds:schemaRefs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1e6e80f7-3645-4919-8801-84f8d538ab3a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3238</Words>
  <Application>Microsoft Office PowerPoint</Application>
  <PresentationFormat>Widescreen</PresentationFormat>
  <Paragraphs>369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Microsoft Sans Serif</vt:lpstr>
      <vt:lpstr>Symbol</vt:lpstr>
      <vt:lpstr>Times New Roman</vt:lpstr>
      <vt:lpstr>Wingdings</vt:lpstr>
      <vt:lpstr>Office Theme</vt:lpstr>
      <vt:lpstr>Uninformed search strategies </vt:lpstr>
      <vt:lpstr>  Uninformed search - Introduction</vt:lpstr>
      <vt:lpstr>Breadth first search (BFS)</vt:lpstr>
      <vt:lpstr>BFS (contd.)</vt:lpstr>
      <vt:lpstr>                 BFS (contd.)</vt:lpstr>
      <vt:lpstr>                BFS (contd.)</vt:lpstr>
      <vt:lpstr>                     BFS (contd.)</vt:lpstr>
      <vt:lpstr>                BFS (contd.)</vt:lpstr>
      <vt:lpstr>BFS</vt:lpstr>
      <vt:lpstr>Uniform cost search (UCS)</vt:lpstr>
      <vt:lpstr>UCS (contd.)</vt:lpstr>
      <vt:lpstr>UCS (contd.)</vt:lpstr>
      <vt:lpstr>UCS (contd.)</vt:lpstr>
      <vt:lpstr>Depth-first search (DFS)</vt:lpstr>
      <vt:lpstr>DFS (contd.)</vt:lpstr>
      <vt:lpstr>DFS (contd.)</vt:lpstr>
      <vt:lpstr>                  DFS (contd.)</vt:lpstr>
      <vt:lpstr>                DFS (contd.)</vt:lpstr>
      <vt:lpstr>DFS</vt:lpstr>
      <vt:lpstr>Depth-limited search</vt:lpstr>
      <vt:lpstr>Depth-limited search (contd.)</vt:lpstr>
      <vt:lpstr>Depth-limited search (contd.)</vt:lpstr>
      <vt:lpstr>Depth-limited Search</vt:lpstr>
      <vt:lpstr>Iterative deepening DFS</vt:lpstr>
      <vt:lpstr>Iterative deepening DFS                    (contd.)</vt:lpstr>
      <vt:lpstr>Iterative deepening DFS (contd.)</vt:lpstr>
      <vt:lpstr>Iterative deepening</vt:lpstr>
      <vt:lpstr>Iterative Deepening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Krishnamurthy</dc:creator>
  <cp:lastModifiedBy>Reena Krishnamurthy</cp:lastModifiedBy>
  <cp:revision>2</cp:revision>
  <dcterms:created xsi:type="dcterms:W3CDTF">2026-07-30T06:00:00Z</dcterms:created>
  <dcterms:modified xsi:type="dcterms:W3CDTF">2026-07-30T09:12:08Z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0x01010083FDEF7F1E27AC4A93CF36E0681DFED1</vt:lpwstr>
  </property>
</Properties>
</file>