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6513A-8822-16D6-AF7B-9C40768EE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942EC3-605A-080F-CB1A-A23BF5587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F93A7-1270-987B-C218-BBC825BE7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D95B-18E3-43B8-AB30-517FC226A21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301BB-FF15-C549-5276-446F58ED7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CD991-93D9-A046-564E-032CF402F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C857D-98D6-4C98-A3D0-49791652E2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122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45CF8-C239-FFB5-CF9D-A501D9BB5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58A74-167C-FBAC-E7D5-2C82D8F1F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EC67D-0AB3-3100-C0FE-345D4006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D95B-18E3-43B8-AB30-517FC226A21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7F7AE-229A-0370-BF61-7E209C934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7FC43-2529-B06B-335A-5E6C7C689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C857D-98D6-4C98-A3D0-49791652E23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477E6E-2A94-F7E2-D608-073DF95956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" y="366871"/>
            <a:ext cx="2647950" cy="661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9CFB67-AF3C-E3DC-F7B6-125966C797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3925" y="469106"/>
            <a:ext cx="736600" cy="615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1376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9C784-5A6E-DE18-C764-A270DF387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55621-51A8-06F9-12F8-71F291DE8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2C248-5C4A-F376-6BE9-6DEDD263C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D95B-18E3-43B8-AB30-517FC226A21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5D027-89F9-641E-BF4F-DE8BEDFA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B4B45-E568-EA97-850B-B00362064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C857D-98D6-4C98-A3D0-49791652E2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204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E1726-C02B-EE81-D551-72D94CFCC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DBF89-3C19-D07B-DCC4-1F7F543CD8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BC0B9-A6DF-F4E4-B6F9-4FA1DA668E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95651-22A6-2CEF-5B0F-7C6F2702A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D95B-18E3-43B8-AB30-517FC226A21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34F91-3F13-AA2E-E2C0-67F5C55E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A8CAA9-BBE0-B529-6101-50C0C165C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C857D-98D6-4C98-A3D0-49791652E2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60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C862-01E8-6111-C95E-061F42008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01F67-F28B-72B4-6F38-B1FF3AFBA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B09AB-45E4-C2D9-27B3-BA262B6D1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4CF580-B230-9C15-F7AF-D91280020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BA99E0-7CC1-073C-A093-C79D4C48FA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189C17-BF35-609C-BD13-25BE8C314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D95B-18E3-43B8-AB30-517FC226A21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1F2D59-4364-8F40-B5FF-73FF03DE0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0BA56A-C1D0-47BE-8D15-F07AE4FE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C857D-98D6-4C98-A3D0-49791652E2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207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16FA2-A505-9E2B-107D-389943D22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1D56C9-2705-9820-04D6-DC29BCDFB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D95B-18E3-43B8-AB30-517FC226A21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2D9C6E-978E-AD91-C51F-253A71531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FE6A2-411B-367D-B5D2-2481DADC4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C857D-98D6-4C98-A3D0-49791652E2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866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9D1938-A0C6-1E7B-ECF3-7340ABE76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D95B-18E3-43B8-AB30-517FC226A21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96C1DD-6DEF-E0E2-CA96-F14F52F4A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C0E56-B48F-D7A2-39A2-38C8EBA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C857D-98D6-4C98-A3D0-49791652E2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097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3C9C4-2C4C-5140-E395-627062D53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F7626-60C5-F9E0-D698-527B15770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D878E-9F9E-B008-FC67-E0B447634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E7DE9-3BFB-8909-7C6B-0C93C7F76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D95B-18E3-43B8-AB30-517FC226A21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66431D-BFA4-7F67-B807-F3D2E74D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566EC-CE6D-236A-FFEA-8F380B11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C857D-98D6-4C98-A3D0-49791652E2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246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F3619-B503-EB7C-C1C4-5138D5089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13C9CF-B560-E215-5F64-194A8BC3E4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B6C177-0D76-5410-75C0-6E91E34A7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C4D6D-0533-4144-6B84-85CFDF38D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D95B-18E3-43B8-AB30-517FC226A21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B806D-2089-9D42-74B8-7EA42AF75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742D9-2431-3B65-7EA5-190906534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C857D-98D6-4C98-A3D0-49791652E2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472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C8C9A-A592-6A52-42A8-5F7698D66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7B6830-2FA7-957B-2DF5-C94ECF56F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C8479-73FD-826A-CF7C-A747C8663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D95B-18E3-43B8-AB30-517FC226A21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F67BA-9BFB-DD59-46C2-2353F099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4AC8A-7168-AB74-405B-B88B2BD2F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C857D-98D6-4C98-A3D0-49791652E2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770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BE6E55-BA16-AA2D-BF9D-1E3403169A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54BE57-DD5B-3C9B-1C16-6F362A013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FEEA8-E0BB-60E3-DB1D-749B89207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4D95B-18E3-43B8-AB30-517FC226A21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C9F32-E927-02E2-7C1E-2359C9D9B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37EBD-B2FA-E551-520A-5A780643D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C857D-98D6-4C98-A3D0-49791652E2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207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87448" y="2481452"/>
            <a:ext cx="881697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276932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246E80-1188-62C3-D1EC-E7F027266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D6985-56BC-3390-81DE-789F1D5FE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4800C-124C-39D8-4CA3-BC4DCBB238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F4D95B-18E3-43B8-AB30-517FC226A21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BF4AB-67C8-CE3E-0B60-6F4A5DC764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EF5AD-7795-90DD-29C3-16224BE74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C857D-98D6-4C98-A3D0-49791652E2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207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1687448" y="2481452"/>
            <a:ext cx="88169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Calibri"/>
                <a:cs typeface="Calibri"/>
              </a:rPr>
              <a:t>Problem</a:t>
            </a:r>
            <a:r>
              <a:rPr sz="4400" spc="-6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Solving</a:t>
            </a:r>
            <a:r>
              <a:rPr sz="4400" spc="-60" dirty="0">
                <a:latin typeface="Calibri"/>
                <a:cs typeface="Calibri"/>
              </a:rPr>
              <a:t> </a:t>
            </a:r>
            <a:r>
              <a:rPr lang="en-IN" sz="4400" spc="-60" dirty="0">
                <a:latin typeface="Calibri"/>
                <a:cs typeface="Calibri"/>
              </a:rPr>
              <a:t>agent</a:t>
            </a:r>
            <a:endParaRPr sz="4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2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29152" y="461899"/>
            <a:ext cx="59372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Problem</a:t>
            </a:r>
            <a:r>
              <a:rPr sz="4400" spc="-95" dirty="0"/>
              <a:t> </a:t>
            </a:r>
            <a:r>
              <a:rPr sz="4400" dirty="0"/>
              <a:t>solving</a:t>
            </a:r>
            <a:r>
              <a:rPr sz="4400" spc="-95" dirty="0"/>
              <a:t> </a:t>
            </a:r>
            <a:r>
              <a:rPr sz="4400" dirty="0"/>
              <a:t>by</a:t>
            </a:r>
            <a:r>
              <a:rPr sz="4400" spc="-95" dirty="0"/>
              <a:t> </a:t>
            </a:r>
            <a:r>
              <a:rPr sz="4400" spc="-10" dirty="0"/>
              <a:t>search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688340" y="1545081"/>
            <a:ext cx="10810875" cy="42170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708025" indent="-342900">
              <a:lnSpc>
                <a:spcPts val="24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Problem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solving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agents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move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from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one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state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world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another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till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the </a:t>
            </a:r>
            <a:r>
              <a:rPr sz="2500" dirty="0">
                <a:latin typeface="Calibri"/>
                <a:cs typeface="Calibri"/>
              </a:rPr>
              <a:t>solution</a:t>
            </a:r>
            <a:r>
              <a:rPr sz="2500" spc="-1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reached</a:t>
            </a:r>
            <a:endParaRPr sz="25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4965" algn="l"/>
              </a:tabLst>
            </a:pPr>
            <a:r>
              <a:rPr sz="2500" b="1" dirty="0">
                <a:latin typeface="Calibri"/>
                <a:cs typeface="Calibri"/>
              </a:rPr>
              <a:t>Actions</a:t>
            </a:r>
            <a:r>
              <a:rPr sz="2500" b="1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or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o</a:t>
            </a:r>
            <a:r>
              <a:rPr sz="2500" b="1" spc="-20" dirty="0">
                <a:latin typeface="Calibri"/>
                <a:cs typeface="Calibri"/>
              </a:rPr>
              <a:t>perators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are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used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move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from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one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state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another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state</a:t>
            </a:r>
            <a:endParaRPr sz="2500">
              <a:latin typeface="Calibri"/>
              <a:cs typeface="Calibri"/>
            </a:endParaRPr>
          </a:p>
          <a:p>
            <a:pPr marL="355600" marR="422275" indent="-342900">
              <a:lnSpc>
                <a:spcPts val="24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b="1" dirty="0">
                <a:latin typeface="Calibri"/>
                <a:cs typeface="Calibri"/>
              </a:rPr>
              <a:t>Goal</a:t>
            </a:r>
            <a:r>
              <a:rPr sz="2500" b="1" spc="-60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formulation</a:t>
            </a:r>
            <a:r>
              <a:rPr sz="2500" b="1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based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on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current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situation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agent’s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performance </a:t>
            </a:r>
            <a:r>
              <a:rPr sz="2500" dirty="0">
                <a:latin typeface="Calibri"/>
                <a:cs typeface="Calibri"/>
              </a:rPr>
              <a:t>measure,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first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step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problem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solving</a:t>
            </a:r>
            <a:endParaRPr sz="2500">
              <a:latin typeface="Calibri"/>
              <a:cs typeface="Calibri"/>
            </a:endParaRPr>
          </a:p>
          <a:p>
            <a:pPr marL="355600" marR="808355" indent="-342900">
              <a:lnSpc>
                <a:spcPts val="24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b="1" dirty="0">
                <a:latin typeface="Calibri"/>
                <a:cs typeface="Calibri"/>
              </a:rPr>
              <a:t>Problem</a:t>
            </a:r>
            <a:r>
              <a:rPr sz="2500" b="1" spc="-6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formulation</a:t>
            </a:r>
            <a:r>
              <a:rPr sz="2500" b="1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process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deciding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which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actions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states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to consider,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given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goal</a:t>
            </a:r>
            <a:endParaRPr sz="25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354965" algn="l"/>
              </a:tabLst>
            </a:pPr>
            <a:r>
              <a:rPr sz="2500" dirty="0">
                <a:latin typeface="Calibri"/>
                <a:cs typeface="Calibri"/>
              </a:rPr>
              <a:t>The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solution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any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problem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fixed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sequence</a:t>
            </a:r>
            <a:r>
              <a:rPr sz="2500" b="1" spc="-4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of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actions</a:t>
            </a:r>
            <a:endParaRPr sz="2500">
              <a:latin typeface="Calibri"/>
              <a:cs typeface="Calibri"/>
            </a:endParaRPr>
          </a:p>
          <a:p>
            <a:pPr marL="355600" marR="370205" indent="-342900">
              <a:lnSpc>
                <a:spcPts val="24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The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process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looking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for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sequence</a:t>
            </a:r>
            <a:r>
              <a:rPr sz="2500" spc="-1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actions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that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reaches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goal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called search</a:t>
            </a:r>
            <a:endParaRPr sz="2500">
              <a:latin typeface="Calibri"/>
              <a:cs typeface="Calibri"/>
            </a:endParaRPr>
          </a:p>
          <a:p>
            <a:pPr marL="355600" marR="5080" indent="-342900">
              <a:lnSpc>
                <a:spcPts val="24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A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search</a:t>
            </a:r>
            <a:r>
              <a:rPr sz="2500" b="1" spc="-6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algorithm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takes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problem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as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input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returns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solution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form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of </a:t>
            </a:r>
            <a:r>
              <a:rPr sz="2500" dirty="0">
                <a:latin typeface="Calibri"/>
                <a:cs typeface="Calibri"/>
              </a:rPr>
              <a:t>an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action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sequence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3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43478" y="461899"/>
            <a:ext cx="53047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Definition</a:t>
            </a:r>
            <a:r>
              <a:rPr sz="4400" spc="-40" dirty="0"/>
              <a:t> </a:t>
            </a:r>
            <a:r>
              <a:rPr sz="4400" dirty="0"/>
              <a:t>of</a:t>
            </a:r>
            <a:r>
              <a:rPr sz="4400" spc="-35" dirty="0"/>
              <a:t> </a:t>
            </a:r>
            <a:r>
              <a:rPr sz="4400" dirty="0"/>
              <a:t>a</a:t>
            </a:r>
            <a:r>
              <a:rPr sz="4400" spc="-30" dirty="0"/>
              <a:t> </a:t>
            </a:r>
            <a:r>
              <a:rPr sz="4400" spc="-10" dirty="0"/>
              <a:t>problem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070607" y="1230630"/>
            <a:ext cx="8027670" cy="4337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problem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formally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defined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5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components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initial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state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agent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starts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in</a:t>
            </a:r>
            <a:endParaRPr sz="1800">
              <a:latin typeface="Calibri"/>
              <a:cs typeface="Calibri"/>
            </a:endParaRPr>
          </a:p>
          <a:p>
            <a:pPr marL="756285" lvl="1" indent="-286385">
              <a:lnSpc>
                <a:spcPts val="1945"/>
              </a:lnSpc>
              <a:buFont typeface="Arial MT"/>
              <a:buChar char="–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description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possible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actions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available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agent.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Given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state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i="1" spc="-25" dirty="0">
                <a:latin typeface="Calibri"/>
                <a:cs typeface="Calibri"/>
              </a:rPr>
              <a:t>s,</a:t>
            </a:r>
            <a:endParaRPr sz="1800">
              <a:latin typeface="Calibri"/>
              <a:cs typeface="Calibri"/>
            </a:endParaRPr>
          </a:p>
          <a:p>
            <a:pPr marL="756285">
              <a:lnSpc>
                <a:spcPts val="1945"/>
              </a:lnSpc>
            </a:pPr>
            <a:r>
              <a:rPr sz="1800" i="1" dirty="0">
                <a:latin typeface="Calibri"/>
                <a:cs typeface="Calibri"/>
              </a:rPr>
              <a:t>ACTION(s)</a:t>
            </a:r>
            <a:r>
              <a:rPr sz="1800" i="1" spc="3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returns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actions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executed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i="1" spc="-50" dirty="0"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  <a:p>
            <a:pPr marL="756285" marR="84455" lvl="1" indent="-287020">
              <a:lnSpc>
                <a:spcPts val="1730"/>
              </a:lnSpc>
              <a:spcBef>
                <a:spcPts val="415"/>
              </a:spcBef>
              <a:buFont typeface="Arial MT"/>
              <a:buChar char="–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description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what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does;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transition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model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specified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function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i="1" spc="-20" dirty="0">
                <a:latin typeface="Calibri"/>
                <a:cs typeface="Calibri"/>
              </a:rPr>
              <a:t>RESULT(s,a)</a:t>
            </a:r>
            <a:r>
              <a:rPr sz="1800" i="1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returns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results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doing </a:t>
            </a:r>
            <a:r>
              <a:rPr sz="1800" dirty="0">
                <a:latin typeface="Calibri"/>
                <a:cs typeface="Calibri"/>
              </a:rPr>
              <a:t>action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reachable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successor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state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i="1" spc="-25" dirty="0">
                <a:latin typeface="Calibri"/>
                <a:cs typeface="Calibri"/>
              </a:rPr>
              <a:t>s</a:t>
            </a:r>
            <a:r>
              <a:rPr sz="1800" spc="-25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5"/>
              </a:spcBef>
              <a:buFont typeface="Arial MT"/>
              <a:buChar char="–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goal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test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determines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whether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not</a:t>
            </a:r>
            <a:endParaRPr sz="1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–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path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cost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assigns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numeric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cost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20" dirty="0">
                <a:latin typeface="Calibri"/>
                <a:cs typeface="Calibri"/>
              </a:rPr>
              <a:t> path</a:t>
            </a:r>
            <a:endParaRPr sz="1800">
              <a:latin typeface="Calibri"/>
              <a:cs typeface="Calibri"/>
            </a:endParaRPr>
          </a:p>
          <a:p>
            <a:pPr marL="756285" marR="5080" lvl="1" indent="-287020">
              <a:lnSpc>
                <a:spcPct val="8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initial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actions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transition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define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state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space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problem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reachable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initial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sequence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actions.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path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state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sequence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connected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dirty="0">
                <a:latin typeface="Calibri"/>
                <a:cs typeface="Calibri"/>
              </a:rPr>
              <a:t>sequence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actions</a:t>
            </a:r>
            <a:endParaRPr sz="1800">
              <a:latin typeface="Calibri"/>
              <a:cs typeface="Calibri"/>
            </a:endParaRPr>
          </a:p>
          <a:p>
            <a:pPr marL="756285" marR="25400" lvl="1" indent="-287020">
              <a:lnSpc>
                <a:spcPct val="8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solution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problem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sequence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actions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leads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initial state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state</a:t>
            </a:r>
            <a:endParaRPr sz="1800">
              <a:latin typeface="Calibri"/>
              <a:cs typeface="Calibri"/>
            </a:endParaRPr>
          </a:p>
          <a:p>
            <a:pPr marL="756285" marR="1157605" lvl="1" indent="-287020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783590" algn="l"/>
              </a:tabLst>
            </a:pPr>
            <a:r>
              <a:rPr sz="1800" dirty="0">
                <a:latin typeface="Calibri"/>
                <a:cs typeface="Calibri"/>
              </a:rPr>
              <a:t>Solution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quality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measured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path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function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	</a:t>
            </a:r>
            <a:r>
              <a:rPr sz="1800" b="1" dirty="0">
                <a:latin typeface="Calibri"/>
                <a:cs typeface="Calibri"/>
              </a:rPr>
              <a:t>optimal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solution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lowest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path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among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solutions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4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89070" y="461899"/>
            <a:ext cx="42132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Example</a:t>
            </a:r>
            <a:r>
              <a:rPr sz="4400" spc="-90" dirty="0"/>
              <a:t> </a:t>
            </a:r>
            <a:r>
              <a:rPr sz="4400" spc="-10" dirty="0"/>
              <a:t>problems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675640" y="1526489"/>
            <a:ext cx="10755630" cy="450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935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68935" algn="l"/>
              </a:tabLst>
            </a:pPr>
            <a:r>
              <a:rPr sz="3000" dirty="0">
                <a:latin typeface="Calibri"/>
                <a:cs typeface="Calibri"/>
              </a:rPr>
              <a:t>We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first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consider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toy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problems</a:t>
            </a:r>
            <a:endParaRPr sz="3000">
              <a:latin typeface="Calibri"/>
              <a:cs typeface="Calibri"/>
            </a:endParaRPr>
          </a:p>
          <a:p>
            <a:pPr marL="368935" indent="-3435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68935" algn="l"/>
              </a:tabLst>
            </a:pPr>
            <a:r>
              <a:rPr sz="3000" dirty="0">
                <a:latin typeface="Calibri"/>
                <a:cs typeface="Calibri"/>
              </a:rPr>
              <a:t>The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vacuum</a:t>
            </a:r>
            <a:r>
              <a:rPr sz="3000" b="1" spc="-5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world</a:t>
            </a:r>
            <a:r>
              <a:rPr sz="3000" b="1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can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be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formulated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follows</a:t>
            </a:r>
            <a:r>
              <a:rPr sz="3000" spc="-50" dirty="0">
                <a:latin typeface="Calibri"/>
                <a:cs typeface="Calibri"/>
              </a:rPr>
              <a:t> :</a:t>
            </a:r>
            <a:endParaRPr sz="3000">
              <a:latin typeface="Calibri"/>
              <a:cs typeface="Calibri"/>
            </a:endParaRPr>
          </a:p>
          <a:p>
            <a:pPr marL="767715" marR="17780" lvl="1" indent="-285750">
              <a:lnSpc>
                <a:spcPct val="80000"/>
              </a:lnSpc>
              <a:spcBef>
                <a:spcPts val="640"/>
              </a:spcBef>
              <a:buFont typeface="Wingdings"/>
              <a:buChar char=""/>
              <a:tabLst>
                <a:tab pos="768985" algn="l"/>
              </a:tabLst>
            </a:pPr>
            <a:r>
              <a:rPr sz="2600" b="1" dirty="0">
                <a:latin typeface="Calibri"/>
                <a:cs typeface="Calibri"/>
              </a:rPr>
              <a:t>State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state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determined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agent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location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dirt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location. 	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agent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two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locations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which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might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might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contain 	</a:t>
            </a:r>
            <a:r>
              <a:rPr sz="2600" dirty="0">
                <a:latin typeface="Calibri"/>
                <a:cs typeface="Calibri"/>
              </a:rPr>
              <a:t>dirt.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there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two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locations,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there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2𝑋2</a:t>
            </a:r>
            <a:r>
              <a:rPr sz="2850" baseline="27777" dirty="0">
                <a:latin typeface="Cambria Math"/>
                <a:cs typeface="Cambria Math"/>
              </a:rPr>
              <a:t>2</a:t>
            </a:r>
            <a:r>
              <a:rPr sz="2850" spc="540" baseline="27777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=</a:t>
            </a:r>
            <a:r>
              <a:rPr sz="2600" spc="95" dirty="0">
                <a:latin typeface="Cambria Math"/>
                <a:cs typeface="Cambria Math"/>
              </a:rPr>
              <a:t> </a:t>
            </a:r>
            <a:r>
              <a:rPr sz="2600" dirty="0">
                <a:latin typeface="Cambria Math"/>
                <a:cs typeface="Cambria Math"/>
              </a:rPr>
              <a:t>8</a:t>
            </a:r>
            <a:r>
              <a:rPr sz="2600" spc="-30" dirty="0">
                <a:latin typeface="Cambria Math"/>
                <a:cs typeface="Cambria Math"/>
              </a:rPr>
              <a:t> </a:t>
            </a:r>
            <a:r>
              <a:rPr sz="2600" spc="-10" dirty="0">
                <a:latin typeface="Calibri"/>
                <a:cs typeface="Calibri"/>
              </a:rPr>
              <a:t>states.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there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n 	</a:t>
            </a:r>
            <a:r>
              <a:rPr sz="2600" dirty="0">
                <a:latin typeface="Calibri"/>
                <a:cs typeface="Calibri"/>
              </a:rPr>
              <a:t>locations,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there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𝑛.</a:t>
            </a:r>
            <a:r>
              <a:rPr sz="2600" spc="-145" dirty="0">
                <a:latin typeface="Cambria Math"/>
                <a:cs typeface="Cambria Math"/>
              </a:rPr>
              <a:t> </a:t>
            </a:r>
            <a:r>
              <a:rPr sz="2600" spc="65" dirty="0">
                <a:latin typeface="Cambria Math"/>
                <a:cs typeface="Cambria Math"/>
              </a:rPr>
              <a:t>2</a:t>
            </a:r>
            <a:r>
              <a:rPr sz="2850" spc="97" baseline="27777" dirty="0">
                <a:latin typeface="Cambria Math"/>
                <a:cs typeface="Cambria Math"/>
              </a:rPr>
              <a:t>𝑛</a:t>
            </a:r>
            <a:r>
              <a:rPr sz="2850" spc="390" baseline="27777" dirty="0">
                <a:latin typeface="Cambria Math"/>
                <a:cs typeface="Cambria Math"/>
              </a:rPr>
              <a:t> </a:t>
            </a:r>
            <a:r>
              <a:rPr sz="2600" spc="-10" dirty="0">
                <a:latin typeface="Calibri"/>
                <a:cs typeface="Calibri"/>
              </a:rPr>
              <a:t>states</a:t>
            </a:r>
            <a:endParaRPr sz="2600">
              <a:latin typeface="Calibri"/>
              <a:cs typeface="Calibri"/>
            </a:endParaRPr>
          </a:p>
          <a:p>
            <a:pPr marL="768350" lvl="1" indent="-285750">
              <a:lnSpc>
                <a:spcPct val="100000"/>
              </a:lnSpc>
              <a:buFont typeface="Wingdings"/>
              <a:buChar char=""/>
              <a:tabLst>
                <a:tab pos="768350" algn="l"/>
              </a:tabLst>
            </a:pPr>
            <a:r>
              <a:rPr sz="2600" b="1" dirty="0">
                <a:latin typeface="Calibri"/>
                <a:cs typeface="Calibri"/>
              </a:rPr>
              <a:t>Initial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state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state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designated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initial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state</a:t>
            </a:r>
            <a:endParaRPr sz="2600">
              <a:latin typeface="Calibri"/>
              <a:cs typeface="Calibri"/>
            </a:endParaRPr>
          </a:p>
          <a:p>
            <a:pPr marL="767715" marR="1254125" lvl="1" indent="-285750">
              <a:lnSpc>
                <a:spcPct val="80000"/>
              </a:lnSpc>
              <a:spcBef>
                <a:spcPts val="625"/>
              </a:spcBef>
              <a:buFont typeface="Wingdings"/>
              <a:buChar char=""/>
              <a:tabLst>
                <a:tab pos="768985" algn="l"/>
              </a:tabLst>
            </a:pPr>
            <a:r>
              <a:rPr sz="2600" b="1" dirty="0">
                <a:latin typeface="Calibri"/>
                <a:cs typeface="Calibri"/>
              </a:rPr>
              <a:t>Actions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Each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state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three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actions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left,</a:t>
            </a:r>
            <a:r>
              <a:rPr sz="2600" i="1" spc="-5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right</a:t>
            </a:r>
            <a:r>
              <a:rPr sz="2600" i="1" spc="-5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and</a:t>
            </a:r>
            <a:r>
              <a:rPr sz="2600" i="1" spc="-5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suck.</a:t>
            </a:r>
            <a:r>
              <a:rPr sz="2600" i="1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Larger 	environments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might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also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have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up,</a:t>
            </a:r>
            <a:r>
              <a:rPr sz="2600" i="1" spc="-55" dirty="0">
                <a:latin typeface="Calibri"/>
                <a:cs typeface="Calibri"/>
              </a:rPr>
              <a:t> </a:t>
            </a:r>
            <a:r>
              <a:rPr sz="2600" i="1" spc="-20" dirty="0">
                <a:latin typeface="Calibri"/>
                <a:cs typeface="Calibri"/>
              </a:rPr>
              <a:t>down</a:t>
            </a:r>
            <a:endParaRPr sz="2600">
              <a:latin typeface="Calibri"/>
              <a:cs typeface="Calibri"/>
            </a:endParaRPr>
          </a:p>
          <a:p>
            <a:pPr marL="768985" lvl="1" indent="-286385">
              <a:lnSpc>
                <a:spcPct val="100000"/>
              </a:lnSpc>
              <a:buFont typeface="Wingdings"/>
              <a:buChar char=""/>
              <a:tabLst>
                <a:tab pos="768985" algn="l"/>
              </a:tabLst>
            </a:pPr>
            <a:r>
              <a:rPr sz="2600" b="1" dirty="0">
                <a:latin typeface="Calibri"/>
                <a:cs typeface="Calibri"/>
              </a:rPr>
              <a:t>Goal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test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:</a:t>
            </a:r>
            <a:r>
              <a:rPr sz="2600" b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checks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whether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squares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clean</a:t>
            </a:r>
            <a:endParaRPr sz="2600">
              <a:latin typeface="Calibri"/>
              <a:cs typeface="Calibri"/>
            </a:endParaRPr>
          </a:p>
          <a:p>
            <a:pPr marL="767715" marR="21590" lvl="1" indent="-285750">
              <a:lnSpc>
                <a:spcPct val="80000"/>
              </a:lnSpc>
              <a:spcBef>
                <a:spcPts val="625"/>
              </a:spcBef>
              <a:buFont typeface="Wingdings"/>
              <a:buChar char=""/>
              <a:tabLst>
                <a:tab pos="768985" algn="l"/>
              </a:tabLst>
            </a:pPr>
            <a:r>
              <a:rPr sz="2600" b="1" dirty="0">
                <a:latin typeface="Calibri"/>
                <a:cs typeface="Calibri"/>
              </a:rPr>
              <a:t>Path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cost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: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Each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step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costs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path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cost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number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steps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	</a:t>
            </a:r>
            <a:r>
              <a:rPr sz="2600" spc="-20" dirty="0">
                <a:latin typeface="Calibri"/>
                <a:cs typeface="Calibri"/>
              </a:rPr>
              <a:t>path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7568" y="1367346"/>
            <a:ext cx="5781213" cy="364508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03014" y="705688"/>
            <a:ext cx="18859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Calibri"/>
                <a:cs typeface="Calibri"/>
              </a:rPr>
              <a:t>Vacuum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World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5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1566417" y="5320029"/>
            <a:ext cx="715645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97025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state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space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vacuum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world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;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Links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denote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actions </a:t>
            </a:r>
            <a:r>
              <a:rPr sz="1800" dirty="0">
                <a:latin typeface="Calibri"/>
                <a:cs typeface="Calibri"/>
              </a:rPr>
              <a:t>L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 left;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3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right;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suck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14"/>
              </a:spcBef>
            </a:pPr>
            <a:r>
              <a:rPr sz="1800" dirty="0">
                <a:latin typeface="Calibri"/>
                <a:cs typeface="Calibri"/>
              </a:rPr>
              <a:t>From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Russel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Norvig,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“Artificial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Intelligence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Modern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Approach”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6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19910" y="683261"/>
            <a:ext cx="873389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351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8-</a:t>
            </a:r>
            <a:r>
              <a:rPr dirty="0"/>
              <a:t>Puzzle</a:t>
            </a:r>
            <a:r>
              <a:rPr spc="-15" dirty="0"/>
              <a:t> </a:t>
            </a:r>
            <a:r>
              <a:rPr spc="-10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54711" y="1603975"/>
            <a:ext cx="8063865" cy="4660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It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consists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X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board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8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numbered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tiles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blank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space</a:t>
            </a:r>
            <a:endParaRPr sz="2200" dirty="0">
              <a:latin typeface="Calibri"/>
              <a:cs typeface="Calibri"/>
            </a:endParaRPr>
          </a:p>
          <a:p>
            <a:pPr marL="419100" indent="-406400">
              <a:lnSpc>
                <a:spcPct val="100000"/>
              </a:lnSpc>
              <a:buFont typeface="Arial MT"/>
              <a:buChar char="•"/>
              <a:tabLst>
                <a:tab pos="419100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tile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adjacent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blank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space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slide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into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space</a:t>
            </a:r>
            <a:endParaRPr sz="2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object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reach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specified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goal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state</a:t>
            </a:r>
            <a:endParaRPr sz="2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standard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formulation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follows</a:t>
            </a:r>
            <a:r>
              <a:rPr sz="2200" spc="-50" dirty="0">
                <a:latin typeface="Calibri"/>
                <a:cs typeface="Calibri"/>
              </a:rPr>
              <a:t> :</a:t>
            </a:r>
            <a:endParaRPr sz="2200" dirty="0">
              <a:latin typeface="Calibri"/>
              <a:cs typeface="Calibri"/>
            </a:endParaRPr>
          </a:p>
          <a:p>
            <a:pPr marL="756285" marR="819785" lvl="1" indent="-287020">
              <a:lnSpc>
                <a:spcPts val="1920"/>
              </a:lnSpc>
              <a:spcBef>
                <a:spcPts val="475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b="1" dirty="0">
                <a:latin typeface="Calibri"/>
                <a:cs typeface="Calibri"/>
              </a:rPr>
              <a:t>States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description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specifies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location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specified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tiles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blank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nine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squares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b="1" dirty="0">
                <a:latin typeface="Calibri"/>
                <a:cs typeface="Calibri"/>
              </a:rPr>
              <a:t>Initial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State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designated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initial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</a:t>
            </a:r>
            <a:endParaRPr sz="2000" dirty="0">
              <a:latin typeface="Calibri"/>
              <a:cs typeface="Calibri"/>
            </a:endParaRPr>
          </a:p>
          <a:p>
            <a:pPr marL="756285" marR="255904" lvl="1" indent="-287020">
              <a:lnSpc>
                <a:spcPct val="80000"/>
              </a:lnSpc>
              <a:spcBef>
                <a:spcPts val="480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b="1" dirty="0">
                <a:latin typeface="Calibri"/>
                <a:cs typeface="Calibri"/>
              </a:rPr>
              <a:t>Actions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These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defined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movements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blank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space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left, </a:t>
            </a:r>
            <a:r>
              <a:rPr sz="2000" b="1" i="1" dirty="0">
                <a:latin typeface="Calibri"/>
                <a:cs typeface="Calibri"/>
              </a:rPr>
              <a:t>right,</a:t>
            </a:r>
            <a:r>
              <a:rPr sz="2000" b="1" i="1" spc="-7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up</a:t>
            </a:r>
            <a:r>
              <a:rPr sz="2000" b="1" i="1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down.</a:t>
            </a:r>
            <a:r>
              <a:rPr sz="2000" b="1" i="1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Different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subsets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these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possible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depending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blank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</a:t>
            </a:r>
            <a:endParaRPr sz="2000" dirty="0">
              <a:latin typeface="Calibri"/>
              <a:cs typeface="Calibri"/>
            </a:endParaRPr>
          </a:p>
          <a:p>
            <a:pPr marL="756285" marR="356235" lvl="1" indent="-287020">
              <a:lnSpc>
                <a:spcPct val="80000"/>
              </a:lnSpc>
              <a:spcBef>
                <a:spcPts val="480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b="1" spc="-10" dirty="0">
                <a:latin typeface="Calibri"/>
                <a:cs typeface="Calibri"/>
              </a:rPr>
              <a:t>Transition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model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Given</a:t>
            </a:r>
            <a:r>
              <a:rPr sz="2000" spc="3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returns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resulting state.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ts val="2160"/>
              </a:lnSpc>
              <a:buFont typeface="Wingdings"/>
              <a:buChar char=""/>
              <a:tabLst>
                <a:tab pos="756285" algn="l"/>
              </a:tabLst>
            </a:pPr>
            <a:r>
              <a:rPr sz="2000" b="1" dirty="0">
                <a:latin typeface="Calibri"/>
                <a:cs typeface="Calibri"/>
              </a:rPr>
              <a:t>Goal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35" dirty="0">
                <a:latin typeface="Calibri"/>
                <a:cs typeface="Calibri"/>
              </a:rPr>
              <a:t>Test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checks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whether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matches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goal</a:t>
            </a:r>
            <a:endParaRPr sz="2000" dirty="0">
              <a:latin typeface="Calibri"/>
              <a:cs typeface="Calibri"/>
            </a:endParaRPr>
          </a:p>
          <a:p>
            <a:pPr marL="756285">
              <a:lnSpc>
                <a:spcPts val="2160"/>
              </a:lnSpc>
            </a:pPr>
            <a:r>
              <a:rPr sz="2000" spc="-10" dirty="0">
                <a:latin typeface="Calibri"/>
                <a:cs typeface="Calibri"/>
              </a:rPr>
              <a:t>configuration</a:t>
            </a:r>
            <a:endParaRPr sz="2000" dirty="0">
              <a:latin typeface="Calibri"/>
              <a:cs typeface="Calibri"/>
            </a:endParaRPr>
          </a:p>
          <a:p>
            <a:pPr marL="756285" marR="5080" lvl="1" indent="-287020">
              <a:lnSpc>
                <a:spcPts val="1920"/>
              </a:lnSpc>
              <a:spcBef>
                <a:spcPts val="465"/>
              </a:spcBef>
              <a:buFont typeface="Wingdings"/>
              <a:buChar char=""/>
              <a:tabLst>
                <a:tab pos="756285" algn="l"/>
              </a:tabLst>
            </a:pPr>
            <a:r>
              <a:rPr sz="2000" b="1" dirty="0">
                <a:latin typeface="Calibri"/>
                <a:cs typeface="Calibri"/>
              </a:rPr>
              <a:t>Path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Cost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step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steps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in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path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32926" y="683261"/>
            <a:ext cx="8620874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2455">
              <a:lnSpc>
                <a:spcPct val="100000"/>
              </a:lnSpc>
              <a:spcBef>
                <a:spcPts val="95"/>
              </a:spcBef>
            </a:pPr>
            <a:r>
              <a:rPr dirty="0"/>
              <a:t>8</a:t>
            </a:r>
            <a:r>
              <a:rPr spc="-75" dirty="0"/>
              <a:t> </a:t>
            </a:r>
            <a:r>
              <a:rPr dirty="0"/>
              <a:t>puzzle</a:t>
            </a:r>
            <a:r>
              <a:rPr spc="-100" dirty="0"/>
              <a:t> </a:t>
            </a:r>
            <a:r>
              <a:rPr dirty="0"/>
              <a:t>problem</a:t>
            </a:r>
            <a:r>
              <a:rPr spc="-75" dirty="0"/>
              <a:t> </a:t>
            </a:r>
            <a:r>
              <a:rPr spc="-10" dirty="0"/>
              <a:t>(contd.)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3485" y="1671002"/>
            <a:ext cx="7145030" cy="266395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956303" y="4530852"/>
            <a:ext cx="140335" cy="15240"/>
          </a:xfrm>
          <a:custGeom>
            <a:avLst/>
            <a:gdLst/>
            <a:ahLst/>
            <a:cxnLst/>
            <a:rect l="l" t="t" r="r" b="b"/>
            <a:pathLst>
              <a:path w="140335" h="15239">
                <a:moveTo>
                  <a:pt x="140208" y="0"/>
                </a:moveTo>
                <a:lnTo>
                  <a:pt x="0" y="0"/>
                </a:lnTo>
                <a:lnTo>
                  <a:pt x="0" y="15240"/>
                </a:lnTo>
                <a:lnTo>
                  <a:pt x="140208" y="15240"/>
                </a:lnTo>
                <a:lnTo>
                  <a:pt x="1402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10212" y="4261737"/>
            <a:ext cx="8846185" cy="252603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093470" indent="-28638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1093470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puzzle belongs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3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family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sliding-</a:t>
            </a:r>
            <a:r>
              <a:rPr sz="1800" dirty="0">
                <a:latin typeface="Calibri"/>
                <a:cs typeface="Calibri"/>
              </a:rPr>
              <a:t>block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puzzles</a:t>
            </a:r>
            <a:endParaRPr sz="1800">
              <a:latin typeface="Calibri"/>
              <a:cs typeface="Calibri"/>
            </a:endParaRPr>
          </a:p>
          <a:p>
            <a:pPr marL="1093470" indent="-286385">
              <a:lnSpc>
                <a:spcPts val="1780"/>
              </a:lnSpc>
              <a:spcBef>
                <a:spcPts val="515"/>
              </a:spcBef>
              <a:buFont typeface="Arial MT"/>
              <a:buChar char="•"/>
              <a:tabLst>
                <a:tab pos="1093470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8-</a:t>
            </a:r>
            <a:r>
              <a:rPr sz="1800" dirty="0">
                <a:latin typeface="Calibri"/>
                <a:cs typeface="Calibri"/>
              </a:rPr>
              <a:t>puzzle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950" baseline="44871" dirty="0">
                <a:latin typeface="Cambria Math"/>
                <a:cs typeface="Cambria Math"/>
              </a:rPr>
              <a:t>9!</a:t>
            </a:r>
            <a:r>
              <a:rPr sz="1950" spc="240" baseline="44871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181,440</a:t>
            </a:r>
            <a:r>
              <a:rPr sz="1800" spc="-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libri"/>
                <a:cs typeface="Calibri"/>
              </a:rPr>
              <a:t>reachable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easily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solved</a:t>
            </a:r>
            <a:endParaRPr sz="1800">
              <a:latin typeface="Calibri"/>
              <a:cs typeface="Calibri"/>
            </a:endParaRPr>
          </a:p>
          <a:p>
            <a:pPr marL="2712085">
              <a:lnSpc>
                <a:spcPts val="994"/>
              </a:lnSpc>
            </a:pPr>
            <a:r>
              <a:rPr sz="1300" spc="-50" dirty="0">
                <a:latin typeface="Cambria Math"/>
                <a:cs typeface="Cambria Math"/>
              </a:rPr>
              <a:t>2</a:t>
            </a:r>
            <a:endParaRPr sz="1300">
              <a:latin typeface="Cambria Math"/>
              <a:cs typeface="Cambria Math"/>
            </a:endParaRPr>
          </a:p>
          <a:p>
            <a:pPr marL="1093470" indent="-286385">
              <a:lnSpc>
                <a:spcPts val="1975"/>
              </a:lnSpc>
              <a:buFont typeface="Arial MT"/>
              <a:buChar char="•"/>
              <a:tabLst>
                <a:tab pos="1093470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15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puzzle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4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X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4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board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around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1.3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trillion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random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instances</a:t>
            </a:r>
            <a:endParaRPr sz="1800">
              <a:latin typeface="Calibri"/>
              <a:cs typeface="Calibri"/>
            </a:endParaRPr>
          </a:p>
          <a:p>
            <a:pPr marL="112077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can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solved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optimally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few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milliseconds</a:t>
            </a:r>
            <a:endParaRPr sz="1800">
              <a:latin typeface="Calibri"/>
              <a:cs typeface="Calibri"/>
            </a:endParaRPr>
          </a:p>
          <a:p>
            <a:pPr marL="1093470" marR="167005" indent="-287020">
              <a:lnSpc>
                <a:spcPts val="2150"/>
              </a:lnSpc>
              <a:spcBef>
                <a:spcPts val="120"/>
              </a:spcBef>
              <a:buFont typeface="Arial MT"/>
              <a:buChar char="•"/>
              <a:tabLst>
                <a:tab pos="112077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24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puzzle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X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board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around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10</a:t>
            </a:r>
            <a:r>
              <a:rPr sz="1950" baseline="27777" dirty="0">
                <a:latin typeface="Cambria Math"/>
                <a:cs typeface="Cambria Math"/>
              </a:rPr>
              <a:t>25</a:t>
            </a:r>
            <a:r>
              <a:rPr sz="1950" spc="247" baseline="27777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libri"/>
                <a:cs typeface="Calibri"/>
              </a:rPr>
              <a:t>states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random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instances</a:t>
            </a:r>
            <a:r>
              <a:rPr sz="1800" spc="-20" dirty="0">
                <a:latin typeface="Calibri"/>
                <a:cs typeface="Calibri"/>
              </a:rPr>
              <a:t> take 	</a:t>
            </a:r>
            <a:r>
              <a:rPr sz="1800" dirty="0">
                <a:latin typeface="Calibri"/>
                <a:cs typeface="Calibri"/>
              </a:rPr>
              <a:t>several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hours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solve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optimally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8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Figure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Russel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Norvig,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“Artificial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Intelligence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Modern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Approach”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63748" y="683261"/>
            <a:ext cx="859005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5725">
              <a:lnSpc>
                <a:spcPct val="100000"/>
              </a:lnSpc>
              <a:spcBef>
                <a:spcPts val="95"/>
              </a:spcBef>
            </a:pPr>
            <a:r>
              <a:rPr dirty="0"/>
              <a:t>8</a:t>
            </a:r>
            <a:r>
              <a:rPr spc="-30" dirty="0"/>
              <a:t> </a:t>
            </a:r>
            <a:r>
              <a:rPr dirty="0"/>
              <a:t>queens</a:t>
            </a:r>
            <a:r>
              <a:rPr spc="-15" dirty="0"/>
              <a:t> </a:t>
            </a:r>
            <a:r>
              <a:rPr spc="-10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9000" y="1507127"/>
            <a:ext cx="7874000" cy="236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36854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8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queens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place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8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queens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chessboard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attacks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other</a:t>
            </a:r>
            <a:endParaRPr sz="24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queen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attacks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55" dirty="0">
                <a:latin typeface="Calibri"/>
                <a:cs typeface="Calibri"/>
              </a:rPr>
              <a:t> row, </a:t>
            </a:r>
            <a:r>
              <a:rPr sz="2400" dirty="0">
                <a:latin typeface="Calibri"/>
                <a:cs typeface="Calibri"/>
              </a:rPr>
              <a:t>column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 </a:t>
            </a:r>
            <a:r>
              <a:rPr sz="2400" spc="-10" dirty="0">
                <a:latin typeface="Calibri"/>
                <a:cs typeface="Calibri"/>
              </a:rPr>
              <a:t>diagonal</a:t>
            </a:r>
            <a:endParaRPr sz="2400" dirty="0">
              <a:latin typeface="Calibri"/>
              <a:cs typeface="Calibri"/>
            </a:endParaRPr>
          </a:p>
          <a:p>
            <a:pPr marL="355600" marR="8255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Figure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shows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attempted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fails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;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rightmost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column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attacked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left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6142" y="3910044"/>
            <a:ext cx="6739422" cy="276530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401170" y="6426504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9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36360" y="683261"/>
            <a:ext cx="811744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3395">
              <a:lnSpc>
                <a:spcPct val="100000"/>
              </a:lnSpc>
              <a:spcBef>
                <a:spcPts val="95"/>
              </a:spcBef>
            </a:pPr>
            <a:r>
              <a:rPr dirty="0"/>
              <a:t>8</a:t>
            </a:r>
            <a:r>
              <a:rPr spc="-85" dirty="0"/>
              <a:t> </a:t>
            </a:r>
            <a:r>
              <a:rPr dirty="0"/>
              <a:t>queens</a:t>
            </a:r>
            <a:r>
              <a:rPr spc="-85" dirty="0"/>
              <a:t> </a:t>
            </a:r>
            <a:r>
              <a:rPr dirty="0"/>
              <a:t>Problem</a:t>
            </a:r>
            <a:r>
              <a:rPr spc="-85" dirty="0"/>
              <a:t> </a:t>
            </a:r>
            <a:r>
              <a:rPr spc="-10" dirty="0"/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0665" y="1605660"/>
            <a:ext cx="7900034" cy="2306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ts val="2375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Although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special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purpose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algorithms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exist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problem,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a</a:t>
            </a:r>
            <a:endParaRPr sz="2200" dirty="0">
              <a:latin typeface="Calibri"/>
              <a:cs typeface="Calibri"/>
            </a:endParaRPr>
          </a:p>
          <a:p>
            <a:pPr marL="355600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useful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test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problem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search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algorithms</a:t>
            </a:r>
            <a:endParaRPr sz="2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There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two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kinds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formulations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:</a:t>
            </a:r>
            <a:endParaRPr sz="2200" dirty="0">
              <a:latin typeface="Calibri"/>
              <a:cs typeface="Calibri"/>
            </a:endParaRPr>
          </a:p>
          <a:p>
            <a:pPr marL="984885" marR="92710" lvl="1" indent="-515620">
              <a:lnSpc>
                <a:spcPct val="80000"/>
              </a:lnSpc>
              <a:spcBef>
                <a:spcPts val="490"/>
              </a:spcBef>
              <a:buAutoNum type="alphaLcPeriod"/>
              <a:tabLst>
                <a:tab pos="984885" algn="l"/>
              </a:tabLst>
            </a:pPr>
            <a:r>
              <a:rPr sz="2000" dirty="0">
                <a:latin typeface="Calibri"/>
                <a:cs typeface="Calibri"/>
              </a:rPr>
              <a:t>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incremental</a:t>
            </a:r>
            <a:r>
              <a:rPr sz="2000" b="1" i="1" spc="-65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formulation</a:t>
            </a:r>
            <a:r>
              <a:rPr sz="2000" b="1" i="1" spc="-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involves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operators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augment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state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description,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starting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empty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state.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action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adds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queen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state</a:t>
            </a:r>
            <a:endParaRPr sz="2000" dirty="0">
              <a:latin typeface="Calibri"/>
              <a:cs typeface="Calibri"/>
            </a:endParaRPr>
          </a:p>
          <a:p>
            <a:pPr marL="984885" marR="5080" lvl="1" indent="-515620">
              <a:lnSpc>
                <a:spcPts val="1920"/>
              </a:lnSpc>
              <a:spcBef>
                <a:spcPts val="465"/>
              </a:spcBef>
              <a:buAutoNum type="alphaLcPeriod"/>
              <a:tabLst>
                <a:tab pos="98488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complete</a:t>
            </a:r>
            <a:r>
              <a:rPr sz="2000" b="1" i="1" spc="-6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state</a:t>
            </a:r>
            <a:r>
              <a:rPr sz="2000" b="1" i="1" spc="-6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formulation</a:t>
            </a:r>
            <a:r>
              <a:rPr sz="2000" b="1" i="1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starts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8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queens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board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moves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around.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59622" y="3912615"/>
            <a:ext cx="68021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path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cost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interest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only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final</a:t>
            </a:r>
            <a:r>
              <a:rPr sz="2200" spc="4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state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counts.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incremental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formulation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following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9347" y="4670170"/>
            <a:ext cx="7393305" cy="1794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05"/>
              </a:spcBef>
              <a:buFont typeface="Arial MT"/>
              <a:buChar char="–"/>
              <a:tabLst>
                <a:tab pos="527685" algn="l"/>
              </a:tabLst>
            </a:pPr>
            <a:r>
              <a:rPr sz="2000" b="1" dirty="0">
                <a:latin typeface="Calibri"/>
                <a:cs typeface="Calibri"/>
              </a:rPr>
              <a:t>States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arrangement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8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queens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board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</a:t>
            </a:r>
            <a:endParaRPr sz="2000" dirty="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buFont typeface="Arial MT"/>
              <a:buChar char="–"/>
              <a:tabLst>
                <a:tab pos="527685" algn="l"/>
              </a:tabLst>
            </a:pPr>
            <a:r>
              <a:rPr sz="2000" b="1" dirty="0">
                <a:latin typeface="Calibri"/>
                <a:cs typeface="Calibri"/>
              </a:rPr>
              <a:t>Initial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State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board</a:t>
            </a:r>
            <a:endParaRPr sz="2000" dirty="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buFont typeface="Arial MT"/>
              <a:buChar char="–"/>
              <a:tabLst>
                <a:tab pos="527685" algn="l"/>
              </a:tabLst>
            </a:pPr>
            <a:r>
              <a:rPr sz="2000" b="1" dirty="0">
                <a:latin typeface="Calibri"/>
                <a:cs typeface="Calibri"/>
              </a:rPr>
              <a:t>Actions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empty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square</a:t>
            </a:r>
            <a:endParaRPr sz="2000" dirty="0">
              <a:latin typeface="Calibri"/>
              <a:cs typeface="Calibri"/>
            </a:endParaRPr>
          </a:p>
          <a:p>
            <a:pPr marL="527685" marR="5080" indent="-515620">
              <a:lnSpc>
                <a:spcPct val="80000"/>
              </a:lnSpc>
              <a:spcBef>
                <a:spcPts val="480"/>
              </a:spcBef>
              <a:buFont typeface="Arial MT"/>
              <a:buChar char="–"/>
              <a:tabLst>
                <a:tab pos="527685" algn="l"/>
              </a:tabLst>
            </a:pPr>
            <a:r>
              <a:rPr sz="2000" b="1" spc="-10" dirty="0">
                <a:latin typeface="Calibri"/>
                <a:cs typeface="Calibri"/>
              </a:rPr>
              <a:t>Transition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Model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Returns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board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queen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specified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square</a:t>
            </a:r>
            <a:endParaRPr sz="2000" dirty="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buFont typeface="Arial MT"/>
              <a:buChar char="–"/>
              <a:tabLst>
                <a:tab pos="527685" algn="l"/>
              </a:tabLst>
            </a:pPr>
            <a:r>
              <a:rPr sz="2000" b="1" dirty="0">
                <a:latin typeface="Calibri"/>
                <a:cs typeface="Calibri"/>
              </a:rPr>
              <a:t>Goal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test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8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queens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board,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none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attacked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10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77848" y="284989"/>
            <a:ext cx="5982601" cy="7116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8</a:t>
            </a:r>
            <a:r>
              <a:rPr spc="-85" dirty="0"/>
              <a:t> </a:t>
            </a:r>
            <a:r>
              <a:rPr dirty="0"/>
              <a:t>queens</a:t>
            </a:r>
            <a:r>
              <a:rPr spc="-85" dirty="0"/>
              <a:t> </a:t>
            </a:r>
            <a:r>
              <a:rPr dirty="0"/>
              <a:t>Problem</a:t>
            </a:r>
            <a:r>
              <a:rPr spc="-85" dirty="0"/>
              <a:t> </a:t>
            </a:r>
            <a:r>
              <a:rPr spc="-10" dirty="0"/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89785" y="1480946"/>
            <a:ext cx="8012430" cy="5092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indent="-342265" algn="just">
              <a:lnSpc>
                <a:spcPts val="2915"/>
              </a:lnSpc>
              <a:spcBef>
                <a:spcPts val="100"/>
              </a:spcBef>
              <a:buFont typeface="Arial MT"/>
              <a:buChar char="•"/>
              <a:tabLst>
                <a:tab pos="367665" algn="l"/>
              </a:tabLst>
            </a:pPr>
            <a:r>
              <a:rPr sz="2700" dirty="0">
                <a:latin typeface="Calibri"/>
                <a:cs typeface="Calibri"/>
              </a:rPr>
              <a:t>In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this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formulation,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have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64𝑋63𝑋</a:t>
            </a:r>
            <a:r>
              <a:rPr sz="2000" spc="-7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…</a:t>
            </a:r>
            <a:r>
              <a:rPr sz="2000" spc="-114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57</a:t>
            </a:r>
            <a:r>
              <a:rPr sz="2000" spc="9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≈</a:t>
            </a:r>
            <a:r>
              <a:rPr sz="2000" spc="75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1.8𝑋10</a:t>
            </a:r>
            <a:r>
              <a:rPr sz="2175" spc="-15" baseline="28735" dirty="0">
                <a:latin typeface="Cambria Math"/>
                <a:cs typeface="Cambria Math"/>
              </a:rPr>
              <a:t>14</a:t>
            </a:r>
            <a:endParaRPr sz="2175" baseline="28735" dirty="0">
              <a:latin typeface="Cambria Math"/>
              <a:cs typeface="Cambria Math"/>
            </a:endParaRPr>
          </a:p>
          <a:p>
            <a:pPr marL="368300" algn="just">
              <a:lnSpc>
                <a:spcPts val="2915"/>
              </a:lnSpc>
            </a:pPr>
            <a:r>
              <a:rPr sz="2700" dirty="0">
                <a:latin typeface="Calibri"/>
                <a:cs typeface="Calibri"/>
              </a:rPr>
              <a:t>possible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sequences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investigate</a:t>
            </a:r>
            <a:endParaRPr sz="2700" dirty="0">
              <a:latin typeface="Calibri"/>
              <a:cs typeface="Calibri"/>
            </a:endParaRPr>
          </a:p>
          <a:p>
            <a:pPr marL="368300" marR="59055" indent="-342900" algn="just">
              <a:lnSpc>
                <a:spcPct val="80000"/>
              </a:lnSpc>
              <a:spcBef>
                <a:spcPts val="650"/>
              </a:spcBef>
              <a:buFont typeface="Arial MT"/>
              <a:buChar char="•"/>
              <a:tabLst>
                <a:tab pos="368300" algn="l"/>
              </a:tabLst>
            </a:pPr>
            <a:r>
              <a:rPr sz="2700" dirty="0">
                <a:latin typeface="Calibri"/>
                <a:cs typeface="Calibri"/>
              </a:rPr>
              <a:t>A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better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formulation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would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prohibit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placing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queen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in </a:t>
            </a:r>
            <a:r>
              <a:rPr sz="2700" dirty="0">
                <a:latin typeface="Calibri"/>
                <a:cs typeface="Calibri"/>
              </a:rPr>
              <a:t>any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square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already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attacked</a:t>
            </a:r>
            <a:endParaRPr sz="2700" dirty="0">
              <a:latin typeface="Calibri"/>
              <a:cs typeface="Calibri"/>
            </a:endParaRPr>
          </a:p>
          <a:p>
            <a:pPr marL="767715" marR="205740" lvl="1" indent="-285750" algn="just">
              <a:lnSpc>
                <a:spcPct val="80000"/>
              </a:lnSpc>
              <a:spcBef>
                <a:spcPts val="585"/>
              </a:spcBef>
              <a:buFont typeface="Wingdings"/>
              <a:buChar char=""/>
              <a:tabLst>
                <a:tab pos="768985" algn="l"/>
              </a:tabLst>
            </a:pPr>
            <a:r>
              <a:rPr sz="2400" b="1" dirty="0">
                <a:latin typeface="Calibri"/>
                <a:cs typeface="Calibri"/>
              </a:rPr>
              <a:t>States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possible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arrangements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queens</a:t>
            </a:r>
            <a:r>
              <a:rPr sz="2400" spc="47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(0</a:t>
            </a:r>
            <a:r>
              <a:rPr sz="2400" spc="9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≤</a:t>
            </a:r>
            <a:r>
              <a:rPr sz="2400" spc="9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𝑛</a:t>
            </a:r>
            <a:r>
              <a:rPr sz="2400" spc="14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≤ 	</a:t>
            </a:r>
            <a:r>
              <a:rPr sz="2400" dirty="0">
                <a:latin typeface="Cambria Math"/>
                <a:cs typeface="Cambria Math"/>
              </a:rPr>
              <a:t>8)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column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leftmost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310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columns,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25" dirty="0">
                <a:latin typeface="Calibri"/>
                <a:cs typeface="Calibri"/>
              </a:rPr>
              <a:t> no 	</a:t>
            </a:r>
            <a:r>
              <a:rPr sz="2400" dirty="0">
                <a:latin typeface="Calibri"/>
                <a:cs typeface="Calibri"/>
              </a:rPr>
              <a:t>queen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attacking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another</a:t>
            </a:r>
            <a:endParaRPr sz="2400" dirty="0">
              <a:latin typeface="Calibri"/>
              <a:cs typeface="Calibri"/>
            </a:endParaRPr>
          </a:p>
          <a:p>
            <a:pPr marL="767715" marR="17780" lvl="1" indent="-285750" algn="just">
              <a:lnSpc>
                <a:spcPts val="2300"/>
              </a:lnSpc>
              <a:spcBef>
                <a:spcPts val="565"/>
              </a:spcBef>
              <a:buFont typeface="Wingdings"/>
              <a:buChar char=""/>
              <a:tabLst>
                <a:tab pos="768985" algn="l"/>
              </a:tabLst>
            </a:pPr>
            <a:r>
              <a:rPr sz="2400" b="1" dirty="0">
                <a:latin typeface="Calibri"/>
                <a:cs typeface="Calibri"/>
              </a:rPr>
              <a:t>Actions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square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leftmost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empty 	</a:t>
            </a:r>
            <a:r>
              <a:rPr sz="2400" dirty="0">
                <a:latin typeface="Calibri"/>
                <a:cs typeface="Calibri"/>
              </a:rPr>
              <a:t>column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attacked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queen</a:t>
            </a:r>
            <a:endParaRPr sz="2400" dirty="0">
              <a:latin typeface="Calibri"/>
              <a:cs typeface="Calibri"/>
            </a:endParaRPr>
          </a:p>
          <a:p>
            <a:pPr marL="367665" indent="-34226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367665" algn="l"/>
              </a:tabLst>
            </a:pPr>
            <a:r>
              <a:rPr sz="2700" dirty="0">
                <a:latin typeface="Calibri"/>
                <a:cs typeface="Calibri"/>
              </a:rPr>
              <a:t>This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formulation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reduces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state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space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from</a:t>
            </a:r>
            <a:endParaRPr sz="2700" dirty="0">
              <a:latin typeface="Calibri"/>
              <a:cs typeface="Calibri"/>
            </a:endParaRPr>
          </a:p>
          <a:p>
            <a:pPr marL="413384" marR="1106805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1.8X</a:t>
            </a:r>
            <a:r>
              <a:rPr sz="2400" dirty="0">
                <a:latin typeface="Cambria Math"/>
                <a:cs typeface="Cambria Math"/>
              </a:rPr>
              <a:t>10</a:t>
            </a:r>
            <a:r>
              <a:rPr sz="2625" baseline="28571" dirty="0">
                <a:latin typeface="Cambria Math"/>
                <a:cs typeface="Cambria Math"/>
              </a:rPr>
              <a:t>14</a:t>
            </a:r>
            <a:r>
              <a:rPr sz="2625" spc="405" baseline="28571" dirty="0">
                <a:latin typeface="Cambria Math"/>
                <a:cs typeface="Cambria Math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just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2057</a:t>
            </a:r>
            <a:r>
              <a:rPr sz="2700" dirty="0">
                <a:latin typeface="Calibri"/>
                <a:cs typeface="Calibri"/>
              </a:rPr>
              <a:t>,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solutions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are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easy</a:t>
            </a:r>
            <a:r>
              <a:rPr sz="2700" spc="53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to </a:t>
            </a:r>
            <a:r>
              <a:rPr sz="2700" spc="-20" dirty="0">
                <a:latin typeface="Calibri"/>
                <a:cs typeface="Calibri"/>
              </a:rPr>
              <a:t>find</a:t>
            </a:r>
            <a:endParaRPr sz="2700" dirty="0">
              <a:latin typeface="Calibri"/>
              <a:cs typeface="Calibri"/>
            </a:endParaRPr>
          </a:p>
          <a:p>
            <a:pPr marL="367665" indent="-342265">
              <a:lnSpc>
                <a:spcPts val="2915"/>
              </a:lnSpc>
              <a:spcBef>
                <a:spcPts val="5"/>
              </a:spcBef>
              <a:buFont typeface="Arial MT"/>
              <a:buChar char="•"/>
              <a:tabLst>
                <a:tab pos="367665" algn="l"/>
              </a:tabLst>
            </a:pPr>
            <a:r>
              <a:rPr sz="2700" dirty="0">
                <a:latin typeface="Calibri"/>
                <a:cs typeface="Calibri"/>
              </a:rPr>
              <a:t>For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100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queens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reduction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from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roughly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mbria Math"/>
                <a:cs typeface="Cambria Math"/>
              </a:rPr>
              <a:t>10</a:t>
            </a:r>
            <a:r>
              <a:rPr sz="2625" spc="-15" baseline="28571" dirty="0">
                <a:latin typeface="Cambria Math"/>
                <a:cs typeface="Cambria Math"/>
              </a:rPr>
              <a:t>400</a:t>
            </a:r>
            <a:endParaRPr sz="2625" baseline="28571" dirty="0">
              <a:latin typeface="Cambria Math"/>
              <a:cs typeface="Cambria Math"/>
            </a:endParaRPr>
          </a:p>
          <a:p>
            <a:pPr marL="368300">
              <a:lnSpc>
                <a:spcPts val="2915"/>
              </a:lnSpc>
            </a:pPr>
            <a:r>
              <a:rPr sz="2700" spc="-10" dirty="0">
                <a:latin typeface="Calibri"/>
                <a:cs typeface="Calibri"/>
              </a:rPr>
              <a:t>states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about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10</a:t>
            </a:r>
            <a:r>
              <a:rPr sz="2625" baseline="28571" dirty="0">
                <a:latin typeface="Cambria Math"/>
                <a:cs typeface="Cambria Math"/>
              </a:rPr>
              <a:t>52</a:t>
            </a:r>
            <a:r>
              <a:rPr sz="2625" spc="434" baseline="28571" dirty="0">
                <a:latin typeface="Cambria Math"/>
                <a:cs typeface="Cambria Math"/>
              </a:rPr>
              <a:t> </a:t>
            </a:r>
            <a:r>
              <a:rPr sz="2700" spc="-10" dirty="0">
                <a:latin typeface="Calibri"/>
                <a:cs typeface="Calibri"/>
              </a:rPr>
              <a:t>states</a:t>
            </a:r>
            <a:endParaRPr sz="27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74314" y="461899"/>
            <a:ext cx="56432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Cryptarithmetic</a:t>
            </a:r>
            <a:r>
              <a:rPr sz="4400" spc="-190" dirty="0"/>
              <a:t> </a:t>
            </a:r>
            <a:r>
              <a:rPr sz="4400" spc="-10" dirty="0"/>
              <a:t>problem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688340" y="1607261"/>
            <a:ext cx="55651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330" algn="l"/>
              </a:tabLst>
            </a:pPr>
            <a:r>
              <a:rPr sz="3200" spc="-10" dirty="0">
                <a:latin typeface="Calibri"/>
                <a:cs typeface="Calibri"/>
              </a:rPr>
              <a:t>Constraint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Satisfaction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Problem</a:t>
            </a:r>
            <a:endParaRPr sz="32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69290" y="2212657"/>
          <a:ext cx="6049009" cy="1850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3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91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marL="342265" marR="45720" indent="-342265" algn="r">
                        <a:lnSpc>
                          <a:spcPts val="3790"/>
                        </a:lnSpc>
                        <a:buFont typeface="Arial MT"/>
                        <a:buChar char="•"/>
                        <a:tabLst>
                          <a:tab pos="342265" algn="l"/>
                        </a:tabLst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Eg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3025" algn="r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FORTY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0" marB="0"/>
                </a:tc>
                <a:tc>
                  <a:txBody>
                    <a:bodyPr/>
                    <a:lstStyle/>
                    <a:p>
                      <a:pPr marL="49403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Solution: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29786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0" marB="0"/>
                </a:tc>
                <a:tc>
                  <a:txBody>
                    <a:bodyPr/>
                    <a:lstStyle/>
                    <a:p>
                      <a:pPr marL="731520"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F=2,O=9,R=7,T=8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145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565">
                <a:tc>
                  <a:txBody>
                    <a:bodyPr/>
                    <a:lstStyle/>
                    <a:p>
                      <a:pPr marR="41275" algn="r">
                        <a:lnSpc>
                          <a:spcPts val="211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+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6360" algn="r">
                        <a:lnSpc>
                          <a:spcPts val="211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TEN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07440">
                        <a:lnSpc>
                          <a:spcPts val="2110"/>
                        </a:lnSpc>
                        <a:tabLst>
                          <a:tab pos="1536700" algn="l"/>
                        </a:tabLst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850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7060">
                        <a:lnSpc>
                          <a:spcPts val="211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Y=6,E=5,N=0,S=3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030">
                <a:tc>
                  <a:txBody>
                    <a:bodyPr/>
                    <a:lstStyle/>
                    <a:p>
                      <a:pPr marR="41275" algn="r">
                        <a:lnSpc>
                          <a:spcPts val="2105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+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6360" algn="r">
                        <a:lnSpc>
                          <a:spcPts val="2105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TEN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pPr marL="1109345">
                        <a:lnSpc>
                          <a:spcPts val="2105"/>
                        </a:lnSpc>
                        <a:tabLst>
                          <a:tab pos="1537970" algn="l"/>
                        </a:tabLst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850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1670">
                        <a:lnSpc>
                          <a:spcPts val="2105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I=1,X=4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SIXTY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6845" marB="0">
                    <a:lnT w="19050">
                      <a:solidFill>
                        <a:srgbClr val="000000"/>
                      </a:solidFill>
                      <a:prstDash val="dash"/>
                    </a:lnT>
                  </a:tcPr>
                </a:tc>
                <a:tc>
                  <a:txBody>
                    <a:bodyPr/>
                    <a:lstStyle/>
                    <a:p>
                      <a:pPr marL="1283335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31486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568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3478021" y="3589618"/>
            <a:ext cx="911860" cy="0"/>
          </a:xfrm>
          <a:custGeom>
            <a:avLst/>
            <a:gdLst/>
            <a:ahLst/>
            <a:cxnLst/>
            <a:rect l="l" t="t" r="r" b="b"/>
            <a:pathLst>
              <a:path w="911860">
                <a:moveTo>
                  <a:pt x="0" y="0"/>
                </a:moveTo>
                <a:lnTo>
                  <a:pt x="911359" y="0"/>
                </a:lnTo>
              </a:path>
            </a:pathLst>
          </a:custGeom>
          <a:ln w="1533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34338" y="4248315"/>
            <a:ext cx="841375" cy="0"/>
          </a:xfrm>
          <a:custGeom>
            <a:avLst/>
            <a:gdLst/>
            <a:ahLst/>
            <a:cxnLst/>
            <a:rect l="l" t="t" r="r" b="b"/>
            <a:pathLst>
              <a:path w="841375">
                <a:moveTo>
                  <a:pt x="0" y="0"/>
                </a:moveTo>
                <a:lnTo>
                  <a:pt x="841248" y="0"/>
                </a:lnTo>
              </a:path>
            </a:pathLst>
          </a:custGeom>
          <a:ln w="1531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78021" y="4248315"/>
            <a:ext cx="911860" cy="0"/>
          </a:xfrm>
          <a:custGeom>
            <a:avLst/>
            <a:gdLst/>
            <a:ahLst/>
            <a:cxnLst/>
            <a:rect l="l" t="t" r="r" b="b"/>
            <a:pathLst>
              <a:path w="911860">
                <a:moveTo>
                  <a:pt x="0" y="0"/>
                </a:moveTo>
                <a:lnTo>
                  <a:pt x="911352" y="0"/>
                </a:lnTo>
              </a:path>
            </a:pathLst>
          </a:custGeom>
          <a:ln w="15316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12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54166" y="582834"/>
            <a:ext cx="7705618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Cryptarithmetic</a:t>
            </a:r>
            <a:r>
              <a:rPr spc="-175" dirty="0"/>
              <a:t> </a:t>
            </a:r>
            <a:r>
              <a:rPr dirty="0"/>
              <a:t>problem</a:t>
            </a:r>
            <a:r>
              <a:rPr spc="-160" dirty="0"/>
              <a:t> </a:t>
            </a:r>
            <a:r>
              <a:rPr spc="-10" dirty="0"/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8000" y="1244980"/>
            <a:ext cx="8044815" cy="52197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problem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formulation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follows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:</a:t>
            </a:r>
            <a:endParaRPr sz="32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35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b="1" dirty="0">
                <a:latin typeface="Calibri"/>
                <a:cs typeface="Calibri"/>
              </a:rPr>
              <a:t>State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: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letters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assigned</a:t>
            </a:r>
            <a:endParaRPr sz="2800" dirty="0">
              <a:latin typeface="Calibri"/>
              <a:cs typeface="Calibri"/>
            </a:endParaRPr>
          </a:p>
          <a:p>
            <a:pPr marL="755015" marR="1329055" lvl="1" indent="-285750">
              <a:lnSpc>
                <a:spcPts val="3020"/>
              </a:lnSpc>
              <a:spcBef>
                <a:spcPts val="72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b="1" dirty="0">
                <a:latin typeface="Calibri"/>
                <a:cs typeface="Calibri"/>
              </a:rPr>
              <a:t>Initial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State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: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letters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unassigned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	</a:t>
            </a:r>
            <a:r>
              <a:rPr sz="2800" spc="-10" dirty="0">
                <a:latin typeface="Calibri"/>
                <a:cs typeface="Calibri"/>
              </a:rPr>
              <a:t>numbers</a:t>
            </a:r>
            <a:endParaRPr sz="2800" dirty="0">
              <a:latin typeface="Calibri"/>
              <a:cs typeface="Calibri"/>
            </a:endParaRPr>
          </a:p>
          <a:p>
            <a:pPr marL="755015" marR="238125" lvl="1" indent="-285750">
              <a:lnSpc>
                <a:spcPts val="3030"/>
              </a:lnSpc>
              <a:spcBef>
                <a:spcPts val="675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b="1" dirty="0">
                <a:latin typeface="Calibri"/>
                <a:cs typeface="Calibri"/>
              </a:rPr>
              <a:t>Action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: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Assign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unique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unassigned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letter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rules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arithmetic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followed</a:t>
            </a:r>
            <a:endParaRPr sz="2800" dirty="0">
              <a:latin typeface="Calibri"/>
              <a:cs typeface="Calibri"/>
            </a:endParaRPr>
          </a:p>
          <a:p>
            <a:pPr marL="755015" marR="5080" lvl="1" indent="-285750">
              <a:lnSpc>
                <a:spcPct val="89800"/>
              </a:lnSpc>
              <a:spcBef>
                <a:spcPts val="64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b="1" dirty="0">
                <a:latin typeface="Calibri"/>
                <a:cs typeface="Calibri"/>
              </a:rPr>
              <a:t>State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transition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: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</a:t>
            </a:r>
            <a:r>
              <a:rPr sz="2800" dirty="0">
                <a:latin typeface="Cambria Math"/>
                <a:cs typeface="Cambria Math"/>
              </a:rPr>
              <a:t>0</a:t>
            </a:r>
            <a:r>
              <a:rPr sz="2800" spc="10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≤</a:t>
            </a:r>
            <a:r>
              <a:rPr sz="2800" spc="10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𝑘</a:t>
            </a:r>
            <a:r>
              <a:rPr sz="2800" spc="19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≤</a:t>
            </a:r>
            <a:r>
              <a:rPr sz="2800" spc="114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𝑛)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libri"/>
                <a:cs typeface="Calibri"/>
              </a:rPr>
              <a:t>letters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have 	</a:t>
            </a:r>
            <a:r>
              <a:rPr sz="2800" dirty="0">
                <a:latin typeface="Calibri"/>
                <a:cs typeface="Calibri"/>
              </a:rPr>
              <a:t>been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assigned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assign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unused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 	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k+1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letter</a:t>
            </a:r>
            <a:endParaRPr sz="2800" dirty="0">
              <a:latin typeface="Calibri"/>
              <a:cs typeface="Calibri"/>
            </a:endParaRPr>
          </a:p>
          <a:p>
            <a:pPr marL="755015" marR="1072515" lvl="1" indent="-285750">
              <a:lnSpc>
                <a:spcPts val="3020"/>
              </a:lnSpc>
              <a:spcBef>
                <a:spcPts val="72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b="1" dirty="0">
                <a:latin typeface="Calibri"/>
                <a:cs typeface="Calibri"/>
              </a:rPr>
              <a:t>Goal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State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: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letters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been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assigned 	</a:t>
            </a:r>
            <a:r>
              <a:rPr sz="2800" dirty="0">
                <a:latin typeface="Calibri"/>
                <a:cs typeface="Calibri"/>
              </a:rPr>
              <a:t>numbers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unique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rules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dirty="0">
                <a:latin typeface="Calibri"/>
                <a:cs typeface="Calibri"/>
              </a:rPr>
              <a:t>arithmetic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satisfied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13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80198" y="683261"/>
            <a:ext cx="7973602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01090">
              <a:lnSpc>
                <a:spcPct val="100000"/>
              </a:lnSpc>
              <a:spcBef>
                <a:spcPts val="95"/>
              </a:spcBef>
            </a:pPr>
            <a:r>
              <a:rPr dirty="0"/>
              <a:t>Real</a:t>
            </a:r>
            <a:r>
              <a:rPr spc="-140" dirty="0"/>
              <a:t> </a:t>
            </a:r>
            <a:r>
              <a:rPr dirty="0"/>
              <a:t>world</a:t>
            </a:r>
            <a:r>
              <a:rPr spc="-114" dirty="0"/>
              <a:t> </a:t>
            </a:r>
            <a:r>
              <a:rPr spc="-10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5655" y="1543429"/>
            <a:ext cx="8060690" cy="509968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354965" algn="l"/>
              </a:tabLst>
            </a:pPr>
            <a:r>
              <a:rPr sz="1600" b="1" dirty="0">
                <a:latin typeface="Calibri"/>
                <a:cs typeface="Calibri"/>
              </a:rPr>
              <a:t>Airline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travel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problem</a:t>
            </a:r>
            <a:endParaRPr sz="1600" dirty="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385"/>
              </a:spcBef>
              <a:buFont typeface="Arial MT"/>
              <a:buChar char="–"/>
              <a:tabLst>
                <a:tab pos="756285" algn="l"/>
              </a:tabLst>
            </a:pPr>
            <a:r>
              <a:rPr sz="1600" b="1" dirty="0">
                <a:latin typeface="Calibri"/>
                <a:cs typeface="Calibri"/>
              </a:rPr>
              <a:t>States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state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obviously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includes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location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(e.g.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airport)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current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time. </a:t>
            </a:r>
            <a:r>
              <a:rPr sz="1600" dirty="0">
                <a:latin typeface="Calibri"/>
                <a:cs typeface="Calibri"/>
              </a:rPr>
              <a:t>Because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flight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segment)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depend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previous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segments,</a:t>
            </a:r>
            <a:r>
              <a:rPr sz="1600" spc="500" dirty="0">
                <a:latin typeface="Calibri"/>
                <a:cs typeface="Calibri"/>
              </a:rPr>
              <a:t>  </a:t>
            </a: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fare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status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domestic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international,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must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record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extra information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about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these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“historical”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aspects</a:t>
            </a:r>
            <a:endParaRPr sz="16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85"/>
              </a:spcBef>
              <a:buFont typeface="Arial MT"/>
              <a:buChar char="–"/>
              <a:tabLst>
                <a:tab pos="756285" algn="l"/>
              </a:tabLst>
            </a:pPr>
            <a:r>
              <a:rPr sz="1600" b="1" dirty="0">
                <a:latin typeface="Calibri"/>
                <a:cs typeface="Calibri"/>
              </a:rPr>
              <a:t>Initial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State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specified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user’s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query</a:t>
            </a:r>
            <a:endParaRPr sz="16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85"/>
              </a:spcBef>
              <a:buFont typeface="Arial MT"/>
              <a:buChar char="–"/>
              <a:tabLst>
                <a:tab pos="756285" algn="l"/>
              </a:tabLst>
            </a:pPr>
            <a:r>
              <a:rPr sz="1600" b="1" dirty="0">
                <a:latin typeface="Calibri"/>
                <a:cs typeface="Calibri"/>
              </a:rPr>
              <a:t>Actions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40" dirty="0">
                <a:latin typeface="Calibri"/>
                <a:cs typeface="Calibri"/>
              </a:rPr>
              <a:t>Take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flight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current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location,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seat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leaving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after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</a:t>
            </a:r>
            <a:endParaRPr sz="1600" dirty="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current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leaving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enough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within-airport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transfer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if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needed</a:t>
            </a:r>
            <a:endParaRPr sz="1600" dirty="0">
              <a:latin typeface="Calibri"/>
              <a:cs typeface="Calibri"/>
            </a:endParaRPr>
          </a:p>
          <a:p>
            <a:pPr marL="756285" marR="587375" lvl="1" indent="-287020">
              <a:lnSpc>
                <a:spcPct val="100000"/>
              </a:lnSpc>
              <a:spcBef>
                <a:spcPts val="385"/>
              </a:spcBef>
              <a:buFont typeface="Arial MT"/>
              <a:buChar char="–"/>
              <a:tabLst>
                <a:tab pos="756285" algn="l"/>
              </a:tabLst>
            </a:pPr>
            <a:r>
              <a:rPr sz="1600" b="1" spc="-10" dirty="0">
                <a:latin typeface="Calibri"/>
                <a:cs typeface="Calibri"/>
              </a:rPr>
              <a:t>Transition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model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state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resulting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taking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flight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flight’s destination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current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location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flight’s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arrival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current </a:t>
            </a:r>
            <a:r>
              <a:rPr sz="1600" spc="-20" dirty="0">
                <a:latin typeface="Calibri"/>
                <a:cs typeface="Calibri"/>
              </a:rPr>
              <a:t>time</a:t>
            </a:r>
            <a:endParaRPr sz="16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85"/>
              </a:spcBef>
              <a:buFont typeface="Arial MT"/>
              <a:buChar char="–"/>
              <a:tabLst>
                <a:tab pos="756285" algn="l"/>
              </a:tabLst>
            </a:pPr>
            <a:r>
              <a:rPr sz="1600" b="1" dirty="0">
                <a:latin typeface="Calibri"/>
                <a:cs typeface="Calibri"/>
              </a:rPr>
              <a:t>Goal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test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final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destination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specified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user?</a:t>
            </a:r>
            <a:endParaRPr sz="1600" dirty="0">
              <a:latin typeface="Calibri"/>
              <a:cs typeface="Calibri"/>
            </a:endParaRPr>
          </a:p>
          <a:p>
            <a:pPr marL="756285" marR="601980" lvl="1" indent="-287020" algn="just">
              <a:lnSpc>
                <a:spcPct val="100000"/>
              </a:lnSpc>
              <a:spcBef>
                <a:spcPts val="384"/>
              </a:spcBef>
              <a:buFont typeface="Arial MT"/>
              <a:buChar char="–"/>
              <a:tabLst>
                <a:tab pos="756285" algn="l"/>
              </a:tabLst>
            </a:pPr>
            <a:r>
              <a:rPr sz="1600" b="1" dirty="0">
                <a:latin typeface="Calibri"/>
                <a:cs typeface="Calibri"/>
              </a:rPr>
              <a:t>Path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cost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depends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monetary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cost,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waiting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flight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customs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 </a:t>
            </a:r>
            <a:r>
              <a:rPr sz="1600" spc="-10" dirty="0">
                <a:latin typeface="Calibri"/>
                <a:cs typeface="Calibri"/>
              </a:rPr>
              <a:t>immigration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procedures,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seat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quality,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day,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type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airplane,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frequent-flyer </a:t>
            </a:r>
            <a:r>
              <a:rPr sz="1600" dirty="0">
                <a:latin typeface="Calibri"/>
                <a:cs typeface="Calibri"/>
              </a:rPr>
              <a:t>mileage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awards,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</a:t>
            </a:r>
            <a:r>
              <a:rPr sz="1600" spc="-25" dirty="0">
                <a:latin typeface="Calibri"/>
                <a:cs typeface="Calibri"/>
              </a:rPr>
              <a:t> on</a:t>
            </a:r>
            <a:endParaRPr sz="1600" dirty="0">
              <a:latin typeface="Calibri"/>
              <a:cs typeface="Calibri"/>
            </a:endParaRPr>
          </a:p>
          <a:p>
            <a:pPr marL="355600" marR="580390" indent="-342900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5600" algn="l"/>
              </a:tabLst>
            </a:pPr>
            <a:r>
              <a:rPr sz="1600" dirty="0">
                <a:latin typeface="Calibri"/>
                <a:cs typeface="Calibri"/>
              </a:rPr>
              <a:t>There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additional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complications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handle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byzantine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fare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structures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airlines impose</a:t>
            </a:r>
            <a:endParaRPr sz="1600" dirty="0">
              <a:latin typeface="Calibri"/>
              <a:cs typeface="Calibri"/>
            </a:endParaRPr>
          </a:p>
          <a:p>
            <a:pPr marL="355600" marR="80645" indent="-342900">
              <a:lnSpc>
                <a:spcPct val="100000"/>
              </a:lnSpc>
              <a:spcBef>
                <a:spcPts val="384"/>
              </a:spcBef>
              <a:buFont typeface="Arial MT"/>
              <a:buChar char="•"/>
              <a:tabLst>
                <a:tab pos="355600" algn="l"/>
              </a:tabLst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really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good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should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include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contingency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plans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–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backup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reservation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on </a:t>
            </a:r>
            <a:r>
              <a:rPr sz="1600" dirty="0">
                <a:latin typeface="Calibri"/>
                <a:cs typeface="Calibri"/>
              </a:rPr>
              <a:t>alternate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flights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–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extent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these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10" dirty="0">
                <a:latin typeface="Calibri"/>
                <a:cs typeface="Calibri"/>
              </a:rPr>
              <a:t> justified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cost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likelihood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failure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of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3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original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plan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14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98697" y="282603"/>
            <a:ext cx="665765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Real</a:t>
            </a:r>
            <a:r>
              <a:rPr sz="4400" spc="-140" dirty="0"/>
              <a:t> </a:t>
            </a:r>
            <a:r>
              <a:rPr sz="4400" dirty="0"/>
              <a:t>world</a:t>
            </a:r>
            <a:r>
              <a:rPr sz="4400" spc="-140" dirty="0"/>
              <a:t> </a:t>
            </a:r>
            <a:r>
              <a:rPr sz="4400" dirty="0"/>
              <a:t>problems</a:t>
            </a:r>
            <a:r>
              <a:rPr sz="4400" spc="-135" dirty="0"/>
              <a:t> </a:t>
            </a:r>
            <a:r>
              <a:rPr sz="4400" spc="-10" dirty="0"/>
              <a:t>(contd.)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1936904" y="1565050"/>
            <a:ext cx="8058784" cy="4779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235" algn="l"/>
              </a:tabLst>
            </a:pPr>
            <a:r>
              <a:rPr sz="3000" b="1" spc="-35" dirty="0">
                <a:latin typeface="Calibri"/>
                <a:cs typeface="Calibri"/>
              </a:rPr>
              <a:t>Touring</a:t>
            </a:r>
            <a:r>
              <a:rPr sz="3000" b="1" spc="-13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problems</a:t>
            </a:r>
            <a:r>
              <a:rPr sz="3000" b="1" spc="-130" dirty="0">
                <a:latin typeface="Calibri"/>
                <a:cs typeface="Calibri"/>
              </a:rPr>
              <a:t> </a:t>
            </a:r>
            <a:r>
              <a:rPr sz="3000" b="1" spc="-50" dirty="0">
                <a:latin typeface="Calibri"/>
                <a:cs typeface="Calibri"/>
              </a:rPr>
              <a:t>:</a:t>
            </a:r>
            <a:endParaRPr sz="3000" dirty="0">
              <a:latin typeface="Calibri"/>
              <a:cs typeface="Calibri"/>
            </a:endParaRPr>
          </a:p>
          <a:p>
            <a:pPr marL="756285" marR="80010" lvl="1" indent="-287020">
              <a:lnSpc>
                <a:spcPct val="80000"/>
              </a:lnSpc>
              <a:spcBef>
                <a:spcPts val="560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These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closely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related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route-</a:t>
            </a:r>
            <a:r>
              <a:rPr sz="2200" dirty="0">
                <a:latin typeface="Calibri"/>
                <a:cs typeface="Calibri"/>
              </a:rPr>
              <a:t>finding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problems,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 </a:t>
            </a:r>
            <a:r>
              <a:rPr sz="2200" spc="-10" dirty="0">
                <a:latin typeface="Calibri"/>
                <a:cs typeface="Calibri"/>
              </a:rPr>
              <a:t>important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difference</a:t>
            </a:r>
            <a:endParaRPr sz="2200" dirty="0">
              <a:latin typeface="Calibri"/>
              <a:cs typeface="Calibri"/>
            </a:endParaRPr>
          </a:p>
          <a:p>
            <a:pPr marL="756285" lvl="1" indent="-286385">
              <a:lnSpc>
                <a:spcPts val="2375"/>
              </a:lnSpc>
              <a:buFont typeface="Arial MT"/>
              <a:buChar char="–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E.g.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“Visit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every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city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Figure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3.2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least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once,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starting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and</a:t>
            </a:r>
            <a:endParaRPr sz="2200" dirty="0">
              <a:latin typeface="Calibri"/>
              <a:cs typeface="Calibri"/>
            </a:endParaRPr>
          </a:p>
          <a:p>
            <a:pPr marL="756285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ending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Bucharest”</a:t>
            </a:r>
            <a:endParaRPr sz="2200" dirty="0">
              <a:latin typeface="Calibri"/>
              <a:cs typeface="Calibri"/>
            </a:endParaRPr>
          </a:p>
          <a:p>
            <a:pPr marL="756285" marR="256540" lvl="1" indent="-287020">
              <a:lnSpc>
                <a:spcPct val="80000"/>
              </a:lnSpc>
              <a:spcBef>
                <a:spcPts val="525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As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route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finding,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actions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correspond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trips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between </a:t>
            </a:r>
            <a:r>
              <a:rPr sz="2200" dirty="0">
                <a:latin typeface="Calibri"/>
                <a:cs typeface="Calibri"/>
              </a:rPr>
              <a:t>adjacent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cities</a:t>
            </a:r>
            <a:endParaRPr sz="22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Arial MT"/>
              <a:buChar char="–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state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space,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30" dirty="0">
                <a:latin typeface="Calibri"/>
                <a:cs typeface="Calibri"/>
              </a:rPr>
              <a:t>however,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quite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different</a:t>
            </a:r>
            <a:endParaRPr sz="2200" dirty="0">
              <a:latin typeface="Calibri"/>
              <a:cs typeface="Calibri"/>
            </a:endParaRPr>
          </a:p>
          <a:p>
            <a:pPr marL="756285" lvl="1" indent="-286385">
              <a:lnSpc>
                <a:spcPts val="2380"/>
              </a:lnSpc>
              <a:buFont typeface="Arial MT"/>
              <a:buChar char="–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Each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state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must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include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just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current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location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also</a:t>
            </a:r>
            <a:endParaRPr sz="2200" dirty="0">
              <a:latin typeface="Calibri"/>
              <a:cs typeface="Calibri"/>
            </a:endParaRPr>
          </a:p>
          <a:p>
            <a:pPr marL="756285">
              <a:lnSpc>
                <a:spcPts val="2380"/>
              </a:lnSpc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cities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agent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visited</a:t>
            </a:r>
            <a:endParaRPr sz="2200" dirty="0">
              <a:latin typeface="Calibri"/>
              <a:cs typeface="Calibri"/>
            </a:endParaRPr>
          </a:p>
          <a:p>
            <a:pPr marL="756285" marR="208915" lvl="1" indent="-287020">
              <a:lnSpc>
                <a:spcPct val="80000"/>
              </a:lnSpc>
              <a:spcBef>
                <a:spcPts val="530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So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initial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state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will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In(Bucharest),Visited({Bucharest}),</a:t>
            </a:r>
            <a:r>
              <a:rPr sz="2200" i="1" spc="-5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a </a:t>
            </a:r>
            <a:r>
              <a:rPr sz="2200" dirty="0">
                <a:latin typeface="Calibri"/>
                <a:cs typeface="Calibri"/>
              </a:rPr>
              <a:t>typical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intermediate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state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would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be</a:t>
            </a:r>
            <a:endParaRPr sz="2200" dirty="0">
              <a:latin typeface="Calibri"/>
              <a:cs typeface="Calibri"/>
            </a:endParaRPr>
          </a:p>
          <a:p>
            <a:pPr marL="786765">
              <a:lnSpc>
                <a:spcPct val="100000"/>
              </a:lnSpc>
            </a:pPr>
            <a:r>
              <a:rPr sz="2200" i="1" spc="-10" dirty="0">
                <a:latin typeface="Calibri"/>
                <a:cs typeface="Calibri"/>
              </a:rPr>
              <a:t>In(Vaslui),Visited({Bucharest,Urzicene,Vaslui})</a:t>
            </a:r>
            <a:endParaRPr sz="2200" dirty="0">
              <a:latin typeface="Calibri"/>
              <a:cs typeface="Calibri"/>
            </a:endParaRPr>
          </a:p>
          <a:p>
            <a:pPr marL="756285" lvl="1" indent="-286385">
              <a:lnSpc>
                <a:spcPts val="2375"/>
              </a:lnSpc>
              <a:buFont typeface="Arial MT"/>
              <a:buChar char="–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goal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test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would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check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whether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agent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Bucharest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and</a:t>
            </a:r>
            <a:endParaRPr sz="2200" dirty="0">
              <a:latin typeface="Calibri"/>
              <a:cs typeface="Calibri"/>
            </a:endParaRPr>
          </a:p>
          <a:p>
            <a:pPr marL="756285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all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20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cities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been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visited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15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05154" y="680018"/>
            <a:ext cx="59874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Real</a:t>
            </a:r>
            <a:r>
              <a:rPr spc="-155" dirty="0"/>
              <a:t> </a:t>
            </a:r>
            <a:r>
              <a:rPr dirty="0"/>
              <a:t>world</a:t>
            </a:r>
            <a:r>
              <a:rPr spc="-114" dirty="0"/>
              <a:t> </a:t>
            </a:r>
            <a:r>
              <a:rPr spc="-10" dirty="0"/>
              <a:t>problems</a:t>
            </a:r>
            <a:r>
              <a:rPr spc="-130" dirty="0"/>
              <a:t> </a:t>
            </a:r>
            <a:r>
              <a:rPr spc="-10" dirty="0"/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319" y="1601537"/>
            <a:ext cx="8070215" cy="457644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354330" algn="l"/>
              </a:tabLst>
            </a:pPr>
            <a:r>
              <a:rPr sz="3200" spc="-35" dirty="0">
                <a:latin typeface="Calibri"/>
                <a:cs typeface="Calibri"/>
              </a:rPr>
              <a:t>Traveling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salesman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problem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(TSP)</a:t>
            </a:r>
            <a:endParaRPr sz="3200" dirty="0">
              <a:latin typeface="Calibri"/>
              <a:cs typeface="Calibri"/>
            </a:endParaRPr>
          </a:p>
          <a:p>
            <a:pPr marL="754380" marR="154940" lvl="1" indent="-285115">
              <a:lnSpc>
                <a:spcPct val="100000"/>
              </a:lnSpc>
              <a:spcBef>
                <a:spcPts val="620"/>
              </a:spcBef>
              <a:buFont typeface="Arial MT"/>
              <a:buChar char="–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touring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visited 	</a:t>
            </a:r>
            <a:r>
              <a:rPr sz="2400" dirty="0">
                <a:latin typeface="Calibri"/>
                <a:cs typeface="Calibri"/>
              </a:rPr>
              <a:t>exactly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once</a:t>
            </a:r>
            <a:endParaRPr sz="24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575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aim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shortest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route</a:t>
            </a:r>
            <a:endParaRPr sz="2400" dirty="0">
              <a:latin typeface="Calibri"/>
              <a:cs typeface="Calibri"/>
            </a:endParaRPr>
          </a:p>
          <a:p>
            <a:pPr marL="754380" marR="500380" lvl="1" indent="-285115">
              <a:lnSpc>
                <a:spcPct val="100000"/>
              </a:lnSpc>
              <a:spcBef>
                <a:spcPts val="580"/>
              </a:spcBef>
              <a:buFont typeface="Arial MT"/>
              <a:buChar char="–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NP-</a:t>
            </a:r>
            <a:r>
              <a:rPr sz="2400" dirty="0">
                <a:latin typeface="Calibri"/>
                <a:cs typeface="Calibri"/>
              </a:rPr>
              <a:t>hard,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enormous 	</a:t>
            </a:r>
            <a:r>
              <a:rPr sz="2400" dirty="0">
                <a:latin typeface="Calibri"/>
                <a:cs typeface="Calibri"/>
              </a:rPr>
              <a:t>amount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effort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expended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improve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capabilities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TSP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algorithms</a:t>
            </a:r>
            <a:endParaRPr sz="2400" dirty="0">
              <a:latin typeface="Calibri"/>
              <a:cs typeface="Calibri"/>
            </a:endParaRPr>
          </a:p>
          <a:p>
            <a:pPr marL="754380" marR="5080" lvl="1" indent="-285115">
              <a:lnSpc>
                <a:spcPct val="100000"/>
              </a:lnSpc>
              <a:spcBef>
                <a:spcPts val="575"/>
              </a:spcBef>
              <a:buFont typeface="Arial MT"/>
              <a:buChar char="–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addition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planning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trips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traveling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salespersons, 	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planning 	movements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automatic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circuit-</a:t>
            </a:r>
            <a:r>
              <a:rPr sz="2400" dirty="0">
                <a:latin typeface="Calibri"/>
                <a:cs typeface="Calibri"/>
              </a:rPr>
              <a:t>board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drills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</a:t>
            </a:r>
            <a:r>
              <a:rPr sz="2400" spc="600" dirty="0">
                <a:latin typeface="Calibri"/>
                <a:cs typeface="Calibri"/>
              </a:rPr>
              <a:t> 	</a:t>
            </a:r>
            <a:r>
              <a:rPr sz="2400" dirty="0">
                <a:latin typeface="Calibri"/>
                <a:cs typeface="Calibri"/>
              </a:rPr>
              <a:t>stocking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shop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floors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16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16604" y="683261"/>
            <a:ext cx="803719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95"/>
              </a:spcBef>
            </a:pPr>
            <a:r>
              <a:rPr dirty="0"/>
              <a:t>Real</a:t>
            </a:r>
            <a:r>
              <a:rPr spc="-155" dirty="0"/>
              <a:t> </a:t>
            </a:r>
            <a:r>
              <a:rPr dirty="0"/>
              <a:t>world</a:t>
            </a:r>
            <a:r>
              <a:rPr spc="-114" dirty="0"/>
              <a:t> </a:t>
            </a:r>
            <a:r>
              <a:rPr spc="-10" dirty="0"/>
              <a:t>problems</a:t>
            </a:r>
            <a:r>
              <a:rPr spc="-130" dirty="0"/>
              <a:t> </a:t>
            </a:r>
            <a:r>
              <a:rPr spc="-10" dirty="0"/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77402" y="1579912"/>
            <a:ext cx="8037195" cy="4995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b="1" spc="-10" dirty="0">
                <a:latin typeface="Calibri"/>
                <a:cs typeface="Calibri"/>
              </a:rPr>
              <a:t>Automatic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assembly</a:t>
            </a:r>
            <a:r>
              <a:rPr sz="2200" b="1" spc="-8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sequencing</a:t>
            </a:r>
            <a:endParaRPr sz="2200" dirty="0">
              <a:latin typeface="Calibri"/>
              <a:cs typeface="Calibri"/>
            </a:endParaRPr>
          </a:p>
          <a:p>
            <a:pPr marL="753745" marR="386715" lvl="1" indent="-284480">
              <a:lnSpc>
                <a:spcPts val="1920"/>
              </a:lnSpc>
              <a:spcBef>
                <a:spcPts val="47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Automatic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assembly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sequencing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complex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objects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robot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was 	</a:t>
            </a:r>
            <a:r>
              <a:rPr sz="2000" dirty="0">
                <a:latin typeface="Calibri"/>
                <a:cs typeface="Calibri"/>
              </a:rPr>
              <a:t>first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demonstrated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FREDDY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(Michie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1972)</a:t>
            </a:r>
            <a:endParaRPr sz="2000" dirty="0">
              <a:latin typeface="Calibri"/>
              <a:cs typeface="Calibri"/>
            </a:endParaRPr>
          </a:p>
          <a:p>
            <a:pPr marL="753745" marR="86995" lvl="1" indent="-284480">
              <a:lnSpc>
                <a:spcPts val="1920"/>
              </a:lnSpc>
              <a:spcBef>
                <a:spcPts val="484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At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present,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assembly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intricate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objects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electric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motors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 	</a:t>
            </a:r>
            <a:r>
              <a:rPr sz="2000" dirty="0">
                <a:latin typeface="Calibri"/>
                <a:cs typeface="Calibri"/>
              </a:rPr>
              <a:t>economically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feasible</a:t>
            </a:r>
            <a:endParaRPr sz="2000" dirty="0">
              <a:latin typeface="Calibri"/>
              <a:cs typeface="Calibri"/>
            </a:endParaRPr>
          </a:p>
          <a:p>
            <a:pPr marL="753745" marR="14604" lvl="1" indent="-284480">
              <a:lnSpc>
                <a:spcPct val="80000"/>
              </a:lnSpc>
              <a:spcBef>
                <a:spcPts val="4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assembly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problems,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aim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order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assemble 	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object</a:t>
            </a:r>
            <a:endParaRPr sz="2000" dirty="0">
              <a:latin typeface="Calibri"/>
              <a:cs typeface="Calibri"/>
            </a:endParaRPr>
          </a:p>
          <a:p>
            <a:pPr marL="754380" lvl="1" indent="-284480">
              <a:lnSpc>
                <a:spcPts val="2160"/>
              </a:lnSpc>
              <a:buFont typeface="Arial MT"/>
              <a:buChar char="–"/>
              <a:tabLst>
                <a:tab pos="754380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wrong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order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chosen,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part</a:t>
            </a:r>
            <a:endParaRPr sz="2000" dirty="0">
              <a:latin typeface="Calibri"/>
              <a:cs typeface="Calibri"/>
            </a:endParaRPr>
          </a:p>
          <a:p>
            <a:pPr marL="469900" indent="286385">
              <a:lnSpc>
                <a:spcPts val="2160"/>
              </a:lnSpc>
            </a:pPr>
            <a:r>
              <a:rPr sz="2000" dirty="0">
                <a:latin typeface="Calibri"/>
                <a:cs typeface="Calibri"/>
              </a:rPr>
              <a:t>later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sequence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without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undoing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already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done</a:t>
            </a:r>
            <a:endParaRPr sz="2000" dirty="0">
              <a:latin typeface="Calibri"/>
              <a:cs typeface="Calibri"/>
            </a:endParaRPr>
          </a:p>
          <a:p>
            <a:pPr marL="753745" marR="43815" lvl="1" indent="-284480">
              <a:lnSpc>
                <a:spcPct val="8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Checking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step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sequence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feasibility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difficult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geometrical 	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problem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closely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robot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navigation</a:t>
            </a:r>
            <a:endParaRPr sz="2000" dirty="0">
              <a:latin typeface="Calibri"/>
              <a:cs typeface="Calibri"/>
            </a:endParaRPr>
          </a:p>
          <a:p>
            <a:pPr marL="753745" marR="5080" lvl="1" indent="-284480">
              <a:lnSpc>
                <a:spcPts val="1920"/>
              </a:lnSpc>
              <a:spcBef>
                <a:spcPts val="464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Thus,</a:t>
            </a:r>
            <a:r>
              <a:rPr sz="2000" spc="3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generation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legal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actions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expensive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assembly 	sequencing</a:t>
            </a:r>
            <a:endParaRPr sz="2000" dirty="0">
              <a:latin typeface="Calibri"/>
              <a:cs typeface="Calibri"/>
            </a:endParaRPr>
          </a:p>
          <a:p>
            <a:pPr marL="754380" lvl="1" indent="-284480">
              <a:lnSpc>
                <a:spcPts val="2160"/>
              </a:lnSpc>
              <a:spcBef>
                <a:spcPts val="15"/>
              </a:spcBef>
              <a:buFont typeface="Arial MT"/>
              <a:buChar char="–"/>
              <a:tabLst>
                <a:tab pos="754380" algn="l"/>
              </a:tabLst>
            </a:pPr>
            <a:r>
              <a:rPr sz="2000" dirty="0">
                <a:latin typeface="Calibri"/>
                <a:cs typeface="Calibri"/>
              </a:rPr>
              <a:t>Any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practical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avoid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exploring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tiny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fraction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</a:t>
            </a:r>
            <a:endParaRPr sz="2000" dirty="0">
              <a:latin typeface="Calibri"/>
              <a:cs typeface="Calibri"/>
            </a:endParaRPr>
          </a:p>
          <a:p>
            <a:pPr marL="756285">
              <a:lnSpc>
                <a:spcPts val="2160"/>
              </a:lnSpc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space</a:t>
            </a:r>
            <a:endParaRPr sz="2000" dirty="0">
              <a:latin typeface="Calibri"/>
              <a:cs typeface="Calibri"/>
            </a:endParaRPr>
          </a:p>
          <a:p>
            <a:pPr marL="753745" marR="203835" lvl="1" indent="-284480">
              <a:lnSpc>
                <a:spcPts val="1920"/>
              </a:lnSpc>
              <a:spcBef>
                <a:spcPts val="46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Another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important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assembly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problem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protein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design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	</a:t>
            </a:r>
            <a:r>
              <a:rPr sz="2000" dirty="0">
                <a:latin typeface="Calibri"/>
                <a:cs typeface="Calibri"/>
              </a:rPr>
              <a:t>goal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sequence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amino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acids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fold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three-	</a:t>
            </a:r>
            <a:r>
              <a:rPr sz="2000" dirty="0">
                <a:latin typeface="Calibri"/>
                <a:cs typeface="Calibri"/>
              </a:rPr>
              <a:t>dimensional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protein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right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properties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disease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17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76764" y="683261"/>
            <a:ext cx="8477036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74394">
              <a:lnSpc>
                <a:spcPct val="100000"/>
              </a:lnSpc>
              <a:spcBef>
                <a:spcPts val="95"/>
              </a:spcBef>
            </a:pPr>
            <a:r>
              <a:rPr dirty="0"/>
              <a:t>Searching</a:t>
            </a:r>
            <a:r>
              <a:rPr spc="-175" dirty="0"/>
              <a:t> </a:t>
            </a:r>
            <a:r>
              <a:rPr dirty="0"/>
              <a:t>for</a:t>
            </a:r>
            <a:r>
              <a:rPr spc="-170" dirty="0"/>
              <a:t> </a:t>
            </a:r>
            <a:r>
              <a:rPr spc="-10" dirty="0"/>
              <a:t>solutions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7877" y="1738374"/>
            <a:ext cx="8056245" cy="4904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Having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formulated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problems,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now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solve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them</a:t>
            </a:r>
            <a:endParaRPr sz="2000" dirty="0">
              <a:latin typeface="Calibri"/>
              <a:cs typeface="Calibri"/>
            </a:endParaRPr>
          </a:p>
          <a:p>
            <a:pPr marL="355600" marR="5080" indent="-342900">
              <a:lnSpc>
                <a:spcPct val="80000"/>
              </a:lnSpc>
              <a:spcBef>
                <a:spcPts val="484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solution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sequence,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considering </a:t>
            </a:r>
            <a:r>
              <a:rPr sz="2000" dirty="0">
                <a:latin typeface="Calibri"/>
                <a:cs typeface="Calibri"/>
              </a:rPr>
              <a:t>various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possible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sequences</a:t>
            </a:r>
            <a:endParaRPr sz="2000" dirty="0">
              <a:latin typeface="Calibri"/>
              <a:cs typeface="Calibri"/>
            </a:endParaRPr>
          </a:p>
          <a:p>
            <a:pPr marL="354965" marR="1115695" indent="-342900">
              <a:lnSpc>
                <a:spcPct val="100000"/>
              </a:lnSpc>
              <a:buFont typeface="Arial MT"/>
              <a:buChar char="•"/>
              <a:tabLst>
                <a:tab pos="41148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possible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sequences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starting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initial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form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60" dirty="0">
                <a:latin typeface="Calibri"/>
                <a:cs typeface="Calibri"/>
              </a:rPr>
              <a:t>a 	</a:t>
            </a:r>
            <a:r>
              <a:rPr sz="2000" b="1" dirty="0">
                <a:latin typeface="Calibri"/>
                <a:cs typeface="Calibri"/>
              </a:rPr>
              <a:t>search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tree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initial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root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ts val="216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branches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actions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nodes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correspond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</a:t>
            </a:r>
            <a:endParaRPr sz="2000" dirty="0">
              <a:latin typeface="Calibri"/>
              <a:cs typeface="Calibri"/>
            </a:endParaRPr>
          </a:p>
          <a:p>
            <a:pPr marL="355600">
              <a:lnSpc>
                <a:spcPts val="2160"/>
              </a:lnSpc>
            </a:pPr>
            <a:r>
              <a:rPr sz="2000" dirty="0">
                <a:latin typeface="Calibri"/>
                <a:cs typeface="Calibri"/>
              </a:rPr>
              <a:t>space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problem</a:t>
            </a:r>
            <a:endParaRPr sz="2000" dirty="0">
              <a:latin typeface="Calibri"/>
              <a:cs typeface="Calibri"/>
            </a:endParaRPr>
          </a:p>
          <a:p>
            <a:pPr marL="355600" marR="21590" indent="-342900">
              <a:lnSpc>
                <a:spcPts val="1920"/>
              </a:lnSpc>
              <a:spcBef>
                <a:spcPts val="459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Figure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3.6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shows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first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few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steps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growing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route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Arad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Bucharest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root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corresponds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initial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In(Arad)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first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step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whether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goal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Then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consider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taking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various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actions</a:t>
            </a:r>
            <a:endParaRPr sz="2000" dirty="0">
              <a:latin typeface="Calibri"/>
              <a:cs typeface="Calibri"/>
            </a:endParaRPr>
          </a:p>
          <a:p>
            <a:pPr marL="355600" marR="196215" indent="-342900">
              <a:lnSpc>
                <a:spcPts val="1920"/>
              </a:lnSpc>
              <a:spcBef>
                <a:spcPts val="46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We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expanding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current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state;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i.e.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applying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legal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action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current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thereby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generating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states</a:t>
            </a:r>
            <a:endParaRPr sz="2000" dirty="0">
              <a:latin typeface="Calibri"/>
              <a:cs typeface="Calibri"/>
            </a:endParaRPr>
          </a:p>
          <a:p>
            <a:pPr marL="355600" marR="38735" indent="-342900">
              <a:lnSpc>
                <a:spcPts val="192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three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branches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parent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node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In(Arad)</a:t>
            </a:r>
            <a:r>
              <a:rPr sz="2000" i="1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leading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three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child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nodes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In(Sibiu),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In(Timisoara)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and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In(Zerind)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Now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choose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three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possibilities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consider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further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18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92513" y="690105"/>
            <a:ext cx="64401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Searching</a:t>
            </a:r>
            <a:r>
              <a:rPr spc="-105" dirty="0"/>
              <a:t> </a:t>
            </a:r>
            <a:r>
              <a:rPr dirty="0"/>
              <a:t>for</a:t>
            </a:r>
            <a:r>
              <a:rPr spc="-95" dirty="0"/>
              <a:t> </a:t>
            </a:r>
            <a:r>
              <a:rPr dirty="0"/>
              <a:t>solutions</a:t>
            </a:r>
            <a:r>
              <a:rPr spc="-105" dirty="0"/>
              <a:t> </a:t>
            </a:r>
            <a:r>
              <a:rPr spc="-10" dirty="0"/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08824" y="1861325"/>
            <a:ext cx="8023859" cy="430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This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essence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search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following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up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option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now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putting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others</a:t>
            </a:r>
            <a:endParaRPr sz="18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aside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later,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choice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does</a:t>
            </a:r>
            <a:r>
              <a:rPr sz="1800" spc="3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lead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3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solution</a:t>
            </a:r>
            <a:endParaRPr sz="1800" dirty="0">
              <a:latin typeface="Calibri"/>
              <a:cs typeface="Calibri"/>
            </a:endParaRPr>
          </a:p>
          <a:p>
            <a:pPr marL="355600" marR="231775" indent="-342900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choose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Sibiu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check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(it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not)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we </a:t>
            </a:r>
            <a:r>
              <a:rPr sz="1800" dirty="0">
                <a:latin typeface="Calibri"/>
                <a:cs typeface="Calibri"/>
              </a:rPr>
              <a:t>expand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In(Arad),In(Fagaras),</a:t>
            </a:r>
            <a:r>
              <a:rPr sz="1800" spc="-10" dirty="0">
                <a:latin typeface="Calibri"/>
                <a:cs typeface="Calibri"/>
              </a:rPr>
              <a:t>and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In(RimnicuVilcea)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We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choose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these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four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back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choose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Timisoara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Zerind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six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leaf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node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3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children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tree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leaf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available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expansion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given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point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called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</a:t>
            </a:r>
            <a:endParaRPr sz="18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frontier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Figure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3.6,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frontier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tree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consists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those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bold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outlines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expanding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nodes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frontier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continues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until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either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solution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is</a:t>
            </a:r>
            <a:endParaRPr sz="18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found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expand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Figure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3.6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gives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TREE-</a:t>
            </a:r>
            <a:r>
              <a:rPr sz="1800" dirty="0">
                <a:latin typeface="Calibri"/>
                <a:cs typeface="Calibri"/>
              </a:rPr>
              <a:t>SEARCH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algorithm</a:t>
            </a:r>
            <a:endParaRPr sz="1800" dirty="0">
              <a:latin typeface="Calibri"/>
              <a:cs typeface="Calibri"/>
            </a:endParaRPr>
          </a:p>
          <a:p>
            <a:pPr marL="355600" marR="281305" indent="-34290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All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search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algorithms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share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basic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structure;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primary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according</a:t>
            </a:r>
            <a:r>
              <a:rPr sz="1800" spc="-25" dirty="0">
                <a:latin typeface="Calibri"/>
                <a:cs typeface="Calibri"/>
              </a:rPr>
              <a:t> to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choose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next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called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search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strategy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4624" y="434227"/>
            <a:ext cx="64395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Searching</a:t>
            </a:r>
            <a:r>
              <a:rPr spc="-130" dirty="0"/>
              <a:t> </a:t>
            </a:r>
            <a:r>
              <a:rPr dirty="0"/>
              <a:t>for</a:t>
            </a:r>
            <a:r>
              <a:rPr spc="-125" dirty="0"/>
              <a:t> </a:t>
            </a:r>
            <a:r>
              <a:rPr dirty="0"/>
              <a:t>solutions</a:t>
            </a:r>
            <a:r>
              <a:rPr spc="-135" dirty="0"/>
              <a:t> </a:t>
            </a:r>
            <a:r>
              <a:rPr spc="-10" dirty="0"/>
              <a:t>(contd.)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2692" y="1440394"/>
            <a:ext cx="7351375" cy="48844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78382" y="6432219"/>
            <a:ext cx="645033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From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Russel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Norvig,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“Artificial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Intelligence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Modern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Approach”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19</a:t>
            </a:fld>
            <a:endParaRPr spc="-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20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43892" y="683261"/>
            <a:ext cx="8209908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Searching</a:t>
            </a:r>
            <a:r>
              <a:rPr spc="-105" dirty="0"/>
              <a:t> </a:t>
            </a:r>
            <a:r>
              <a:rPr dirty="0"/>
              <a:t>for</a:t>
            </a:r>
            <a:r>
              <a:rPr spc="-95" dirty="0"/>
              <a:t> </a:t>
            </a:r>
            <a:r>
              <a:rPr dirty="0"/>
              <a:t>solutions</a:t>
            </a:r>
            <a:r>
              <a:rPr spc="-105" dirty="0"/>
              <a:t> </a:t>
            </a:r>
            <a:r>
              <a:rPr spc="-10" dirty="0"/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71687" y="1576593"/>
            <a:ext cx="8048625" cy="47447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marR="257175" indent="-342900">
              <a:lnSpc>
                <a:spcPct val="800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look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search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tree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Figure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3.6,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includes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path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Arad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Sibiu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back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Arad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again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ts val="1945"/>
              </a:lnSpc>
              <a:buFont typeface="Arial MT"/>
              <a:buChar char="•"/>
              <a:tabLst>
                <a:tab pos="354965" algn="l"/>
              </a:tabLst>
            </a:pPr>
            <a:r>
              <a:rPr sz="1800" i="1" dirty="0">
                <a:latin typeface="Calibri"/>
                <a:cs typeface="Calibri"/>
              </a:rPr>
              <a:t>In(Arad)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repeated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search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tree,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generated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case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loopy</a:t>
            </a:r>
            <a:endParaRPr sz="1800" dirty="0">
              <a:latin typeface="Calibri"/>
              <a:cs typeface="Calibri"/>
            </a:endParaRPr>
          </a:p>
          <a:p>
            <a:pPr marL="355600">
              <a:lnSpc>
                <a:spcPts val="1945"/>
              </a:lnSpc>
            </a:pPr>
            <a:r>
              <a:rPr sz="1800" spc="-20" dirty="0">
                <a:latin typeface="Calibri"/>
                <a:cs typeface="Calibri"/>
              </a:rPr>
              <a:t>path</a:t>
            </a:r>
            <a:endParaRPr sz="1800" dirty="0">
              <a:latin typeface="Calibri"/>
              <a:cs typeface="Calibri"/>
            </a:endParaRPr>
          </a:p>
          <a:p>
            <a:pPr marL="355600" marR="113664" indent="-342900">
              <a:lnSpc>
                <a:spcPct val="80000"/>
              </a:lnSpc>
              <a:spcBef>
                <a:spcPts val="434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Considering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loopy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paths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complete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search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tree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Romania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is </a:t>
            </a:r>
            <a:r>
              <a:rPr sz="1800" dirty="0">
                <a:latin typeface="Calibri"/>
                <a:cs typeface="Calibri"/>
              </a:rPr>
              <a:t>infinite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because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3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limit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often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traverse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loop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hand,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3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only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states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ts val="1945"/>
              </a:lnSpc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Loops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make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certain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algorithms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fail,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making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otherwise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solvable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problems</a:t>
            </a:r>
            <a:endParaRPr sz="1800" dirty="0">
              <a:latin typeface="Calibri"/>
              <a:cs typeface="Calibri"/>
            </a:endParaRPr>
          </a:p>
          <a:p>
            <a:pPr marL="355600">
              <a:lnSpc>
                <a:spcPts val="1945"/>
              </a:lnSpc>
            </a:pPr>
            <a:r>
              <a:rPr sz="1800" spc="-10" dirty="0">
                <a:latin typeface="Calibri"/>
                <a:cs typeface="Calibri"/>
              </a:rPr>
              <a:t>unsolvable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So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consider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loopy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paths</a:t>
            </a:r>
            <a:endParaRPr sz="1800" dirty="0">
              <a:latin typeface="Calibri"/>
              <a:cs typeface="Calibri"/>
            </a:endParaRPr>
          </a:p>
          <a:p>
            <a:pPr marL="355600" marR="228600" indent="-342900">
              <a:lnSpc>
                <a:spcPct val="80000"/>
              </a:lnSpc>
              <a:spcBef>
                <a:spcPts val="434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Since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path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costs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additive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step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costs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nonnegative,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loopy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path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any </a:t>
            </a:r>
            <a:r>
              <a:rPr sz="1800" dirty="0">
                <a:latin typeface="Calibri"/>
                <a:cs typeface="Calibri"/>
              </a:rPr>
              <a:t>given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never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better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path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loop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removed</a:t>
            </a:r>
            <a:endParaRPr sz="1800" dirty="0">
              <a:latin typeface="Calibri"/>
              <a:cs typeface="Calibri"/>
            </a:endParaRPr>
          </a:p>
          <a:p>
            <a:pPr marL="355600" marR="242570" indent="-342900">
              <a:lnSpc>
                <a:spcPct val="80000"/>
              </a:lnSpc>
              <a:spcBef>
                <a:spcPts val="43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We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redundant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paths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exist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whenever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one </a:t>
            </a:r>
            <a:r>
              <a:rPr sz="1800" dirty="0">
                <a:latin typeface="Calibri"/>
                <a:cs typeface="Calibri"/>
              </a:rPr>
              <a:t>way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another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ts val="1945"/>
              </a:lnSpc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We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Arad-</a:t>
            </a:r>
            <a:r>
              <a:rPr sz="1800" dirty="0">
                <a:latin typeface="Calibri"/>
                <a:cs typeface="Calibri"/>
              </a:rPr>
              <a:t>Sibiu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(140km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long)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Arad-</a:t>
            </a:r>
            <a:r>
              <a:rPr sz="1800" spc="-10" dirty="0">
                <a:latin typeface="Calibri"/>
                <a:cs typeface="Calibri"/>
              </a:rPr>
              <a:t>Zerind-</a:t>
            </a:r>
            <a:r>
              <a:rPr sz="1800" spc="-20" dirty="0">
                <a:latin typeface="Calibri"/>
                <a:cs typeface="Calibri"/>
              </a:rPr>
              <a:t>Oradea-</a:t>
            </a:r>
            <a:r>
              <a:rPr sz="1800" dirty="0">
                <a:latin typeface="Calibri"/>
                <a:cs typeface="Calibri"/>
              </a:rPr>
              <a:t>Sibiu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(297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long).</a:t>
            </a:r>
            <a:endParaRPr sz="1800" dirty="0">
              <a:latin typeface="Calibri"/>
              <a:cs typeface="Calibri"/>
            </a:endParaRPr>
          </a:p>
          <a:p>
            <a:pPr marL="355600">
              <a:lnSpc>
                <a:spcPts val="1945"/>
              </a:lnSpc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second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path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redundant</a:t>
            </a:r>
            <a:endParaRPr sz="1800" dirty="0">
              <a:latin typeface="Calibri"/>
              <a:cs typeface="Calibri"/>
            </a:endParaRPr>
          </a:p>
          <a:p>
            <a:pPr marL="355600" marR="487680" indent="-342900">
              <a:lnSpc>
                <a:spcPts val="1730"/>
              </a:lnSpc>
              <a:spcBef>
                <a:spcPts val="415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spc="-80" dirty="0">
                <a:latin typeface="Calibri"/>
                <a:cs typeface="Calibri"/>
              </a:rPr>
              <a:t>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reach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goal,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reason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keep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path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given state,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because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reachable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extending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path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also </a:t>
            </a:r>
            <a:r>
              <a:rPr sz="1800" spc="-10" dirty="0">
                <a:latin typeface="Calibri"/>
                <a:cs typeface="Calibri"/>
              </a:rPr>
              <a:t>reachable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extending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other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21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71972" y="683261"/>
            <a:ext cx="8281827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Searching</a:t>
            </a:r>
            <a:r>
              <a:rPr spc="-105" dirty="0"/>
              <a:t> </a:t>
            </a:r>
            <a:r>
              <a:rPr dirty="0"/>
              <a:t>for</a:t>
            </a:r>
            <a:r>
              <a:rPr spc="-95" dirty="0"/>
              <a:t> </a:t>
            </a:r>
            <a:r>
              <a:rPr dirty="0"/>
              <a:t>solutions</a:t>
            </a:r>
            <a:r>
              <a:rPr spc="-105" dirty="0"/>
              <a:t> </a:t>
            </a:r>
            <a:r>
              <a:rPr spc="-10" dirty="0"/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5301" y="1555495"/>
            <a:ext cx="8058784" cy="4909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7665" indent="-342265">
              <a:lnSpc>
                <a:spcPts val="2160"/>
              </a:lnSpc>
              <a:spcBef>
                <a:spcPts val="105"/>
              </a:spcBef>
              <a:buFont typeface="Arial MT"/>
              <a:buChar char="•"/>
              <a:tabLst>
                <a:tab pos="367665" algn="l"/>
              </a:tabLst>
            </a:pPr>
            <a:r>
              <a:rPr sz="2000" dirty="0">
                <a:latin typeface="Calibri"/>
                <a:cs typeface="Calibri"/>
              </a:rPr>
              <a:t>Redundant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unavoidable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include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problems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</a:t>
            </a:r>
            <a:endParaRPr sz="2000" dirty="0">
              <a:latin typeface="Calibri"/>
              <a:cs typeface="Calibri"/>
            </a:endParaRPr>
          </a:p>
          <a:p>
            <a:pPr marL="368300">
              <a:lnSpc>
                <a:spcPts val="2160"/>
              </a:lnSpc>
            </a:pPr>
            <a:r>
              <a:rPr sz="2000" dirty="0">
                <a:latin typeface="Calibri"/>
                <a:cs typeface="Calibri"/>
              </a:rPr>
              <a:t>actions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reversible,</a:t>
            </a:r>
            <a:r>
              <a:rPr sz="2000" dirty="0">
                <a:latin typeface="Calibri"/>
                <a:cs typeface="Calibri"/>
              </a:rPr>
              <a:t> such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route-</a:t>
            </a:r>
            <a:r>
              <a:rPr sz="2000" dirty="0">
                <a:latin typeface="Calibri"/>
                <a:cs typeface="Calibri"/>
              </a:rPr>
              <a:t>finding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sliding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block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puzzles</a:t>
            </a:r>
            <a:endParaRPr sz="2000" dirty="0">
              <a:latin typeface="Calibri"/>
              <a:cs typeface="Calibri"/>
            </a:endParaRPr>
          </a:p>
          <a:p>
            <a:pPr marL="368300" marR="17780" indent="-342900">
              <a:lnSpc>
                <a:spcPct val="80400"/>
              </a:lnSpc>
              <a:spcBef>
                <a:spcPts val="470"/>
              </a:spcBef>
              <a:buFont typeface="Arial MT"/>
              <a:buChar char="•"/>
              <a:tabLst>
                <a:tab pos="368300" algn="l"/>
              </a:tabLst>
            </a:pPr>
            <a:r>
              <a:rPr sz="2000" dirty="0">
                <a:latin typeface="Calibri"/>
                <a:cs typeface="Calibri"/>
              </a:rPr>
              <a:t>Route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finding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rectangular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grid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(Fig.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3.9)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computer </a:t>
            </a:r>
            <a:r>
              <a:rPr sz="2000" dirty="0">
                <a:latin typeface="Calibri"/>
                <a:cs typeface="Calibri"/>
              </a:rPr>
              <a:t>games.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four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successors,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depth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has </a:t>
            </a:r>
            <a:r>
              <a:rPr sz="2000" spc="-10" dirty="0">
                <a:latin typeface="Calibri"/>
                <a:cs typeface="Calibri"/>
              </a:rPr>
              <a:t>repeated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4</a:t>
            </a:r>
            <a:r>
              <a:rPr sz="2175" baseline="28735" dirty="0">
                <a:latin typeface="Cambria Math"/>
                <a:cs typeface="Cambria Math"/>
              </a:rPr>
              <a:t>𝑑</a:t>
            </a:r>
            <a:r>
              <a:rPr sz="2175" spc="352" baseline="28735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leaves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</a:t>
            </a:r>
            <a:r>
              <a:rPr sz="2000" dirty="0">
                <a:latin typeface="Cambria Math"/>
                <a:cs typeface="Cambria Math"/>
              </a:rPr>
              <a:t>𝑑</a:t>
            </a:r>
            <a:r>
              <a:rPr sz="2175" baseline="28735" dirty="0">
                <a:latin typeface="Cambria Math"/>
                <a:cs typeface="Cambria Math"/>
              </a:rPr>
              <a:t>2</a:t>
            </a:r>
            <a:r>
              <a:rPr sz="2175" spc="240" baseline="28735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distinct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states </a:t>
            </a:r>
            <a:r>
              <a:rPr sz="2000" dirty="0">
                <a:latin typeface="Calibri"/>
                <a:cs typeface="Calibri"/>
              </a:rPr>
              <a:t>within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steps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given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state.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d=20,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means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about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trillion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about </a:t>
            </a:r>
            <a:r>
              <a:rPr sz="2000" dirty="0">
                <a:latin typeface="Calibri"/>
                <a:cs typeface="Calibri"/>
              </a:rPr>
              <a:t>800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distinct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states</a:t>
            </a:r>
            <a:endParaRPr sz="2000" dirty="0">
              <a:latin typeface="Calibri"/>
              <a:cs typeface="Calibri"/>
            </a:endParaRPr>
          </a:p>
          <a:p>
            <a:pPr marL="368300" marR="603250" indent="-342900">
              <a:lnSpc>
                <a:spcPct val="80000"/>
              </a:lnSpc>
              <a:spcBef>
                <a:spcPts val="480"/>
              </a:spcBef>
              <a:buFont typeface="Arial MT"/>
              <a:buChar char="•"/>
              <a:tabLst>
                <a:tab pos="368300" algn="l"/>
              </a:tabLst>
            </a:pPr>
            <a:r>
              <a:rPr sz="2000" dirty="0">
                <a:latin typeface="Calibri"/>
                <a:cs typeface="Calibri"/>
              </a:rPr>
              <a:t>Following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redundant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cause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tractable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problem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become intractable</a:t>
            </a:r>
            <a:endParaRPr sz="2000" dirty="0">
              <a:latin typeface="Calibri"/>
              <a:cs typeface="Calibri"/>
            </a:endParaRPr>
          </a:p>
          <a:p>
            <a:pPr marL="367665" indent="-342265">
              <a:lnSpc>
                <a:spcPct val="100000"/>
              </a:lnSpc>
              <a:buFont typeface="Arial MT"/>
              <a:buChar char="•"/>
              <a:tabLst>
                <a:tab pos="367665" algn="l"/>
              </a:tabLst>
            </a:pPr>
            <a:r>
              <a:rPr sz="2000" dirty="0">
                <a:latin typeface="Calibri"/>
                <a:cs typeface="Calibri"/>
              </a:rPr>
              <a:t>This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true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know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how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avoid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infinite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loops</a:t>
            </a:r>
            <a:endParaRPr sz="2000" dirty="0">
              <a:latin typeface="Calibri"/>
              <a:cs typeface="Calibri"/>
            </a:endParaRPr>
          </a:p>
          <a:p>
            <a:pPr marL="368300" marR="353060" indent="-342900">
              <a:lnSpc>
                <a:spcPct val="80000"/>
              </a:lnSpc>
              <a:spcBef>
                <a:spcPts val="480"/>
              </a:spcBef>
              <a:buFont typeface="Arial MT"/>
              <a:buChar char="•"/>
              <a:tabLst>
                <a:tab pos="3683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avoid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exploring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redundant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remember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one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been</a:t>
            </a:r>
            <a:endParaRPr sz="2000" dirty="0">
              <a:latin typeface="Calibri"/>
              <a:cs typeface="Calibri"/>
            </a:endParaRPr>
          </a:p>
          <a:p>
            <a:pPr marL="368300" marR="149860" indent="-342900">
              <a:lnSpc>
                <a:spcPct val="80000"/>
              </a:lnSpc>
              <a:spcBef>
                <a:spcPts val="484"/>
              </a:spcBef>
              <a:buFont typeface="Arial MT"/>
              <a:buChar char="•"/>
              <a:tabLst>
                <a:tab pos="368300" algn="l"/>
              </a:tabLst>
            </a:pPr>
            <a:r>
              <a:rPr sz="2000" spc="-9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augment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TREE-SEARCH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structure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explored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set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remembers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expanded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node</a:t>
            </a:r>
            <a:endParaRPr sz="2000" dirty="0">
              <a:latin typeface="Calibri"/>
              <a:cs typeface="Calibri"/>
            </a:endParaRPr>
          </a:p>
          <a:p>
            <a:pPr marL="368300" marR="85725" indent="-342900">
              <a:lnSpc>
                <a:spcPts val="1920"/>
              </a:lnSpc>
              <a:spcBef>
                <a:spcPts val="464"/>
              </a:spcBef>
              <a:buFont typeface="Arial MT"/>
              <a:buChar char="•"/>
              <a:tabLst>
                <a:tab pos="368300" algn="l"/>
              </a:tabLst>
            </a:pPr>
            <a:r>
              <a:rPr sz="2000" dirty="0">
                <a:latin typeface="Calibri"/>
                <a:cs typeface="Calibri"/>
              </a:rPr>
              <a:t>Newly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generated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previously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generated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in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explored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frontier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discarded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instead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added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frontier</a:t>
            </a:r>
            <a:endParaRPr sz="2000" dirty="0">
              <a:latin typeface="Calibri"/>
              <a:cs typeface="Calibri"/>
            </a:endParaRPr>
          </a:p>
          <a:p>
            <a:pPr marL="367665" indent="-34226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3676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GRAPH-</a:t>
            </a:r>
            <a:r>
              <a:rPr sz="2000" dirty="0">
                <a:latin typeface="Calibri"/>
                <a:cs typeface="Calibri"/>
              </a:rPr>
              <a:t>SEARCH,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shown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Figure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3.7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22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49893" y="608045"/>
            <a:ext cx="70942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Searching</a:t>
            </a:r>
            <a:r>
              <a:rPr sz="4400" spc="-190" dirty="0"/>
              <a:t> </a:t>
            </a:r>
            <a:r>
              <a:rPr sz="4400" dirty="0"/>
              <a:t>for</a:t>
            </a:r>
            <a:r>
              <a:rPr sz="4400" spc="-185" dirty="0"/>
              <a:t> </a:t>
            </a:r>
            <a:r>
              <a:rPr sz="4400" dirty="0"/>
              <a:t>solutions</a:t>
            </a:r>
            <a:r>
              <a:rPr sz="4400" spc="-185" dirty="0"/>
              <a:t> </a:t>
            </a:r>
            <a:r>
              <a:rPr sz="4400" spc="-10" dirty="0"/>
              <a:t>(contd.)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2152661" y="1757707"/>
            <a:ext cx="8067040" cy="3562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constructed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GRAPH-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contains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20" dirty="0">
                <a:latin typeface="Calibri"/>
                <a:cs typeface="Calibri"/>
              </a:rPr>
              <a:t> most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copy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think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growing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directly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on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state-</a:t>
            </a:r>
            <a:r>
              <a:rPr sz="2000" dirty="0">
                <a:latin typeface="Calibri"/>
                <a:cs typeface="Calibri"/>
              </a:rPr>
              <a:t>space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graph,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shown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Figure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3.8</a:t>
            </a:r>
            <a:endParaRPr sz="2000" dirty="0">
              <a:latin typeface="Calibri"/>
              <a:cs typeface="Calibri"/>
            </a:endParaRPr>
          </a:p>
          <a:p>
            <a:pPr marL="355600" marR="36512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frontier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separates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state-</a:t>
            </a:r>
            <a:r>
              <a:rPr sz="2000" dirty="0">
                <a:latin typeface="Calibri"/>
                <a:cs typeface="Calibri"/>
              </a:rPr>
              <a:t>space into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explored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region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unexplored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region,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every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initial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 </a:t>
            </a:r>
            <a:r>
              <a:rPr sz="2000" dirty="0">
                <a:latin typeface="Calibri"/>
                <a:cs typeface="Calibri"/>
              </a:rPr>
              <a:t>unexplored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through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frontier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This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property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illustrated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Figure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3.9</a:t>
            </a:r>
            <a:endParaRPr sz="2000" dirty="0">
              <a:latin typeface="Calibri"/>
              <a:cs typeface="Calibri"/>
            </a:endParaRPr>
          </a:p>
          <a:p>
            <a:pPr marL="355600" marR="19050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As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every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step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moves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frontier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explored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region </a:t>
            </a:r>
            <a:r>
              <a:rPr sz="2000" dirty="0">
                <a:latin typeface="Calibri"/>
                <a:cs typeface="Calibri"/>
              </a:rPr>
              <a:t>while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moving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unexplored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region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frontier,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we </a:t>
            </a:r>
            <a:r>
              <a:rPr sz="2000" dirty="0">
                <a:latin typeface="Calibri"/>
                <a:cs typeface="Calibri"/>
              </a:rPr>
              <a:t>see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systematically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examining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 </a:t>
            </a:r>
            <a:r>
              <a:rPr sz="2000" dirty="0">
                <a:latin typeface="Calibri"/>
                <a:cs typeface="Calibri"/>
              </a:rPr>
              <a:t>space,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until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solution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51532" y="683261"/>
            <a:ext cx="9002268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Searching</a:t>
            </a:r>
            <a:r>
              <a:rPr spc="-105" dirty="0"/>
              <a:t> </a:t>
            </a:r>
            <a:r>
              <a:rPr dirty="0"/>
              <a:t>for</a:t>
            </a:r>
            <a:r>
              <a:rPr spc="-95" dirty="0"/>
              <a:t> </a:t>
            </a:r>
            <a:r>
              <a:rPr dirty="0"/>
              <a:t>solutions</a:t>
            </a:r>
            <a:r>
              <a:rPr spc="-105" dirty="0"/>
              <a:t> </a:t>
            </a:r>
            <a:r>
              <a:rPr spc="-10" dirty="0"/>
              <a:t>(contd.)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1532" y="1530016"/>
            <a:ext cx="7344156" cy="464602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22272" y="6432219"/>
            <a:ext cx="645033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From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Russel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Norvig,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“Artificial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Intelligence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Modern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Approach”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91828" y="683261"/>
            <a:ext cx="866197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Searching</a:t>
            </a:r>
            <a:r>
              <a:rPr spc="-105" dirty="0"/>
              <a:t> </a:t>
            </a:r>
            <a:r>
              <a:rPr dirty="0"/>
              <a:t>for</a:t>
            </a:r>
            <a:r>
              <a:rPr spc="-95" dirty="0"/>
              <a:t> </a:t>
            </a:r>
            <a:r>
              <a:rPr dirty="0"/>
              <a:t>solutions</a:t>
            </a:r>
            <a:r>
              <a:rPr spc="-105" dirty="0"/>
              <a:t> </a:t>
            </a:r>
            <a:r>
              <a:rPr spc="-10" dirty="0"/>
              <a:t>(contd.)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939" y="1615200"/>
            <a:ext cx="7267137" cy="457437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22272" y="6432219"/>
            <a:ext cx="645033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latin typeface="Calibri"/>
                <a:cs typeface="Calibri"/>
              </a:rPr>
              <a:t>From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Russel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Norvig,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“Artificial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Intelligence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Modern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Approach”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11370" y="392048"/>
            <a:ext cx="30454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 MT"/>
                <a:cs typeface="Arial MT"/>
              </a:rPr>
              <a:t>Search</a:t>
            </a:r>
            <a:r>
              <a:rPr spc="-21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Trees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7621" y="1725516"/>
            <a:ext cx="8036756" cy="416435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26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38421" y="461899"/>
            <a:ext cx="39147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Search</a:t>
            </a:r>
            <a:r>
              <a:rPr sz="4400" spc="-140" dirty="0"/>
              <a:t> </a:t>
            </a:r>
            <a:r>
              <a:rPr sz="4400" spc="-10" dirty="0"/>
              <a:t>Strategies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688340" y="1509941"/>
            <a:ext cx="6573520" cy="339407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54330" algn="l"/>
              </a:tabLst>
            </a:pPr>
            <a:r>
              <a:rPr sz="3200" dirty="0">
                <a:latin typeface="Calibri"/>
                <a:cs typeface="Calibri"/>
              </a:rPr>
              <a:t>Uninformed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blind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search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Informed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heuristics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search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Game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playing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search</a:t>
            </a:r>
            <a:endParaRPr sz="3200">
              <a:latin typeface="Calibri"/>
              <a:cs typeface="Calibri"/>
            </a:endParaRPr>
          </a:p>
          <a:p>
            <a:pPr marL="354330" indent="-34163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330" algn="l"/>
              </a:tabLst>
            </a:pPr>
            <a:r>
              <a:rPr sz="3200" dirty="0">
                <a:latin typeface="Calibri"/>
                <a:cs typeface="Calibri"/>
              </a:rPr>
              <a:t>Randomized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search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algorithms</a:t>
            </a:r>
            <a:endParaRPr sz="3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Hill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climbing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10" dirty="0">
                <a:latin typeface="Calibri"/>
                <a:cs typeface="Calibri"/>
              </a:rPr>
              <a:t>Stochastic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search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like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genetic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algorithms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27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74715" y="464910"/>
            <a:ext cx="7284377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Performance</a:t>
            </a:r>
            <a:r>
              <a:rPr sz="4400" spc="-114" dirty="0"/>
              <a:t> </a:t>
            </a:r>
            <a:r>
              <a:rPr sz="4400" dirty="0"/>
              <a:t>of</a:t>
            </a:r>
            <a:r>
              <a:rPr sz="4400" spc="-105" dirty="0"/>
              <a:t> </a:t>
            </a:r>
            <a:r>
              <a:rPr sz="4400" dirty="0"/>
              <a:t>problem</a:t>
            </a:r>
            <a:r>
              <a:rPr sz="4400" spc="-100" dirty="0"/>
              <a:t> </a:t>
            </a:r>
            <a:r>
              <a:rPr sz="4400" spc="-10" dirty="0"/>
              <a:t>solving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2060194" y="1373250"/>
            <a:ext cx="8062595" cy="4147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Four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criteria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used</a:t>
            </a:r>
            <a:endParaRPr sz="2200">
              <a:latin typeface="Calibri"/>
              <a:cs typeface="Calibri"/>
            </a:endParaRPr>
          </a:p>
          <a:p>
            <a:pPr marL="755650" lvl="1" indent="-285750">
              <a:lnSpc>
                <a:spcPts val="2160"/>
              </a:lnSpc>
              <a:spcBef>
                <a:spcPts val="10"/>
              </a:spcBef>
              <a:buFont typeface="Wingdings"/>
              <a:buChar char=""/>
              <a:tabLst>
                <a:tab pos="755650" algn="l"/>
              </a:tabLst>
            </a:pPr>
            <a:r>
              <a:rPr sz="2000" b="1" spc="-10" dirty="0">
                <a:latin typeface="Calibri"/>
                <a:cs typeface="Calibri"/>
              </a:rPr>
              <a:t>Completeness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: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guaranteed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solution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when</a:t>
            </a:r>
            <a:endParaRPr sz="2000">
              <a:latin typeface="Calibri"/>
              <a:cs typeface="Calibri"/>
            </a:endParaRPr>
          </a:p>
          <a:p>
            <a:pPr marL="756285">
              <a:lnSpc>
                <a:spcPts val="2160"/>
              </a:lnSpc>
            </a:pPr>
            <a:r>
              <a:rPr sz="2000" dirty="0">
                <a:latin typeface="Calibri"/>
                <a:cs typeface="Calibri"/>
              </a:rPr>
              <a:t>there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one?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"/>
              <a:tabLst>
                <a:tab pos="756285" algn="l"/>
              </a:tabLst>
            </a:pPr>
            <a:r>
              <a:rPr sz="2000" b="1" dirty="0">
                <a:latin typeface="Calibri"/>
                <a:cs typeface="Calibri"/>
              </a:rPr>
              <a:t>Optimality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: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strategy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optimal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solution?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"/>
              <a:tabLst>
                <a:tab pos="756285" algn="l"/>
              </a:tabLst>
            </a:pPr>
            <a:r>
              <a:rPr sz="2000" b="1" dirty="0">
                <a:latin typeface="Calibri"/>
                <a:cs typeface="Calibri"/>
              </a:rPr>
              <a:t>Time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complexity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: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How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take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solution?</a:t>
            </a:r>
            <a:endParaRPr sz="2000">
              <a:latin typeface="Calibri"/>
              <a:cs typeface="Calibri"/>
            </a:endParaRPr>
          </a:p>
          <a:p>
            <a:pPr marL="756285" marR="612140" lvl="1" indent="-287020">
              <a:lnSpc>
                <a:spcPct val="80000"/>
              </a:lnSpc>
              <a:spcBef>
                <a:spcPts val="480"/>
              </a:spcBef>
              <a:buFont typeface="Wingdings"/>
              <a:buChar char=""/>
              <a:tabLst>
                <a:tab pos="756285" algn="l"/>
              </a:tabLst>
            </a:pPr>
            <a:r>
              <a:rPr sz="2000" b="1" dirty="0">
                <a:latin typeface="Calibri"/>
                <a:cs typeface="Calibri"/>
              </a:rPr>
              <a:t>Space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complexity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: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How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needed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perform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search?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ts val="237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Time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space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complexity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always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considered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respect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to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some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measure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problem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difficulty</a:t>
            </a:r>
            <a:endParaRPr sz="2200">
              <a:latin typeface="Calibri"/>
              <a:cs typeface="Calibri"/>
            </a:endParaRPr>
          </a:p>
          <a:p>
            <a:pPr marL="355600" marR="5080" indent="-342900">
              <a:lnSpc>
                <a:spcPct val="80000"/>
              </a:lnSpc>
              <a:spcBef>
                <a:spcPts val="52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In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theoretical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CS,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typical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measure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size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state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space </a:t>
            </a:r>
            <a:r>
              <a:rPr sz="2200" dirty="0">
                <a:latin typeface="Calibri"/>
                <a:cs typeface="Calibri"/>
              </a:rPr>
              <a:t>graph,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|V|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+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|E|,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where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vertices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(nodes)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43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graph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set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edges </a:t>
            </a:r>
            <a:r>
              <a:rPr sz="2200" spc="-10" dirty="0">
                <a:latin typeface="Calibri"/>
                <a:cs typeface="Calibri"/>
              </a:rPr>
              <a:t>(links)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ts val="2375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In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AI,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graph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often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represented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implicitly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initial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state,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ts val="2375"/>
              </a:lnSpc>
            </a:pPr>
            <a:r>
              <a:rPr sz="2200" dirty="0">
                <a:latin typeface="Calibri"/>
                <a:cs typeface="Calibri"/>
              </a:rPr>
              <a:t>actions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transition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frequently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infinite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297666" y="6464680"/>
            <a:ext cx="245109" cy="17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lang="en-IN" spc="-50" smtClean="0"/>
              <a:pPr marL="115570">
                <a:lnSpc>
                  <a:spcPts val="1240"/>
                </a:lnSpc>
              </a:pPr>
              <a:t>28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38408" y="683261"/>
            <a:ext cx="841539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124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Performance</a:t>
            </a:r>
            <a:r>
              <a:rPr spc="-135" dirty="0"/>
              <a:t> </a:t>
            </a:r>
            <a:r>
              <a:rPr spc="-10" dirty="0"/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16189" y="1560575"/>
            <a:ext cx="8043545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175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Complexity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therefore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expressed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terms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branching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factor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or </a:t>
            </a:r>
            <a:r>
              <a:rPr sz="2000" dirty="0">
                <a:latin typeface="Calibri"/>
                <a:cs typeface="Calibri"/>
              </a:rPr>
              <a:t>maximum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successors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node;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depth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shallowest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(i.e.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steps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along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25" dirty="0">
                <a:latin typeface="Calibri"/>
                <a:cs typeface="Calibri"/>
              </a:rPr>
              <a:t> the </a:t>
            </a:r>
            <a:r>
              <a:rPr sz="2000" dirty="0">
                <a:latin typeface="Calibri"/>
                <a:cs typeface="Calibri"/>
              </a:rPr>
              <a:t>root);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maximum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length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space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Time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measured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terms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generated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during</a:t>
            </a:r>
            <a:endParaRPr sz="20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search</a:t>
            </a:r>
            <a:endParaRPr sz="2000" dirty="0">
              <a:latin typeface="Calibri"/>
              <a:cs typeface="Calibri"/>
            </a:endParaRPr>
          </a:p>
          <a:p>
            <a:pPr marL="355600" marR="304800" indent="-34290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Space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measured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terms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maximum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stored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in </a:t>
            </a:r>
            <a:r>
              <a:rPr sz="2000" spc="-10" dirty="0">
                <a:latin typeface="Calibri"/>
                <a:cs typeface="Calibri"/>
              </a:rPr>
              <a:t>memory</a:t>
            </a:r>
            <a:endParaRPr sz="2000" dirty="0">
              <a:latin typeface="Calibri"/>
              <a:cs typeface="Calibri"/>
            </a:endParaRPr>
          </a:p>
          <a:p>
            <a:pPr marL="355600" marR="502284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9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assess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effectiveness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consider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depends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complexity</a:t>
            </a:r>
            <a:endParaRPr sz="2000" dirty="0">
              <a:latin typeface="Calibri"/>
              <a:cs typeface="Calibri"/>
            </a:endParaRPr>
          </a:p>
          <a:p>
            <a:pPr marL="355600" marR="163195" indent="-3429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We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assess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effectiveness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total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combines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3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solution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found</a:t>
            </a:r>
            <a:endParaRPr sz="2000" dirty="0">
              <a:latin typeface="Calibri"/>
              <a:cs typeface="Calibri"/>
            </a:endParaRPr>
          </a:p>
          <a:p>
            <a:pPr marL="352425" marR="5080" indent="-339725" algn="just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For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problem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route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Arad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Bucharest,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cost 	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amount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taken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search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solution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cost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total 	</a:t>
            </a:r>
            <a:r>
              <a:rPr sz="2000" dirty="0">
                <a:latin typeface="Calibri"/>
                <a:cs typeface="Calibri"/>
              </a:rPr>
              <a:t>length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path</a:t>
            </a:r>
            <a:r>
              <a:rPr sz="2000" spc="4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kilometers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3307</Words>
  <Application>Microsoft Office PowerPoint</Application>
  <PresentationFormat>Widescreen</PresentationFormat>
  <Paragraphs>259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Arial MT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  <vt:lpstr>Problem solving by search</vt:lpstr>
      <vt:lpstr>Definition of a problem</vt:lpstr>
      <vt:lpstr>Example problems</vt:lpstr>
      <vt:lpstr>Vacuum World</vt:lpstr>
      <vt:lpstr>8-Puzzle problem</vt:lpstr>
      <vt:lpstr>8 puzzle problem (contd.)</vt:lpstr>
      <vt:lpstr>8 queens Problem</vt:lpstr>
      <vt:lpstr>8 queens Problem (contd.)</vt:lpstr>
      <vt:lpstr>8 queens Problem (contd.)</vt:lpstr>
      <vt:lpstr>Cryptarithmetic problem</vt:lpstr>
      <vt:lpstr>Cryptarithmetic problem (contd.)</vt:lpstr>
      <vt:lpstr>Real world problems</vt:lpstr>
      <vt:lpstr>Real world problems (contd.)</vt:lpstr>
      <vt:lpstr>Real world problems (contd.)</vt:lpstr>
      <vt:lpstr>Real world problems (contd.)</vt:lpstr>
      <vt:lpstr>Searching for solutions</vt:lpstr>
      <vt:lpstr>Searching for solutions (contd.)</vt:lpstr>
      <vt:lpstr>Searching for solutions (contd.)</vt:lpstr>
      <vt:lpstr>Searching for solutions (contd.)</vt:lpstr>
      <vt:lpstr>Searching for solutions (contd.)</vt:lpstr>
      <vt:lpstr>Searching for solutions (contd.)</vt:lpstr>
      <vt:lpstr>Searching for solutions (contd.)</vt:lpstr>
      <vt:lpstr>Searching for solutions (contd.)</vt:lpstr>
      <vt:lpstr>Search Trees</vt:lpstr>
      <vt:lpstr>Search Strategies</vt:lpstr>
      <vt:lpstr>Performance of problem solving</vt:lpstr>
      <vt:lpstr>Performance (contd.)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Reena Krishnamurthy</dc:creator>
  <cp:lastModifiedBy>Reena Krishnamurthy</cp:lastModifiedBy>
  <cp:revision>1</cp:revision>
  <dcterms:created xsi:type="dcterms:W3CDTF">2026-07-30T09:56:50Z</dcterms:created>
  <dcterms:modified xsi:type="dcterms:W3CDTF">2026-07-30T10:05:46Z</dcterms:modified>
</cp:coreProperties>
</file>